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09:00</a:t>
            </a:r>
          </a:p>
          <a:p/>
          <a:p>
            <a:r>
              <a:t>[SAY]</a:t>
            </a:r>
          </a:p>
          <a:p>
            <a:r>
              <a:t>Dzień dobry. Witamy na zajęciach z Strategii Marketingu Cyfrowego. Dzisiaj przez osiem godzin będziemy razem budować kompletny warsztat strategiczny — od analizy sytuacyjnej do planowania budżetu kanałów cyfrowych. Na koniec dnia każda z grup będzie miała prawie gotowy plan marketingu cyfrowego dla wybranej przez siebie marki — coś konkretnego, co można zabrać ze sobą i od razu zastosować.</a:t>
            </a:r>
          </a:p>
          <a:p/>
          <a:p>
            <a:r>
              <a:t>[DO]</a:t>
            </a:r>
          </a:p>
          <a:p>
            <a:r>
              <a:t>Kliknij, aby wyświetlić slajd. Sprawdź AV — głośność, rozdzielczość projekcji, łączność z systemem dźwiękowym (jeśli dotyczy). Potwierdź, że slajd jest widoczny z tylnych rzędów sali.</a:t>
            </a:r>
          </a:p>
          <a:p/>
          <a:p>
            <a:r>
              <a:t>[WATCH]</a:t>
            </a:r>
          </a:p>
          <a:p>
            <a:r>
              <a:t>Sala może jeszcze się wypełniać — uczestnicy przyjeżdżający z dojazdów. Witaj przybyłych z uśmiechem i gestem; nie zaczynaj głównego skryptu, dopóki większość nie zajmie miejsc. Obserwuj napięcie/nastrój — czy uczestnicy są skupieni, czy rozgadani?</a:t>
            </a:r>
          </a:p>
          <a:p/>
          <a:p>
            <a:r>
              <a:t>[WIZUALIZACJA]</a:t>
            </a:r>
          </a:p>
          <a:p>
            <a:r>
              <a:t>Napis "Strategia Marketingu Cyfrowego" wyśrodkowany na slajdzie, duża czcionka (minimum 60pt), kolor biały lub ciemnoniebieski na neutralnym tle. Poniżej — mniejszy placeholder na imię i nazwisko prowadzącego oraz datę zajęć. W prawym dolnym rogu — placeholder na logo instytucji.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09:02</a:t>
            </a:r>
          </a:p>
          <a:p/>
          <a:p>
            <a:r>
              <a:t>[SAY]</a:t>
            </a:r>
          </a:p>
          <a:p>
            <a:r>
              <a:t>Dzień podzielony jest na cztery bloki wykładowe i cztery sesje warsztatowe. Wykłady zajmują mniej więcej dwie i pół godziny łącznie — reszta dnia to wasze aktywne ćwiczenia. Mamy jedną dłuższą przerwę na lunch o 12:30 i dwie krótsze piętnastominutowe przerwy w ciągu dnia — o 11:00 i o 15:15. Proszę traktować te przerwy poważnie: praca w skupieniu przez 8 godzin wymaga regeneracji, a my potrzebujemy was w pełni aktywnych szczególnie po południu.</a:t>
            </a:r>
          </a:p>
          <a:p/>
          <a:p>
            <a:r>
              <a:t>[DO]</a:t>
            </a:r>
          </a:p>
          <a:p>
            <a:r>
              <a:t>Użyj wskaźnika (fizycznego lub laserowego), aby prześledzić oś czasu od lewej do prawej — od 09:00 do 17:00. Zatrzymaj się na każdym bloku warsztatowym i krótko zaznacz, co w nim będzie.</a:t>
            </a:r>
          </a:p>
          <a:p/>
          <a:p>
            <a:r>
              <a:t>[WATCH]</a:t>
            </a:r>
          </a:p>
          <a:p>
            <a:r>
              <a:t>Czy uczestnicy spoglądają na zegarki lub telefony? Czy ktoś pyta o przerwy lub lunch? — dobre znaki zaangażowania. Jeśli ktoś pyta o szczegóły konkretnego bloku, odpowiedz krótko i wróć do całości.</a:t>
            </a:r>
          </a:p>
          <a:p/>
          <a:p>
            <a:r>
              <a:t>[WIZUALIZACJA]</a:t>
            </a:r>
          </a:p>
          <a:p>
            <a:r>
              <a:t>Pozioma oś czasu obejmująca cały dzień — od 09:00 do 17:00. Cztery bloki wykładowe zaznaczone jednym kolorem (neutralny, chłodny), cztery bloki warsztatowe zaznaczone innym kolorem (neutralny, ciepły), przerwy i lunch w kolorze szarym. Ikona książki dla wykładów, ikona grupy/tablicy dla warsztatów. Godziny zaznaczone wyraźnie nad osią. Dolna część slajdu: krótka legenda kolorów.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09:08</a:t>
            </a:r>
          </a:p>
          <a:p/>
          <a:p>
            <a:r>
              <a:t>[SAY]</a:t>
            </a:r>
          </a:p>
          <a:p>
            <a:r>
              <a:t>Na każdy blok wykładowy czeka ćwiczenie warsztatowe na tablicy Canva Whiteboard — będziecie pracować w małych grupach. Na koniec dnia każda grupa będzie miała prawie kompletny plan marketingu cyfrowego dla wybranej przez siebie marki. Ważna informacja techniczna: do ćwiczeń warsztatowych będziecie potrzebować urządzenia z przeglądarką — laptop, tablet, a nawet telefon wystarczą. Canva Whiteboard otwiera się przez link lub QR kod — nie trzeba instalować nic dodatkowego. Jeśli nie macie urządzenia albo macie problem z połączeniem, dajcie znać teraz — dopasujemy skład grup.</a:t>
            </a:r>
          </a:p>
          <a:p/>
          <a:p>
            <a:r>
              <a:t>[DO]</a:t>
            </a:r>
          </a:p>
          <a:p>
            <a:r>
              <a:t>Zapytaj, czy wszyscy mają urządzenie z dostępem do przeglądarki. W razie potrzeby dopasuj skład grup tak, aby każda miała przynajmniej jedno urządzenie. Zanotuj grupy lub poproś uczestników o samodzielne ich uformowanie (3–5 osób).</a:t>
            </a:r>
          </a:p>
          <a:p/>
          <a:p>
            <a:r>
              <a:t>[WATCH]</a:t>
            </a:r>
          </a:p>
          <a:p>
            <a:r>
              <a:t>Czy ktoś nie ma urządzenia? Czy są problemy z WiFi? Rozwiąż to teraz — nie w połowie ćwiczenia. Obserwuj, czy uczestnicy zaczynają spontanicznie tworzyć grupy lub szukać partnerów do pracy.</a:t>
            </a:r>
          </a:p>
          <a:p/>
          <a:p>
            <a:r>
              <a:t>[WIZUALIZACJA]</a:t>
            </a:r>
          </a:p>
          <a:p>
            <a:r>
              <a:t>Układ dwukolumnowy. Lewa kolumna: ikona wykładu (książka lub prezenter przy tablicy) z nagłówkiem "Wykład" i listą punktów. Prawa kolumna: ikona warsztatu (tablice lub grupy przy stołach) z nagłówkiem "Warsztat" i listą punktów. Dolna część slajdu: ikona komputera/tabletu z podpisem "Canva Whiteboard — potrzebujesz urządzenia z przeglądarką".</a:t>
            </a:r>
          </a:p>
          <a:p/>
          <a:p>
            <a:r>
              <a:t>Punkty pod "Wykład": koncepcje i frameworki, przykłady z rynku, pytania otwarte.  </a:t>
            </a:r>
          </a:p>
          <a:p>
            <a:r>
              <a:t>Punkty pod "Warsztat": praca w małych grupach, jedna marka przez cały dzień, wynik = gotowy plan.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09:15</a:t>
            </a:r>
          </a:p>
          <a:p/>
          <a:p>
            <a:r>
              <a:t>[SAY]</a:t>
            </a:r>
          </a:p>
          <a:p>
            <a:r>
              <a:t>Zacznijmy od ćwiczenia otwierającego. Na tablicy Canva Whiteboard macie dwie kolumny: "Marka, której ufam" i "Marka, której nie ufam". Wejdźcie przez QR kod i na karteczkach podajcie po jednej marce do każdej kolumny — i koniecznie napiszcie DLACZEGO. Nie ma złych odpowiedzi — chodzi o wasze szczere, osobiste doświadczenie jako konsumentów. Macie na to 20 minut pracy grupowej, a następnie 10 minut na przejrzenie tego, co zebrała cała sala.</a:t>
            </a:r>
          </a:p>
          <a:p/>
          <a:p>
            <a:r>
              <a:t>[SETUP]</a:t>
            </a:r>
          </a:p>
          <a:p>
            <a:r>
              <a:t>Przed wyświetleniem tego slajdu potwierdź, że: (1) link do Canva Whiteboard jest aktywny i działa, (2) QR kod renderuje się poprawnie na projektorze i jest czytelny z tylnych rzędów, (3) tablica ma już dwie kolumny z nagłówkami "Marka, której ufam" i "Marka, której nie ufam". Przetestuj QR kod własnym telefonem przed wejściem uczestników.</a:t>
            </a:r>
          </a:p>
          <a:p/>
          <a:p>
            <a:r>
              <a:t>[DO]</a:t>
            </a:r>
          </a:p>
          <a:p>
            <a:r>
              <a:t>Wyświetl slajd, wskaż QR kod. Przejdź po sali i upewnij się, że każda grupa pomyślnie połączyła się z tablicą. Ustaw timer na 20 minut (widoczny dla uczestników, jeśli możliwe). Po 20 minutach zatrzymaj pracę grupową i przejdź do Slide 5 — debriefingu.</a:t>
            </a:r>
          </a:p>
          <a:p/>
          <a:p>
            <a:r>
              <a:t>[WATCH]</a:t>
            </a:r>
          </a:p>
          <a:p>
            <a:r>
              <a:t>Czy wszystkie grupy aktywnie dodają karteczki? Czy ktoś utknął na etapie logowania do Canva? Monitoruj proporcję polskich vs. zagranicznych marek — to da ci materiał do Slide 5. Zwróć uwagę, czy pojawiają się marki cyfrowe (e-commerce, aplikacje, platformy) — to szczególnie wartościowe dla debriefingu.</a:t>
            </a:r>
          </a:p>
          <a:p/>
          <a:p>
            <a:r>
              <a:t>[DEBRIEF]</a:t>
            </a:r>
          </a:p>
          <a:p>
            <a:r>
              <a:t>"Jakie wzorce widzicie w kolumnie 'ufam' — co łączy te marki?", "Co łączy marki w kolumnie 'nie ufam' — czy to cechy produktu, czy cechy komunikacji?", "Czy ktoś wymienił polską markę cyfrową — i dlaczego akurat tę?"</a:t>
            </a:r>
          </a:p>
          <a:p/>
          <a:p>
            <a:r>
              <a:t>[EXTENSION]</a:t>
            </a:r>
          </a:p>
          <a:p>
            <a:r>
              <a:t>"Gdybyś był CMO marki z kolumny 'nie ufam' — od czego konkretnie byś zaczął odbudowę zaufania?"</a:t>
            </a:r>
          </a:p>
          <a:p/>
          <a:p>
            <a:r>
              <a:t>[WIZUALIZACJA]</a:t>
            </a:r>
          </a:p>
          <a:p>
            <a:r>
              <a:t>Po lewej: placeholder na QR kod linkujący do tablicy Canva Whiteboard. Po prawej: miniatura podglądu tablicy z dwoma wyraźnie oznakowanymi kolumnami — "Marka, której ufam" i "Marka, której nie ufam". Na środku lub w rogu: ikona zegara z napisem "30 minut". Dolna belka: instrukcja skrócona w trzech krokach (1. Wejdź przez QR kod, 2. Dodaj karteczkę do każdej kolumny, 3. Napisz DLACZEGO).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09:35</a:t>
            </a:r>
          </a:p>
          <a:p/>
          <a:p>
            <a:r>
              <a:t>[SAY]</a:t>
            </a:r>
          </a:p>
          <a:p>
            <a:r>
              <a:t>Spójrzmy razem na to, co się pojawiło. Widzę kilka wyraźnych wzorców — zanim je omówimy, warto wspomnieć o jednym polskim przykładzie. Allegro w 2020 roku — kampania "English for Beginners" — zdobyła 150 milionów wyświetleń w ciągu tygodnia. Dlaczego? Bo dotknęła czegoś prawdziwego — emocji, wartości, historii. To nie był produkt. To była marka. Ten przykład pokazuje dokładnie to, co dziś będziemy analizować — jaka jest różnica między posiadaniem produktu a posiadaniem strategii marki, i dlaczego ta różnica przekłada się bezpośrednio na zasięg organiczny i lojalność klientów. Przejdziemy teraz do pierwszego narzędzia, ale wracajcie myślami do tego, co napisaliście na karteczkach — bo to jest właśnie punkt wyjścia do pracy strategicznej.</a:t>
            </a:r>
          </a:p>
          <a:p/>
          <a:p>
            <a:r>
              <a:t>[DO]</a:t>
            </a:r>
          </a:p>
          <a:p>
            <a:r>
              <a:t>Prowadź debrief strukturalnie — najpierw daj głos jednemu uczestnikowi z każdej grupy (rotacyjnie), potem dodaj własną obserwację. Wskaż konkretne karteczki na tablicy (przez wskaźnik lub gestami). Po omówieniu wzorców, zrób pomost do Slide 6: "To, co widzicie na tablicy — to są efekty strategii marki. Za chwilę zobaczycie, jak to narzędzie wpasowuje się w szerszą hierarchię frameworków, przez którą będziemy przechodzić przez cały dzień."</a:t>
            </a:r>
          </a:p>
          <a:p/>
          <a:p>
            <a:r>
              <a:t>[WATCH]</a:t>
            </a:r>
          </a:p>
          <a:p>
            <a:r>
              <a:t>Czy uczestnicy angażują się w debrief, czy czekają biernie? Jeśli milczą — zadaj pytanie bezpośrednie do konkretnej grupy. Zwróć uwagę, czy ktoś kwestionuje przykład Allegro — to dobry znak krytycznego myślenia, zachęć do rozwinięcia. Obserwuj, czy uczestnicy łączą obserwacje z tablicy ze swoim własnym doświadczeniem zawodowym.</a:t>
            </a:r>
          </a:p>
          <a:p/>
          <a:p>
            <a:r>
              <a:t>[WIZUALIZACJA]</a:t>
            </a:r>
          </a:p>
          <a:p>
            <a:r>
              <a:t>Zrzut ekranu lub makieta ukończonej tablicy Canva Whiteboard z karteczkami uczestników. Na tablicy widoczne karteczki w obu kolumnach — część zgrupowana, z zaznaczonymi okręgami wokół kluczowych motywów (np. "zaufanie = stałość", "nieufność = obietnice bez pokrycia"). Tytuł slajdu: "Co widzimy?" lub "Wzorce z ćwiczenia".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09:45</a:t>
            </a:r>
          </a:p>
          <a:p/>
          <a:p>
            <a:r>
              <a:t>[SAY]</a:t>
            </a:r>
          </a:p>
          <a:p>
            <a:r>
              <a:t>Zanim przejdziemy do pierwszego narzędzia, chcę pokazać wam mapę całego dnia. Będziemy poruszać się przez tę hierarchię — od dołu do góry. Zaczniemy od SOSTAC — narzędzia planowania, które jest najbardziej namacalne i natychmiastowo użyteczne. Potem zobaczycie, jak wszystkie pięć poziomów do siebie pasuje. Na szczycie hierarchii jest Strategia Marki — odpowiedź na pytanie "kim jesteśmy i po co istniejemy". To fundament, bez którego każde narzędzie planistyczne jest tylko sprawnym działaniem bez kierunku. Na samym dole jest RACE — framework egzekucji, który zamieniamy na konkretne działania i KPI. Między nimi: Strategia Cyfrowa, Strategia Marketingu Cyfrowego i SOSTAC — każdy poziom zadaje inne pytanie i odpowiada na inną część wyzwania. Przez cały dzień będziecie wracać do tego diagramu — traktujcie go jako punkt orientacyjny.</a:t>
            </a:r>
          </a:p>
          <a:p/>
          <a:p>
            <a:r>
              <a:t>Notatka prowadzącego: Wróć do tego diagramu na początku każdego nowego modułu — to punkt orientacyjny dla uczestników.</a:t>
            </a:r>
          </a:p>
          <a:p/>
          <a:p>
            <a:r>
              <a:t>[DO]</a:t>
            </a:r>
          </a:p>
          <a:p>
            <a:r>
              <a:t>Zostaw diagram na ekranie przez minimum 30 sekund bez mówienia — daj uczestnikom czas na samodzielne przeczytanie poziomów. Następnie wskaź wskaźnikiem od dołu (RACE) i prowadź wzrok uczestników powoli w górę do Strategii Marki, komentując każdy poziom jednym zdaniem. Nie schodź z tego slajdu zbyt szybko — to najważniejszy slajd konceptualny całego bloku otwierającego.</a:t>
            </a:r>
          </a:p>
          <a:p/>
          <a:p>
            <a:r>
              <a:t>[WATCH]</a:t>
            </a:r>
          </a:p>
          <a:p>
            <a:r>
              <a:t>Czy uczestnicy czytają diagram uważnie, czy sprawdzają telefony? Czy ktoś wygląda na zdezorientowanego poziomami hierarchii — szczególnie różnicą między "Strategia Cyfrowa" a "Strategia Marketingu Cyfrowego"? Jeśli tak, zatrzymaj się i wyjaśnij: Strategia Cyfrowa to decyzja całej organizacji (CTO, CEO); Strategia Marketingu Cyfrowego to decyzja marketingowa (CMO). Wróć do tego rozróżnienia szerzej w Bloku 1 wykładu.</a:t>
            </a:r>
          </a:p>
          <a:p/>
          <a:p>
            <a:r>
              <a:t>[WIZUALIZACJA]</a:t>
            </a:r>
          </a:p>
          <a:p>
            <a:r>
              <a:t>Diagram hierarchii frameworków — Variant 1 (równe wagi, pełna widoczność wszystkich 5 poziomów). Specyfikacja wizualna: hierarchy-diagram-spec.md Variant 1. Diagram wyśrodkowany, zajmuje ok. 40% szerokości slajdu, pełna wysokość z marginesami. Wszystkie pudełka w pełnej opacości (100%). Podpis pod diagramem: "To jest mapa na cały dzień." (18pt, wyśrodkowany). Na dole slajdu lub w notatce prowadzącego: "Wróć do tego diagramu na początku każdego nowego modułu — to punkt orientacyjny dla uczestników."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09:48</a:t>
            </a:r>
          </a:p>
          <a:p/>
          <a:p>
            <a:r>
              <a:t>[SAY]</a:t>
            </a:r>
          </a:p>
          <a:p>
            <a:r>
              <a:t>Pierwszym narzędziem, które dziś poznamy, jest SOSTAC — framework planowania marketingowego stworzony przez PR Smitha w latach 90. i stosowany dziś przez profesjonalistów w ponad pięćdziesięciu krajach. Nazwa to akronim od sześciu etapów planowania: Situation, Objectives, Strategy, Tactics, Actions, Control — po polsku: Sytuacja, Cele, Strategia, Taktyki, Działania, Kontrola. Dlaczego warto go znać? Bo to jeden z niewielu frameworków, który jest jednocześnie kompletny i praktyczny — nie brakuje w nim żadnego krytycznego etapu, a każdy etap przekłada się bezpośrednio na decyzje i działania, które możecie wdrożyć od jutra. PR Smith opracował go jako odpowiedź na najczęstszy problem planowania marketingowego: organizacje przeskakują od analizy prosto do taktyk, pomijając trzy krytyczne etapy — cele, strategię i kontrolę. SOSTAC wymusza dyscyplinę planistyczną, która odróżnia profesjonalne podejście do marketingu od improwizacji.</a:t>
            </a:r>
          </a:p>
          <a:p/>
          <a:p>
            <a:r>
              <a:t>[DO]</a:t>
            </a:r>
          </a:p>
          <a:p>
            <a:r>
              <a:t>Wyświetl slajd. Użyj wskaźnika, aby zaznaczyć mapę świata i liczbę 50+ krajów. Następnie powoli przejdź wzrokiem do listy po prawej stronie, wymieniając każdy punkt.</a:t>
            </a:r>
          </a:p>
          <a:p/>
          <a:p>
            <a:r>
              <a:t>[WATCH]</a:t>
            </a:r>
          </a:p>
          <a:p>
            <a:r>
              <a:t>Czy uczestnicy znają już SOSTAC? Jeśli kilka osób kiwa głowami lub mówi "znam" — zapytaj krótko: "Kto używał SOSTAC w pracy?" — to może przyspieszyć tempo na kolejnych slajdach. Jeśli nikt nie zna — zostań na tym slajdzie dodatkowe 30 sekund i podkreśl globalny zasięg.</a:t>
            </a:r>
          </a:p>
          <a:p/>
          <a:p>
            <a:r>
              <a:t>[WIZUALIZACJA]</a:t>
            </a:r>
          </a:p>
          <a:p>
            <a:r>
              <a:t>Ciemne tło (granatowe lub głęboka zieleń). Po lewej stronie: stylizowane zdjęcie lub ikona prezentująca globalną mapę ze znacznikami w 50+ krajach. Po prawej: duży napis "SOSTAC" z podtytułem "PR Smith, lata 90." Dolna część: krótka lista — "Stosowany w 50+ krajach", "Certyfikowani praktycy na całym świecie", "Najpopularniejszy framework planowania marketingowego". Maksymalnie 3 elementy tekstowe na slajdzie — reszta to wizualizacja.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09:53</a:t>
            </a:r>
          </a:p>
          <a:p/>
          <a:p>
            <a:r>
              <a:t>[SAY]</a:t>
            </a:r>
          </a:p>
          <a:p>
            <a:r>
              <a:t>SOSTAC składa się z sześciu etapów planowania — ale uwaga: to nie jest lista kroków do wykonania po kolei i zapomniana. To pętla. Kontrola — ostatni etap — nie kończy procesu planowania, lecz go zasila. Wyniki z etapu Kontrola wracają bezpośrednio do etapu Sytuacja i uruchamiają kolejny cykl planistyczny. Dlatego na diagramie widzicie strzałki tworzące zamknięty pierścień, a nie prostą linię od początku do końca. Sześć etapów po polsku: Sytuacja — gdzie jesteśmy teraz? Cele — gdzie chcemy być? Strategia — jak tam dotrzemy na poziomie ogólnym? Taktyki — jakimi konkretnymi narzędziami? Działania — kto, co i kiedy robi? Kontrola — jak wiemy, że to działa? Każde z tych pytań odpowiada na inny poziom problemu planistycznego. Pominięcie któregokolwiek z nich prowadzi do przewidywalnych błędów — do których wrócimy na slajdzie dziewiętnastym.</a:t>
            </a:r>
          </a:p>
          <a:p/>
          <a:p>
            <a:r>
              <a:t>[DO]</a:t>
            </a:r>
          </a:p>
          <a:p>
            <a:r>
              <a:t>Odsłaniaj segmenty diagramu jeden po jednym — zgodnie z ruchem wskazówek zegara, od Sytuacja do Kontrola. Na końcu odsłoń strzałkę powrotną z Kontrola do Sytuacja i powiedz: "To jest najważniejsza strzałka na tym diagramie."</a:t>
            </a:r>
          </a:p>
          <a:p/>
          <a:p>
            <a:r>
              <a:t>[WATCH]</a:t>
            </a:r>
          </a:p>
          <a:p>
            <a:r>
              <a:t>Czy uczestnicy kopiują diagram do notatek? To dobry znak — oznacza zaangażowanie. Jeśli ktoś pyta o różnicę między Strategia a Taktyki — powiedz, że do tego wrócimy na slajdzie 12 i 13, bo to najczęstsze źródło zamieszania.</a:t>
            </a:r>
          </a:p>
          <a:p/>
          <a:p>
            <a:r>
              <a:t>[WIZUALIZACJA]</a:t>
            </a:r>
          </a:p>
          <a:p>
            <a:r>
              <a:t>Diagram kołowy (circular loop) — nie liniowy, lecz zamknięty pierścień — z sześcioma segmentami. Każdy segment ma polską nazwę etapu i jego angielski skrót w nawiasie. Kolejność zgodnie z ruchem wskazówek zegara od góry: Sytuacja (S), Cele (O), Strategia (S), Taktyki (T), Działania (A), Kontrola (C). Strzałki między segmentami wskazują kierunek zgodny z ruchem wskazówek zegara, ale z dodatkową strzałką z Kontrola z powrotem do Sytuacja — podkreślającą pętlę sprzężenia zwrotnego. Każdy segment wyróżniony innym odcieniem (nie jaskrawe, ale czytelne). Tytuł slajdu: "SOSTAC — sześć etapów planowania".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09:58</a:t>
            </a:r>
          </a:p>
          <a:p/>
          <a:p>
            <a:r>
              <a:t>[SAY]</a:t>
            </a:r>
          </a:p>
          <a:p>
            <a:r>
              <a:t>Analiza sytuacyjna to fundament całego planu. PR Smith szacuje, że powinna zajmować połowę całego wysiłku planistycznego. Dlaczego aż połowę? Bo zły plan oparty na dobrej diagnozie można poprawić — dobry plan oparty na złej diagnozie skończy się katastrofą, i to z doskonałym wykonaniem. Sytuacja obejmuje cztery obszary: analizę klienta — kto kupuje, dlaczego, jak; analizę konkurencji — zarówno bezpośredni rywale, jak i nowi gracze cyfrowi; analizę firmy — wewnętrzne zasoby, dane historyczne, aktywa cyfrowe; oraz PESTEL — czynniki polityczne, ekonomiczne, społeczne, technologiczne, środowiskowe i prawne. W kontekście cyfrowym do klasycznej analizy dochodzą dodatkowe warstwy: dane z Google Analytics, audyt mediów społecznościowych, analiza SEO, benchmarking cyfrowy konkurencji. Pomyślcie o marce InPost — w 2009 roku polska e-commerce rosła, ale dostawy do domu były frustrujące: przegapione okna czasowe, awizacje, konieczność bycia w domu. Ta jedna obserwacja sytuacyjna była fundamentem całej strategii Paczkomat. To właśnie dzieje się, gdy poważnie traktujesz etap Sytuacja.</a:t>
            </a:r>
          </a:p>
          <a:p/>
          <a:p>
            <a:r>
              <a:t>[DO]</a:t>
            </a:r>
          </a:p>
          <a:p>
            <a:r>
              <a:t>Odsłaniaj ćwiartki gridu jedna po jednej. Przy ostatniej — PESTEL — powiedz: "W środowisku cyfrowym PESTEL uzupełniają cztery dodatkowe warstwy danych, które za chwilę zobaczycie." Przejdź do slajdu 10. Cytat PR Smitha zostaw widoczny przez cały czas.</a:t>
            </a:r>
          </a:p>
          <a:p/>
          <a:p>
            <a:r>
              <a:t>[WATCH]</a:t>
            </a:r>
          </a:p>
          <a:p>
            <a:r>
              <a:t>Czy ktoś pyta, czym różni się analiza klienta w kontekście cyfrowym od tradycyjnej? — dobry sygnał do krótkiego wzmocnienia roli analytics. Czy uczestnicy patrzą na cytat PR Smitha z niedowierzaniem (50% wysiłku!)? — to normalna reakcja; wzmocnij ją przykładem InPost.</a:t>
            </a:r>
          </a:p>
          <a:p/>
          <a:p>
            <a:r>
              <a:t>[WIZUALIZACJA]</a:t>
            </a:r>
          </a:p>
          <a:p>
            <a:r>
              <a:t>Slajd podzielony na cztery ćwiartki (2×2 grid). Każda ćwiartka ma ikonę i krótką etykietę: (1) Ikona osoby — "Klient" (Customer Analysis), (2) Ikona docelownika — "Konkurenci" (Competitor Analysis), (3) Ikona budynku — "Firma" (Company Analysis), (4) Ikona globu — "PESTEL". Nad gridiem: mały napis cytatowy: "Analiza sytuacyjna powinna stanowić 50% całego wysiłku planistycznego — PR Smith". W stopce slajdu: małe oznaczenie etapu "S" w kole z podpisem "Situation". Cyfrowe uzupełnienia (analytics, SEO, social audit) widoczne jako subtelne ikony pod każdą ćwiartką.</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10:03</a:t>
            </a:r>
          </a:p>
          <a:p/>
          <a:p>
            <a:r>
              <a:t>[SAY]</a:t>
            </a:r>
          </a:p>
          <a:p>
            <a:r>
              <a:t>Analiza sytuacyjna w środowisku cyfrowym jest bogatsza niż kiedykolwiek wcześniej — bo dane są dostępne w czasie rzeczywistym i w znacznie większej ilości niż w świecie analogowym. Cztery kluczowe obszary narzędzi: Google Analytics lub GA4 — daje wgląd w ruch na stronie, zachowanie użytkowników, wskaźniki konwersji i źródła ruchu; to punkt startowy każdego audytu cyfrowego. Narzędzia SEO takie jak SEMrush lub Ahrefs — pozwalają ocenić widoczność organiczną w porównaniu z konkurencją, zidentyfikować luki słów kluczowych i oszacować ruch organiczny rywali. Social Listening — narzędzia jak Brand24 monitorują wzmianki o marce, sentymenty i trendy tematyczne — to jakościowy wymiar analizy sytuacyjnej. Wreszcie badania NPS i ankiety klienta — bo dane ilościowe nie zastąpią bezpośredniego głosu klienta. Ważna zasada: narzędzia cyfrowe przyspieszają analizę sytuacyjną, ale jej nie zastępują. Dane mają sens tylko w kontekście pytań, które zadajemy. Zacznijcie od diagnozy, nie od narzędzia.</a:t>
            </a:r>
          </a:p>
          <a:p/>
          <a:p>
            <a:r>
              <a:t>[DO]</a:t>
            </a:r>
          </a:p>
          <a:p>
            <a:r>
              <a:t>Przejdź przez cztery bloki narzędzi, używając wskaźnika. Podkreśl, że to nie jest wyczerpująca lista — to minimum, od którego zaczyna się profesjonalny audyt cyfrowy.</a:t>
            </a:r>
          </a:p>
          <a:p/>
          <a:p>
            <a:r>
              <a:t>[WATCH]</a:t>
            </a:r>
          </a:p>
          <a:p>
            <a:r>
              <a:t>Czy uczestnicy znają te narzędzia? Jeśli tak, możesz pytać o ich doświadczenia — "Kto używał SEMrush lub podobnego narzędzia?" Jeśli nie znają — nie wchodź głębiej; te narzędzia zostaną omówione szerzej w popołudniowym bloku o kanałach.</a:t>
            </a:r>
          </a:p>
          <a:p/>
          <a:p>
            <a:r>
              <a:t>[WIZUALIZACJA]</a:t>
            </a:r>
          </a:p>
          <a:p>
            <a:r>
              <a:t>Slajd z czterema blokami narzędzi cyfrowych, ułożonymi w siatce 2×2. Każdy blok zawiera logo lub ikonę narzędzia i krótki opis zastosowania: (1) Google Analytics — "Ruch, współczynnik odrzuceń, konwersje" (ikona wykresu); (2) SEMrush / Ahrefs — "Analiza SEO, benchmarking organiczny" (ikona wyszukiwarki); (3) Social Listening (Brand24, Mention) — "Monitoring wzmianek, sentyment marki" (ikona dymku); (4) NPS / Ankiety klienta — "Satysfakcja, lojalność, głos klienta" (ikona gwiazdki). Tytuł slajdu: "Cyfrowe narzędzia analizy sytuacyjnej". Stopka: "S — Situation" w kole.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10:06</a:t>
            </a:r>
          </a:p>
          <a:p/>
          <a:p>
            <a:r>
              <a:t>[SAY]</a:t>
            </a:r>
          </a:p>
          <a:p>
            <a:r>
              <a:t>Etap Cele to odpowiedź na pytanie: gdzie chcemy być? Wszystkie cele muszą być SMART — Specific (konkretne), Measurable (mierzalne), Achievable (osiągalne), Realistic (realistyczne), Time-bound (osadzone w czasie). Ale sama zasada SMART to dopiero połowa sukcesu. Najczęstszy błąd, który popełniają firmy, to stawianie sobie wyłącznie celów sprzedażowych i ignorowanie zasięgu, zaangażowania i lojalności — a potem dziwienie się, dlaczego pipeline się kurczy, choć sprzedaż dziś jest dobra. Dlatego kluczową praktyką jest ustawienie co najmniej jednego KPI na każdy etap RACE: celu zasięgowego — na przykład wzrost ruchu organicznego o 30%; celu aktywacyjnego — na przykład czas spędzony na stronie powyżej 3 minut; celu konwersyjnego — na przykład współczynnik konwersji e-commerce powyżej 2,5%; i celu zaangażowania — na przykład wskaźnik retencji klientów 60% po pierwszym zakupie. Kiedy cele pokrywają wszystkie cztery etapy RACE, unikasz budowania planów, które optymalizują jeden etap kosztem pozostałych — a to pułapka, w którą wpadło wiele znanych marek, w tym Nike, do czego wrócimy na slajdzie osiemnastym.</a:t>
            </a:r>
          </a:p>
          <a:p/>
          <a:p>
            <a:r>
              <a:t>[DO]</a:t>
            </a:r>
          </a:p>
          <a:p>
            <a:r>
              <a:t>Odsłoń najpierw akronim SMART — litera po literze z animacją. Następnie odsłoń prawą stronę z etapami RACE. Na koniec odsłoń strzałkę łączącą obie strony. Kolor etapów RACE zgodny z ustaloną paletą: niebieski, zielony, pomarańczowy, fioletowy.</a:t>
            </a:r>
          </a:p>
          <a:p/>
          <a:p>
            <a:r>
              <a:t>[WATCH]</a:t>
            </a:r>
          </a:p>
          <a:p>
            <a:r>
              <a:t>Czy uczestnicy piszą notatki przy slajdzie SMART? To dobry znak — oznacza, że materiał jest dla nich nowy lub przydatny. Jeśli ktoś pyta o różnicę między Achievable a Realistic — powiedz, że w praktyce te litery są traktowane zamiennie; ważniejsza jest ogólna zasada niż precyzja akronimu.</a:t>
            </a:r>
          </a:p>
          <a:p/>
          <a:p>
            <a:r>
              <a:t>[WIZUALIZACJA]</a:t>
            </a:r>
          </a:p>
          <a:p>
            <a:r>
              <a:t>Slajd dwuczęściowy. Lewa strona: akronim SMART rozpisany pionowo — S (Specific), M (Measurable), A (Achievable), R (Realistic/Relevant), T (Time-bound) — każda litera z krótkim polskim wyjaśnieniem. Prawa strona: diagram poziomy z czterema etapami RACE (Zasięg — niebieski, Aktywacja — zielony, Konwersja — pomarańczowy, Zaangażowanie — fioletowy) z ikoną KPI przy każdym. Między lewą a prawą stroną: strzałka z napisem "Cel na każdy etap RACE". Stopka: "O — Objectives" w kole.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10:09</a:t>
            </a:r>
          </a:p>
          <a:p/>
          <a:p>
            <a:r>
              <a:t>[SAY]</a:t>
            </a:r>
          </a:p>
          <a:p>
            <a:r>
              <a:t>Strategia to nie lista kanałów. To decyzja: co priorytetyzujemy i z czego rezygnujemy. To zdanie jest kluczowe i warto je zapamiętać — bo zdecydowana większość dokumentów, które w firmach noszą nazwę "strategia marketingowa", w rzeczywistości jest listą kanałów i taktyk bez żadnego wyboru strategicznego. Dobra strategia jest z definicji ekskluzywna — mówi "nie" tylu rzeczom, ile mówi "tak". PR Smith proponuje framework TOPPP SEED do budowania strategii cyfrowej: Target (docelowe segmenty), Objectives (cele na poziomie strategicznym), Partnerships (partnerstwa), Processes (procesy), People (ludzie), Stages (sekwencja etapów), Engagement (zaangażowanie), Experience (doświadczenie klienta), Data (dane i pomiary). W praktyce jednak najważniejsze jest pytanie: jakie są trzy najważniejsze priorytety strategiczne i co jesteśmy gotowi poświęcić, żeby je osiągnąć? Weźmy Nike — ich strategia Consumer Direct Acceleration brzmiała: "Przechodzimy z modelu hurtowego na DTC cyfrowy, budujemy program członkowski jako główną propozycję wartości, inwestujemy w dane własne." To jedna decyzja strategiczna, która wyeliminowała ponad czterdziestu partnerów hurtowych i dała impuls do budowy czterech własnych aplikacji. To jest strategia.</a:t>
            </a:r>
          </a:p>
          <a:p/>
          <a:p>
            <a:r>
              <a:t>[DO]</a:t>
            </a:r>
          </a:p>
          <a:p>
            <a:r>
              <a:t>Odsłoń najpierw kontrast lewo-prawo (czego strategia NIE jest vs. czym jest). Następnie odsłoń przykład Nike. Na koniec odsłoń TOPPP SEED jako dodatkowe narzędzie — zaznacz, że nie będziecie go dziś omawiać szczegółowo, ale jest dostępne w materiałach.</a:t>
            </a:r>
          </a:p>
          <a:p/>
          <a:p>
            <a:r>
              <a:t>[WATCH]</a:t>
            </a:r>
          </a:p>
          <a:p>
            <a:r>
              <a:t>Czy ktoś wygląda na sceptycznego wobec twierdzenia, że "lista kanałów to nie strategia"? — zapytaj wprost: "Czy ktoś z was widział dokument strategiczny, który wyglądał bardziej jak lista kanałów?" To prawie zawsze wywołuje reakcję — i potwierdza diagnozę.</a:t>
            </a:r>
          </a:p>
          <a:p/>
          <a:p>
            <a:r>
              <a:t>[WIZUALIZACJA]</a:t>
            </a:r>
          </a:p>
          <a:p>
            <a:r>
              <a:t>Slajd z dużym kontrastem wizualnym. Po lewej: czerwona ikona "X" z etykietą "Strategia to NIE lista kanałów". Po prawej: zielona ikona "✓" z etykietą "Strategia to decyzja: co priorytetyzujemy i z czego rezygnujemy". W centrum: neutralne pole z hasłem Nike jako przykładem — "Nike CDA: Porzucamy sprzedaż hurtową. Budujemy DTC i ekosystem członkowski." Poniżej, mniejszą czcionką: "TOPPP SEED — framework strategii cyfrowej PR Smitha" z wymienionymi komponentami (Target / Objectives / Partnerships / Processes / People / Stages / Engagement / Experience / Data). Stopka: "S — Strategy" w kole.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10:12</a:t>
            </a:r>
          </a:p>
          <a:p/>
          <a:p>
            <a:r>
              <a:t>[SAY]</a:t>
            </a:r>
          </a:p>
          <a:p>
            <a:r>
              <a:t>Taktyki to konkretne narzędzia, kanały i formaty treści, których używamy do realizacji strategii. To właśnie na tym etapie SOSTAC łączy się z RACE — każda taktyka przypisana jest do konkretnego etapu cyklu klienta. Taktyki zasięgowe takie jak SEO, PPC czy influencer marketing budują widoczność i świadomość marki. Taktyki aktywacyjne — content marketing, strony docelowe, newsletter — skłaniają odwiedzających do głębszej interakcji przed zakupem. Taktyki konwersyjne — retargeting, optymalizacja procesu zakupu, promocje — zamieniają zainteresowanie w transakcje. Taktyki zaangażowania — automatyzacja e-mailowa, programy lojalnościowe, budowanie społeczności — budują długoterminowe relacje z klientami. Pamiętajcie o modelu mediów: własnych (strona, blog, aplikacja), zarobionych (PR, organic viral, recenzje), i płatnych (reklamy). Strategia decyduje, który mix mediów i które etapy RACE priorytetyzujemy. Taktyki to tylko wykonanie tej decyzji. Bez strategii każda taktyka — nawet doskonale wykonana — jest tylko hałasem bez kierunku.</a:t>
            </a:r>
          </a:p>
          <a:p/>
          <a:p>
            <a:r>
              <a:t>[DO]</a:t>
            </a:r>
          </a:p>
          <a:p>
            <a:r>
              <a:t>Odsłoń najpierw cytat "Taktyki bez strategii to tylko hałas." Zatrzymaj się 3 sekundy. Następnie odsłoń tabelę mapowania. Użyj wskaźnika, żeby przejść przez każdy etap RACE i wymienić przykłady taktyk. Na koniec odsłoń model owned/earned/paid.</a:t>
            </a:r>
          </a:p>
          <a:p/>
          <a:p>
            <a:r>
              <a:t>[WATCH]</a:t>
            </a:r>
          </a:p>
          <a:p>
            <a:r>
              <a:t>Czy uczestnicy kojarzą już RACE ze slajdu 6 i tego slajdu? Jeśli tak — good, integration is working. Jeśli ktoś pyta, skąd pochodzi RACE — powiedz, że to osobny framework Dave'a Chaffey'a, który omówimy szczegółowo po przerwie w bloku 2.</a:t>
            </a:r>
          </a:p>
          <a:p/>
          <a:p>
            <a:r>
              <a:t>[WIZUALIZACJA]</a:t>
            </a:r>
          </a:p>
          <a:p>
            <a:r>
              <a:t>Slajd z centralnym hasłem: "Taktyki bez strategii to tylko hałas." (duża czcionka, wyraźne). Poniżej: tabelka 2×4 mapująca kanały na etapy RACE. Nagłówki kolumn w kolorach RACE: Zasięg (niebieski), Aktywacja (zielony), Konwersja (pomarańczowy), Zaangażowanie (fioletowy). Przykładowe taktyki w każdej kolumnie: Zasięg — SEO, PPC, Social Media Organiczny, Influencer; Aktywacja — Content, Email, Landing pages; Konwersja — CRO, Retargeting, Promocje; Zaangażowanie — Email Automation, Program lojalnościowy, Community. Na dole: ikonografika "Owned / Earned / Paid" (media własne / zarobione / płatne). Stopka: "T — Tactics" w kole.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10:15</a:t>
            </a:r>
          </a:p>
          <a:p/>
          <a:p>
            <a:r>
              <a:t>[SAY]</a:t>
            </a:r>
          </a:p>
          <a:p>
            <a:r>
              <a:t>Etap Działania odpowiada na pytania: kto, co, kiedy i za ile? To etap, w którym strategia zamienia się w konkretne zobowiązania i harmonogram. Framework 4M porządkuje te pytania w czterech wymiarach. Men and Women — czyli talent: kto jest odpowiedzialny za każdą taktykę? Każda aktywność musi mieć właściciela — nie "dział marketingu", lecz konkretna osoba z imienia i nazwiska. Money — budżet: jak alokujemy zasoby finansowe między kanały, etapy RACE i kwartały? Minutes — czas: jaki jest harmonogram publikacji, terminy kampanii, cykl raportowania? Megadata — analityka: jakie dane zbieramy, jak często analizujemy i kto odpowiada za interpretację wyników? Plan bez właściciela to życzenie. Strategia bez budżetu to marzenie. Działania to moment, w którym organizacja sprawdza, czy naprawdę wierzy w swój plan — bo wierzenie bez alokacji zasobów jest tylko retoryką. W czwartym warsztacie popołudniu będziecie sami alokować budżet — wtedy poczujecie, jak trudne i jak ważne są te decyzje.</a:t>
            </a:r>
          </a:p>
          <a:p/>
          <a:p>
            <a:r>
              <a:t>[DO]</a:t>
            </a:r>
          </a:p>
          <a:p>
            <a:r>
              <a:t>Odsłaniaj cztery pola 4M kolejno — najpierw ikona i nazwa, potem opis. Przy ostatnim polu podkreśl cytat na dole slajdu.</a:t>
            </a:r>
          </a:p>
          <a:p/>
          <a:p>
            <a:r>
              <a:t>[WATCH]</a:t>
            </a:r>
          </a:p>
          <a:p>
            <a:r>
              <a:t>Czy uczestnicy reagują na cytat "Plan bez właściciela to życzenie"? — to zwykle wywołuje uśmiechy lub kiwnięcia, szczególnie wśród osób z doświadczeniem zawodowym. Jeśli ktoś komentuje z własnego doświadczenia — zachęć do krótkiej wymiany, ale nie przedłużaj ponad 60 sekund.</a:t>
            </a:r>
          </a:p>
          <a:p/>
          <a:p>
            <a:r>
              <a:t>[WIZUALIZACJA]</a:t>
            </a:r>
          </a:p>
          <a:p>
            <a:r>
              <a:t>Centralna grafika z akronimem "4M" wyeksponowanym dużą czcionką. Poniżej: cztery pola z ikonami i nazwami: (1) Ikona osoby — "Men &amp; Women (Talent)" z podpisem "Kto jest właścicielem każdej taktyki?"; (2) Ikona monet — "Money (Budżet)" z podpisem "Ile alokujemy i gdzie?"; (3) Ikona zegara — "Minutes (Czas)" z podpisem "Harmonogram, kalendarz treści, terminy"; (4) Ikona wykresu/danych — "Megadata (Analityka)" z podpisem "Jakie dane zbieramy i jak je interpretujemy?". Pod polami: pogrubiony napis — "Plan bez właściciela to życzenie. Strategia bez budżetu to marzenie." Stopka: "A — Actions" w kole.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10:18</a:t>
            </a:r>
          </a:p>
          <a:p/>
          <a:p>
            <a:r>
              <a:t>[SAY]</a:t>
            </a:r>
          </a:p>
          <a:p>
            <a:r>
              <a:t>Kontrola to nie ostatni krok — to pierwszy krok kolejnego planu. To jedno zdanie wyraża istotę etapu Kontrola w SOSTAC i odróżnia organizacje, które uczą się i adaptują, od tych, które planują raz w roku i wykonują bez refleksji. Kontrola zamyka pętlę SOSTAC, wracając do etapu Sytuacja. Wyniki pomiarów z etapu Kontrola stają się danymi wejściowymi do kolejnego cyklu analizy sytuacyjnej. Praktycznie Kontrola obejmuje: ustalenie, które metryki mierzymy — KPI per kanał i per etap RACE; określenie częstotliwości pomiaru — tygodniowy dashboard, miesięczny przegląd, kwartalny plan; oraz zdefiniowanie protokołów reakcji — co się dzieje, kiedy KPI spada poniżej progu? Kto decyduje, kto wykonuje? Model 90-dniowy to praktyczna implementacja tego podejścia: SOSTAC działa jako cykl 90-dniowych sprintów — planuj, wykonaj, zmierz, dostosuj. Zamiast statycznego planu rocznego tworzycie żywy system adaptacyjny. W dzisiejszym ćwiczeniu warsztatowym na koniec sesji grupy będą pytane, jakie KPI wybrałyby dla swojej marki — to właśnie jest myślenie w kategoriach etapu Kontrola.</a:t>
            </a:r>
          </a:p>
          <a:p/>
          <a:p>
            <a:r>
              <a:t>[DO]</a:t>
            </a:r>
          </a:p>
          <a:p>
            <a:r>
              <a:t>Odsłoń najpierw centralny cytat. Następnie odsłoń pętlę strzałkową Kontrola → Sytuacja. Na koniec odsłoń listę KPI po lewej i model 90-dniowy po prawej.</a:t>
            </a:r>
          </a:p>
          <a:p/>
          <a:p>
            <a:r>
              <a:t>[WATCH]</a:t>
            </a:r>
          </a:p>
          <a:p>
            <a:r>
              <a:t>Czy uczestnicy doceniają powiązanie Kontrola → Sytuacja? — jeśli nie, wróć do diagramu kołowego ze slajdu 8 i wskaż strzałkę powrotną. Obserwuj, czy ktoś z doświadczeniem zawodowym komentuje, że ich firma "planuje raz w roku" — zachęć do kontynuacji po warsztacie.</a:t>
            </a:r>
          </a:p>
          <a:p/>
          <a:p>
            <a:r>
              <a:t>[WIZUALIZACJA]</a:t>
            </a:r>
          </a:p>
          <a:p>
            <a:r>
              <a:t>Slajd z centralnym motywem pętli: duża strzałka okrężna z napisem "Kontrola → Sytuacja" — wizualnie podkreślająca, że Kontrola to nie koniec, ale początek kolejnego cyklu. Po lewej stronie: lista elementów dashboardu KPI: "KPI per kanał", "KPI per etap RACE", "Dashboard tygodniowy / miesięczny / kwartalny", "Protokół reakcji na odchylenia". Po prawej: ikona sprintu z napisem "Model 90-dniowy: Planuj → Wykonaj → Mierz → Dostosuj". Centralny cytat wyeksponowany pogrubioną czcionką: "Kontrola to nie ostatni krok — to pierwszy krok kolejnego planu." Stopka: "C — Control" w kole.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10:21</a:t>
            </a:r>
          </a:p>
          <a:p/>
          <a:p>
            <a:r>
              <a:t>[SAY]</a:t>
            </a:r>
          </a:p>
          <a:p>
            <a:r>
              <a:t>Kiedy patrzymy na SOSTAC jako całość, kluczowe przesłanie jest następujące: etapy SOSTAC nie działają w izolacji. Sytuacja wpływa na Cele, ale wyniki Kontroli mogą zmienić rozumienie Sytuacji jeszcze w trakcie cyklu. Strategia określa, które Taktyki wybieramy, ale dostępność budżetu z etapu Działania może wymusić rewizję Strategii. To żywy, dynamiczny system — nie statyczna lista kroków. Jednak najważniejszy insight praktyczny brzmi tak: większość organizacji, które myślą, że "robią SOSTAC", w rzeczywistości wykonuje tylko dwa etapy — Sytuację i Taktyki. Przeskakują bezpośrednio od "gdzie jesteśmy" do "co robimy", pomijając trzy krytyczne pytania: "gdzie chcemy być", "jak tam dotrzemy" i "jak będziemy wiedzieć, że dotarliśmy". Właśnie te pominięte pytania są źródłem większości niepotrzebnych wydatków marketingowych, nietrafionych kampanii i rozczarowujących wyników. SOSTAC to dyscyplina, która wymusza zatrzymanie się na każdym etapie — i to jest jego wartość.</a:t>
            </a:r>
          </a:p>
          <a:p/>
          <a:p>
            <a:r>
              <a:t>[DO]</a:t>
            </a:r>
          </a:p>
          <a:p>
            <a:r>
              <a:t>Odsłoń diagram z powiązaniami między etapami. Użyj wskaźnika, żeby prześledzić typową ścieżkę błędu: od S (Sytuacja) strzałka prosta do T (Taktyki) — i zaznacz dużym gestem, co zostało pominięte.</a:t>
            </a:r>
          </a:p>
          <a:p/>
          <a:p>
            <a:r>
              <a:t>[WATCH]</a:t>
            </a:r>
          </a:p>
          <a:p>
            <a:r>
              <a:t>Czy uczestnicy kiwnęli głową przy "większość organizacji robi tylko Sytuację i Taktyki"? — to oznacza, że trafia do ich doświadczenia. Jeśli nie — zapytaj wprost: "Kto z was miał do czynienia z planem marketingowym, który zaczynał się od analizy i kończył na liście działań bez jasnej strategii?"</a:t>
            </a:r>
          </a:p>
          <a:p/>
          <a:p>
            <a:r>
              <a:t>[WIZUALIZACJA]</a:t>
            </a:r>
          </a:p>
          <a:p>
            <a:r>
              <a:t>Powtórka diagramu kołowego z slajdu 8 — tym razem z warstwą połączeń między etapami. Strzałki między wszystkimi parami (nie tylko kolejnymi) — podkreślając, że etapy wpływają na siebie nawzajem, nie tylko sekwencyjnie. Wyróżniony tekst w centrum diagramu: "Liniowe plany się nie sprawdzają." Na dole slajdu: jedno zdanie — "Najczęstszy błąd: skok od Sytuacji prosto do Taktyk, z pominięciem Celów i Strategii." Tytuł slajdu: "SOSTAC — plan, który nie jest linią prostą".</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10:24</a:t>
            </a:r>
          </a:p>
          <a:p/>
          <a:p>
            <a:r>
              <a:t>[SAY]</a:t>
            </a:r>
          </a:p>
          <a:p>
            <a:r>
              <a:t>Przejdźmy teraz przez kompletny przykład SOSTAC na bazie Żabki — sieci, którą wszyscy znacie z codziennego życia w Polsce. Sytuacja: Żabka zarządza ponad dziesięcioma tysiącami lokalizacji i obsługuje rocznie ponad siedemset milionów wizyt klientów — ale była to w całości fizyczna sieć handlowa bez wymiaru cyfrowego. Rosnący rynek e-commerce i zmieniające się oczekiwania konsumentów co do wygody i personalizacji tworzyły presję na transformację cyfrową. Cele: zwiększenie liczby pobrań aplikacji Żappka i częstotliwości transakcji na klienta, mierzone wskaźnikami aktywnymi użytkowników i NPS. Strategia: budowa cyfrowego ekosystemu opartego na lojalności — "loyalty-first digital ecosystem" — gdzie aplikacja staje się centrum relacji z klientem, nie tylko narzędziem do zbierania punktów. Taktyki: aplikacja Żappka z AI-personalizowanymi promocjami, obecność na TikToku, spersonalizowane powiadomienia push bazujące na historii zakupów. Działania: inwestycja technologiczna rzędu pięćdziesięciu milionów złotych, dedykowany zespół cyfrowy liczący tysiąc dwieście osób. Kontrola: NPS powyżej osiemdziesięciu — przy średniej branżowej około pięćdziesięciu — plus oceny w sklepach aplikacji i częstotliwość transakcji. To jest to, jak wygląda kompletny SOSTAC w praktyce: każdy etap odpowiada na konkretne pytanie i przekłada się na mierzalne wyniki.</a:t>
            </a:r>
          </a:p>
          <a:p/>
          <a:p>
            <a:r>
              <a:t>[DO]</a:t>
            </a:r>
          </a:p>
          <a:p>
            <a:r>
              <a:t>Przejdź przez każdą kolumnę planszy SOSTAC wskaźnikiem, czytając kluczowy punkt i dodając komentarz z [SAY]. Zatrzymaj się najdłużej przy kolumnach Strategia (podkreśl decyzję "loyalty-first") i Kontrola (podkreśl NPS 80+ jako benchmark).</a:t>
            </a:r>
          </a:p>
          <a:p/>
          <a:p>
            <a:r>
              <a:t>[WATCH]</a:t>
            </a:r>
          </a:p>
          <a:p>
            <a:r>
              <a:t>Czy uczestnicy rozpoznają Żabkę jako markę i aplikację Żappka? — w Polsce tak. Jeśli ktoś ma własne doświadczenie z Żappką (jako użytkownik), zachęć do komentarza — to doskonały materiał do dyskusji o UX i personalizacji.</a:t>
            </a:r>
          </a:p>
          <a:p/>
          <a:p>
            <a:r>
              <a:t>[WIZUALIZACJA]</a:t>
            </a:r>
          </a:p>
          <a:p>
            <a:r>
              <a:t>Slajd z miniaturą planszy SOSTAC — sześć kolumn z polskimi nagłówkami (Sytuacja / Cele / Strategia / Taktyki / Działania / Kontrola) i kluczowymi punktami dla Żabki w każdej kolumnie. Kolorystyka: każda kolumna w innym odcieniu (zgodnym z paletą Canva dla ćwiczenia 1). Logo Żabki lub stylizowana ikona sklepu convenience w nagłówku slajdu. Dane z badań widoczne w kolumnie Sytuacja (10 000+ lokalizacji, 700M+ wizyt). W kolumnie Kontrola: "NPS 80+ (vs. średnia branżowa ~50)". Źródło: FutureMind / Żabka case study — oznaczone małym tekstem w stopce.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10:28</a:t>
            </a:r>
          </a:p>
          <a:p/>
          <a:p>
            <a:r>
              <a:t>[SAY]</a:t>
            </a:r>
          </a:p>
          <a:p>
            <a:r>
              <a:t>Drugi przykład SOSTAC — Nike Consumer Direct Acceleration, czyli strategia, która stała się globalnym case study zarówno sukcesów, jak i lekcji o niezamierzonych konsekwencjach. Sytuacja: w 2019 roku Nike sprzedawało ponad 65% produktów przez partnerów hurtowych, co ograniczało kontakt z klientem końcowym i zbieranie danych własnych. Cele: przekroczenie 50% udziału kanałów DTC w przychodach, budowa bazy 100M+ członków NikePlus. Strategia: porzucamy model hurtowy, budujemy DTC cyfrowy i ekosystem członkowski jako główną propozycję wartości. Taktyki: cztery własne aplikacje — SNKRS, Nike Training Club, Nike Run Club, Nike.com — plus eliminacja ponad czterdziestu kluczowych kont hurtowych. Działania: fizyczne rozwiązanie umów z partnerami, inwestycja w technologię i dane własne, rekrutacja ekspertów DTC. Kontrola: udział NIKE Direct w przychodach jako główny KPI — osiągnął 21,3 miliarda dolarów w roku fiskalnym 2023. Ale tu pojawia się ważna lekcja: całkowite przychody Nike spadły do 46,3 miliarda dolarów w roku fiskalnym 2025, minus prawie dziesięć procent rok do roku, gdy firma zaczęła ponownie angażować partnerów hurtowych. Dlaczego? Bo strategia DTC zoptymalizowała Konwersję i Zaangażowanie, ale poświęciła Zasięg — produkty stały się trudniej dostępne dla klientów, którzy woleli kupować w multibrandowych sklepach. To klasyczny trade-off RACE: wzmacniasz jeden etap kosztem innego. Wrócimy do tego przykładu za chwilę przy omawianiu RACE.</a:t>
            </a:r>
          </a:p>
          <a:p/>
          <a:p>
            <a:r>
              <a:t>[DO]</a:t>
            </a:r>
          </a:p>
          <a:p>
            <a:r>
              <a:t>Odsłoń górną część slajdu z miniaturą SOSTAC — przejdź przez nią szybko (masz tu 2 minuty). Następnie odsłoń dolną część z danymi finansowymi. Przy danych podkreśl kontrast: duży sukces DTC (21,3B) i jednoczesny spadek całkowitych przychodów. Zostaw slajd przez chwilę bez komentarza — niech liczby "przemówią".</a:t>
            </a:r>
          </a:p>
          <a:p/>
          <a:p>
            <a:r>
              <a:t>[WATCH]</a:t>
            </a:r>
          </a:p>
          <a:p>
            <a:r>
              <a:t>Czy ktoś znał już historię Nike CDA? — to prawdopodobne wśród studentów e-marketingu. Jeśli tak, zapytaj, czy zgadzają się z diagnozą trade-off Zasięg vs. Zaangażowanie. To może być ożywiona dyskusja — kontroluj czas, masz jeszcze jeden slajd przed warsztatem.</a:t>
            </a:r>
          </a:p>
          <a:p/>
          <a:p>
            <a:r>
              <a:t>[WIZUALIZACJA]</a:t>
            </a:r>
          </a:p>
          <a:p>
            <a:r>
              <a:t>Slajd dwuczęściowy. Górna połowa: mini-plansza SOSTAC dla Nike (analogiczna do Żabki na slajdzie 17) z kluczowymi punktami w każdej kolumnie. Dolna połowa: dane finansowe w trzech blokach — "NIKE Direct: €21,3B (FY2023)", "NikePlus: 160M członków", "Całkowite przychody Nike: $46,3B (FY2025, -9,84% r/r)". Przy ostatnim bloku: ikona ostrzeżenia (!) z podpisem "Trade-off Zasięg vs. Konwersja/Zaangażowanie". Logo Nike lub ikona nike swoosh subtelnie w tle. Źródło: StockAnalysis / Nike IR — w stopce.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10:33</a:t>
            </a:r>
          </a:p>
          <a:p/>
          <a:p>
            <a:r>
              <a:t>[SAY]</a:t>
            </a:r>
          </a:p>
          <a:p>
            <a:r>
              <a:t>Zanim przejdziemy do ćwiczenia, podsumujmy cztery błędy, które najczęściej pozbawiają SOSTAC jego wartości. Pierwszy i najpoważniejszy: zaczynanie od taktyk — "Co robimy na Instagramie?" zamiast "Gdzie jesteśmy i gdzie chcemy być?". To jak planowanie trasy bez wiedzy, skąd startujemy. Drugi błąd: słaby etap Strategia — gdy w rubryce Strategia pojawia się lista kanałów, nie decyzja o priorytetach. Strategia musi zawierać wybory — co robimy i czego nie robimy. Trzeci błąd: Kontrola traktowana jako opcja, "jeśli zostanie czas" — bez zaplanowanych KPI, bez dashboardu, bez protokołu reakcji na odchylenia. Kontrola musi być zaplanowana na początku, nie dodawana na końcu. Czwarty błąd: traktowanie SOSTAC jak dokumentu rocznego — "robimy SOSTAC w grudniu i wracamy do niego za rok". SOSTAC jest narzędziem do 90-dniowych cykli adaptacyjnych. Świat się zmienia, dane napływają, plan musi ewoluować. Jeśli będziecie pamiętać tylko jedną rzecz z tego bloku wykładowego — to to: zacznij od Sytuacji, nie od Taktyk. Zatrzymaj się na każdym etapie. I wróć do Sytuacji po każdym cyklu Kontroli.</a:t>
            </a:r>
          </a:p>
          <a:p/>
          <a:p>
            <a:r>
              <a:t>[DO]</a:t>
            </a:r>
          </a:p>
          <a:p>
            <a:r>
              <a:t>Odsłoń cztery bloki błędów sekwencyjnie. Przy każdym błędzie zatrzymaj się na 5–8 sekund i daj uczestnikom moment na refleksję. Na koniec zostaw wszystkie cztery widoczne i zapowiedz przejście do warsztatu.</a:t>
            </a:r>
          </a:p>
          <a:p/>
          <a:p>
            <a:r>
              <a:t>[WATCH]</a:t>
            </a:r>
          </a:p>
          <a:p>
            <a:r>
              <a:t>Czy uczestnicy kiwnęli głową lub uśmiechnęli się przy którymś z błędów? — to sygnał, że rozpoznają go z własnego doświadczenia zawodowego. Możesz zapytać: "Który z tych błędów widzieliście najczęściej w praktyce?" — ale miej pod kontrolą czas; do warsztatu zostaje ok. 3 minut na slajdzie przejściowym.</a:t>
            </a:r>
          </a:p>
          <a:p/>
          <a:p>
            <a:r>
              <a:t>[WIZUALIZACJA]</a:t>
            </a:r>
          </a:p>
          <a:p>
            <a:r>
              <a:t>Slajd z czterema blokami błędów — ułożonymi w siatce 2×2, każdy w kolorze ostrzegawczym (pomarańcz lub czerwień) z ikoną "!" i krótką etykietą. Blok 1: "Taktyki jako pierwszy krok" — "Najczęstszy błąd: zaczyna się od kanałów, nie od diagnozy." Blok 2: "Słabe S — Strategia" — "Lista kanałów to nie strategia." Blok 3: "Kontrola jako dodatek" — "Mierzenie wyników 'jak będzie czas' to brak Kontroli." Blok 4: "Statyczny roczny plan" — "SOSTAC działa jako 90-dniowe sprinty, nie jako dokument raz na rok." Tytuł slajdu: "Jak nie robić SOSTAC" lub "Cztery błędy, które eliminują wartość SOSTAC".</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10:36</a:t>
            </a:r>
          </a:p>
          <a:p/>
          <a:p>
            <a:r>
              <a:t>[SAY]</a:t>
            </a:r>
          </a:p>
          <a:p>
            <a:r>
              <a:t>Dobra — mamy za sobą teorię SOSTAC. Teraz czas, żeby ją zastosować. Przez następne trzydzieści minut każda grupa wykona audyt sytuacyjny dla marki, którą wybrała na ćwiczenie otwierające. Na następnym slajdzie zobaczycie dokładne instrukcje i przykład wypełnionej planszy. Jedna ważna informacja zanim zaczniemy: marka, którą wybieracie teraz, będzie waszą marką przez cały dzień. We wszystkich czterech ćwiczeniach będziecie analizować tę samą markę — żebyście na koniec dnia mieli prawie kompletny plan marketingu cyfrowego jako konkretny wynik pracy. Więc dobrze przemyślcie wybór — i zdecydujcie teraz.</a:t>
            </a:r>
          </a:p>
          <a:p/>
          <a:p>
            <a:r>
              <a:t>[DO]</a:t>
            </a:r>
          </a:p>
          <a:p>
            <a:r>
              <a:t>Wyświetl slajd. Daj uczestnikom 30 sekund ciszy — pozwól grupom omówić wybór marki. Następnie przejdź do slajdu 21.</a:t>
            </a:r>
          </a:p>
          <a:p/>
          <a:p>
            <a:r>
              <a:t>[WATCH]</a:t>
            </a:r>
          </a:p>
          <a:p>
            <a:r>
              <a:t>Czy grupy już rozmawiają między sobą o wyborze marki? — dobry znak. Jeśli ktoś pyta, czy mogą wybrać markę spoza listy — odpowiedz tak, jeśli to marka znana grupie i mająca cyfrową obecność.</a:t>
            </a:r>
          </a:p>
          <a:p/>
          <a:p>
            <a:r>
              <a:t>[WIZUALIZACJA]</a:t>
            </a:r>
          </a:p>
          <a:p>
            <a:r>
              <a:t>Ciemne tło wysokiego kontrastu (ciemna zieleń lub głęboki granat) — wyraźnie różne od stylu slajdów wykładowych. Centralnie: duży napis "Czas na ćwiczenia" w kolorze białym lub żółtym, poniżej: "Warsztat 1 — Audyt Sytuacyjny SOSTAC". Ikona grupy/tablicy po prawej stronie. Brak innych elementów — minimalizm, pauza wizualna po bloku wykładowym.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10:38</a:t>
            </a:r>
          </a:p>
          <a:p/>
          <a:p>
            <a:r>
              <a:t>[SAY]</a:t>
            </a:r>
          </a:p>
          <a:p>
            <a:r>
              <a:t>Oto instrukcja do Warsztatu pierwszego. Wasze zadanie to uzupełnienie planszy SOSTAC dla wybranej marki — główny nacisk kładziemy na kolumnę Sytuacja, bo to jest fundament całego planu. Pozostałe pięć kolumn wypełniajcie w miarę możliwości, ale Sytuacja jest priorytetem. Macie trzydzieści minut — do jedenastej. Wynik pracy to uzupełniona plansza SOSTAC z sześcioma sekcjami. Wejdźcie na tablicę Canva Whiteboard przez QR kod na ekranie. Pamiętajcie: marka, którą wybieracie teraz, będzie waszą marką przez cały dzień. We wszystkich czterech ćwiczeniach będziecie pracować na tej samej marce — dlatego na koniec zajęć każda grupa będzie miała prawie gotowy cyfrowy plan marketingowy jako konkretny artefakt. Proponujemy: InPost, Żabka, mBank, Zalando Poland — albo marka, w której pracujecie lub którą dobrze znacie. Allegro jest zarezerwowane jako przykład roboczy, który widzicie na planszy — grupy nie wybierają Allegro jako swojej marki roboczej.</a:t>
            </a:r>
          </a:p>
          <a:p/>
          <a:p>
            <a:r>
              <a:t>[SETUP]</a:t>
            </a:r>
          </a:p>
          <a:p>
            <a:r>
              <a:t>Sprawdź, czy link Canva Whiteboard jest aktywny i wyświetla się poprawnie. Sprawdź, czy QR kod jest czytelny z tylnych rzędów sali. Potwierdź, że plansza ma sześć kolumn z polskimi etykietami i przykład wstępnie wypełniony dla Żabki (kolumna Sytuacja: 2–4 karteczki). Sprawdź, czy każda grupa ma przynajmniej jedno urządzenie z przeglądarką. Ustaw widoczny timer na 30 minut.</a:t>
            </a:r>
          </a:p>
          <a:p/>
          <a:p>
            <a:r>
              <a:t>[DO]</a:t>
            </a:r>
          </a:p>
          <a:p>
            <a:r>
              <a:t>Wyświetl slajd. Wskaż QR kod i poczekaj, aż wszystkie grupy połączą się z tablicą. Uruchom timer widoczny dla uczestników. Chodź między grupami podczas ćwiczenia — zatrzymaj się przy każdej na 2–3 minuty. Prompty facilitatora gdy grupy utykają: (a) przy kolumnie Kontrola: "Co CEO tej marki sprawdza w poniedziałek rano?"; (b) przy kolumnie Strategia: "Strategia to nie lista kanałów — jakim jednym wielkim zakładem ta marka stawia ponad wszystkie inne?"; (c) gdy tempo spada: "Cel to trzy do pięciu karteczek na sekcję — szukamy szerokości, nie głębokości."</a:t>
            </a:r>
          </a:p>
          <a:p/>
          <a:p>
            <a:r>
              <a:t>[WATCH]</a:t>
            </a:r>
          </a:p>
          <a:p>
            <a:r>
              <a:t>Czy wszystkie grupy aktywnie dodają karteczki? Czy jakaś grupa zatknęła się na jednej sekcji zbyt długo? Monitoruj równomierność pracy między grupami. Zwróć uwagę, czy pojawiają się interesujące obserwacje o marce — notuj je do debriefingu.</a:t>
            </a:r>
          </a:p>
          <a:p/>
          <a:p>
            <a:r>
              <a:t>[DEBRIEF]</a:t>
            </a:r>
          </a:p>
          <a:p>
            <a:r>
              <a:t>"Co było najtrudniejsze do zanalizowania — Klient, Konkurenci, Firma czy PESTEL? Dlaczego?", "Jakich informacji brakowało wam do rzetelnej analizy Sytuacji? Skąd byście je pozyskali?", "Co diagnoza Sytuacji sugeruje wam o strategii marketingowej tej marki?"</a:t>
            </a:r>
          </a:p>
          <a:p/>
          <a:p>
            <a:r>
              <a:t>[EXTENSION]</a:t>
            </a:r>
          </a:p>
          <a:p>
            <a:r>
              <a:t>"Gdyby główny cel tej marki przesunął się z pozyskiwania nowych klientów na utrzymanie obecnych — co zmieniłoby się w waszej analizie Sytuacji i jakie nowe pytania pojawiłyby się w każdej ćwiartce?"</a:t>
            </a:r>
          </a:p>
          <a:p/>
          <a:p>
            <a:r>
              <a:t>[WIZUALIZACJA]</a:t>
            </a:r>
          </a:p>
          <a:p>
            <a:r>
              <a:t>Ciemne tło (kontynuacja slajdu 20). Trzy wyraźne bloki informacyjne ułożone pionowo. Blok 1 — ZADANIE (pogrubiony nagłówek, ikona ołówka): "Uzupełnijcie planszę SOSTAC dla wybranej marki — skup się głównie na kolumnie Sytuacja." Blok 2 — CZAS / OUTPUT (ikona zegara): "30 minut (do 11:00) | Wynik: uzupełniona plansza SOSTAC z sześcioma sekcjami." Blok 3 — NARZĘDZIE (ikona tabletu + QR kod): "Canva Whiteboard — wejdźcie przez QR kod." Poniżej bloków: ramka wyróżniająca (kontrastowy kolor, np. żółty lub biały ramka) z napisem: "WAŻNE: Wybierzcie teraz markę. Będziecie jej używać przez cały dzień — we wszystkich czterech ćwiczeniach." Poniżej ramki: lista sugestii — "InPost, Żabka, mBank, Zalando Poland — lub marka z waszej branży." Małymi literami: "Allegro jest zarezerwowane jako przykład roboczy — grupy nie wybierają Allegro."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10:42</a:t>
            </a:r>
          </a:p>
          <a:p/>
          <a:p>
            <a:r>
              <a:t>[SAY]</a:t>
            </a:r>
          </a:p>
          <a:p>
            <a:r>
              <a:t>To jest przykład, jak powinna wyglądać wypełniona kolumna Sytuacja — w tym przypadku dla Żabki. Zauważcie, że karteczki są konkretne, ale zwięzłe — jedna obserwacja, jedno zdanie. To nie jest miejsce na elaboraty — to miejsce na kluczowe fakty i wnioski, które kształtują resztę planu. Wasze grupy mają teraz dostęp do pustej planszy na tablicy Canva — zróbcie to samo dla swojej marki. Pamiętajcie, że skupiamy się przede wszystkim na kolumnie Sytuacja, ale możecie i powinniście dodawać notatki do pozostałych pięciu kolumn, jeśli macie pomysły. Startujemy — macie trzydzieści minut.</a:t>
            </a:r>
          </a:p>
          <a:p/>
          <a:p>
            <a:r>
              <a:t>[SETUP]</a:t>
            </a:r>
          </a:p>
          <a:p>
            <a:r>
              <a:t>Potwierdź jeszcze raz, że timer jest uruchomiony i widoczny. Upewnij się, że przykład Żabki jest widoczny na slajdzie — nie na tablicy Canva (żeby grupy pracowały na własnych sekcjach, nie nadpisywały przykładu).</a:t>
            </a:r>
          </a:p>
          <a:p/>
          <a:p>
            <a:r>
              <a:t>[DO]</a:t>
            </a:r>
          </a:p>
          <a:p>
            <a:r>
              <a:t>Wyświetl slajd z przykładem Żabki. Wskaż karteczki w kolumnie Sytuacja, czytając każdą krótko. Podkreśl format: krótkie, konkretne obserwacje z oznaczeniem kategorii (Klient, Konkurenci, Firma, PESTEL). Następnie daj grupom sygnał do startu.</a:t>
            </a:r>
          </a:p>
          <a:p/>
          <a:p>
            <a:r>
              <a:t>[WATCH]</a:t>
            </a:r>
          </a:p>
          <a:p>
            <a:r>
              <a:t>Obserwuj, czy grupy zaczynają kopiować format karteczek z przykładu — to dobry znak. Monitoruj, czy wszystkie grupy pracują na Canva, a nie tylko dyskutują bez wpisywania. Jeśli grupy kończą wcześniej — zadaj pytanie rozszerzające ze slajdu 21.</a:t>
            </a:r>
          </a:p>
          <a:p/>
          <a:p>
            <a:r>
              <a:t>[DEBRIEF]</a:t>
            </a:r>
          </a:p>
          <a:p>
            <a:r>
              <a:t>(Te same pytania debriefingowe co na slajdzie 21 — używaj ich po zakończeniu ćwiczenia o 11:00.)</a:t>
            </a:r>
          </a:p>
          <a:p/>
          <a:p>
            <a:r>
              <a:t>[EXTENSION]</a:t>
            </a:r>
          </a:p>
          <a:p>
            <a:r>
              <a:t>(Jak na slajdzie 21.)</a:t>
            </a:r>
          </a:p>
          <a:p/>
          <a:p>
            <a:r>
              <a:t>[WIZUALIZACJA]</a:t>
            </a:r>
          </a:p>
          <a:p>
            <a:r>
              <a:t>Wizualizacja częściowo wypełnionej planszy SOSTAC — widoczna kolumna Sytuacja wypełniona dla Żabki jako punkt odniesienia. Kolumna Sytuacja zawiera cztery karteczki (w kolorze niebieskim zgodnie z paletą ćwiczenia): (1) "Klient: 700M+ wizyt rocznie — klient poszukuje wygody i szybkości, coraz częściej oczekuje personalizacji oferty." (2) "Konkurenci: Biedronka (fizyczna sieć), Delikatesy Centrum, rosnąca konkurencja e-grocery (Lisek, Swyft)." (3) "Firma: 10 000+ lokalizacji w Polsce, rosnąca baza aplikacji Żappka (10M pobrań, 4M aktywnych użytkowników)." (4) "PESTEL: Rosnące oczekiwania konsumentów wobec convenience (T), koszty pracy (E), regulacje dot. sklepów autonomicznych (P)." Pozostałe pięć kolumn (Cele, Strategia, Taktyki, Działania, Kontrola) widoczne z nagłówkami, ale z pojedynczą karteczką lub puste — pokazując, że to zakres pracy grup. Legenda kolorów widoczna w rogu: Sytuacja = niebieski, Cele = zielony, Strategia = żółty, Taktyki = pomarańczowy, Działania = różowy, Kontrola = fioletowy.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11:00</a:t>
            </a:r>
          </a:p>
          <a:p/>
          <a:p>
            <a:r>
              <a:t>[SAY]</a:t>
            </a:r>
          </a:p>
          <a:p>
            <a:r>
              <a:t>Zasłużona przerwa — macie piętnaście minut. Wróćcie o jedenastej piętnastej.</a:t>
            </a:r>
          </a:p>
          <a:p/>
          <a:p>
            <a:r>
              <a:t>[DO]</a:t>
            </a:r>
          </a:p>
          <a:p>
            <a:r>
              <a:t>Wyświetl slajd. Ustaw timer na 15 minut widoczny dla uczestników (lub na własnym urządzeniu). W czasie przerwy przejrzyj wyniki Warsztatu 1 na Canva Whiteboard — wypisz dwa lub trzy interesujące obserwacje, które możesz przytoczyć podczas powitania po przerwie.</a:t>
            </a:r>
          </a:p>
          <a:p/>
          <a:p>
            <a:r>
              <a:t>[WATCH]</a:t>
            </a:r>
          </a:p>
          <a:p>
            <a:r>
              <a:t>Obserwuj, czy grupy kończą porządkować swoje plansze SOSTAC przed wyjściem. Jeśli jakaś grupa jest daleko w tyle z ćwiczeniem, zachęć do uzupełnienia podczas przerwy lub zasygnalizuj, że do planszy SOSTAC wrócą przy wolnej chwili po południu.</a:t>
            </a:r>
          </a:p>
          <a:p/>
          <a:p>
            <a:r>
              <a:t>[WIZUALIZACJA]</a:t>
            </a:r>
          </a:p>
          <a:p>
            <a:r>
              <a:t>Ciemne tło (granatowe). Duży napis wyśrodkowany: "Przerwa 15 minut — do zobaczenia o 11:15". Ikona zegara lub filiżanki kawy po prawej stronie. Minimalistyczny slajd — żadnych dodatkowych elementów. Opcjonalnie: mały przypomnienie w stopce: "Wróćcie z marką wybraną w Ćwiczeniu 1 — będzie potrzebna od razu."</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11:15</a:t>
            </a:r>
          </a:p>
          <a:p/>
          <a:p>
            <a:r>
              <a:t>[SAY]</a:t>
            </a:r>
          </a:p>
          <a:p>
            <a:r>
              <a:t>Witajcie z powrotem. Przed przerwą zbudowaliście szkielet planu marketingowego dla waszej marki, korzystając z SOSTAC. Teraz poznamy narzędzie, które pozwala wam wypełnić kolumnę Taktyki w SOSTAC treścią — czyli RACE. RACE to framework egzekucji stworzony przez dr. Dave'a Chaffey'a. Stoi za pytaniem: jak dokładnie realizujemy plan marketingowy na całej ścieżce klienta — od pierwszego kontaktu do długoterminowej lojalności? Nazwa RACE to akronim od czterech etapów: Reach (Zasięg), Act (Aktywacja), Convert (Konwersja), Engage (Zaangażowanie). Na slajdzie 13, gdy omawialiśmy Taktyki w SOSTAC, zobaczyliście, że każda taktyka przypisana jest do etapu RACE — to było pierwsze spotkanie z tym frameworkiem. Teraz wejdziemy w każdy etap szczegółowo: kanały, KPI, polskie dane rynkowe i przykłady z firm, które ten model stosują w praktyce.</a:t>
            </a:r>
          </a:p>
          <a:p/>
          <a:p>
            <a:r>
              <a:t>[DO]</a:t>
            </a:r>
          </a:p>
          <a:p>
            <a:r>
              <a:t>Wyświetl slajd. Wskaż wskaźnikiem strzałkę SOSTAC → RACE. Przypomnij uczestnikom o slajdzie 13 — możesz na chwilę przełączyć się na miniaturę tego slajdu lub opisać zawartość kolumny Taktyki z pamięci.</a:t>
            </a:r>
          </a:p>
          <a:p/>
          <a:p>
            <a:r>
              <a:t>[WATCH]</a:t>
            </a:r>
          </a:p>
          <a:p>
            <a:r>
              <a:t>Czy uczestnicy pamiętają kolumnę Taktyki ze slajdu 13? Jeśli tak — dobra integracja. Jeśli nie — powtórz szybko: "W SOSTAC Taktyki to kanały przypisane do etapów RACE. Teraz rozumiemy te etapy szczegółowo."</a:t>
            </a:r>
          </a:p>
          <a:p/>
          <a:p>
            <a:r>
              <a:t>[WIZUALIZACJA]</a:t>
            </a:r>
          </a:p>
          <a:p>
            <a:r>
              <a:t>Jasne, kontrastowe tło (powrót do stylu wykładowego). Po lewej stronie: miniatura diagramu hierarchii frameworków z podświetlonym etapem RACE na dole (kolor wyróżnienia: antracyt lub złoty). Po prawej: dwa bloki tekstowe. Blok górny: "SOSTAC = jak planujemy." Blok dolny: "RACE = jak egzekwujemy plan na ścieżce klienta." Strzałka łącząca bloki z napisem "SOSTAC → RACE". Odwołanie do slajdu 13 (Taktyki SOSTAC): "Pamiętacie kolumnę Taktyki? Tu właśnie RACE wchodzi do gry."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11:18</a:t>
            </a:r>
          </a:p>
          <a:p/>
          <a:p>
            <a:r>
              <a:t>[SAY]</a:t>
            </a:r>
          </a:p>
          <a:p>
            <a:r>
              <a:t>Pierwsza i najważniejsza rzecz, którą musicie zapamiętać o RACE: to nie jest lejek. Tradycyjny lejek marketingowy jest liniowy i jednostronny — klient przechodzi przez świadomość, zainteresowanie, zakup i znika. RACE zakłada coś innego: etap Zaangażowanie nie kończy cyklu — on go zasila. Zaangażowani, lojalni klienci stają się ambasadorami marki, którzy organicznie rozszerzają etap Zasięg. Polecają markę znajomym, dzielą się treściami w mediach społecznościowych, piszą recenzje. Dlatego diagram RACE to okrąg z powrotną strzałką — a nie linia z końcem. To fundamentalna różnica filozoficzna: zamiast "sprzedaj i zapomnij", RACE pyta "jak zbudować relację, która sama generuje nowych klientów?" Zanim przejdziemy do każdego etapu osobno, zapamiętajcie kolory: Zasięg jest niebieski, Aktywacja zielona, Konwersja pomarańczowa, Zaangażowanie fioletowe. Te kolory będą pojawiać się przez resztę prezentacji — i będą standardem na waszej planszy Canva w Ćwiczeniu 2.</a:t>
            </a:r>
          </a:p>
          <a:p/>
          <a:p>
            <a:r>
              <a:t>[DO]</a:t>
            </a:r>
          </a:p>
          <a:p>
            <a:r>
              <a:t>Odsłaniaj etapy diagramu RACE kolejno — Zasięg, Aktywacja, Konwersja, Zaangażowanie — za pomocą animacji. Ostatnim elementem odsłoń strzałkę powrotną Zaangażowanie → Zasięg. Zatrzymaj się przy tej strzałce przez 5 sekund bez mówienia — niech sieć powiązań przemówi sama.</a:t>
            </a:r>
          </a:p>
          <a:p/>
          <a:p>
            <a:r>
              <a:t>[WATCH]</a:t>
            </a:r>
          </a:p>
          <a:p>
            <a:r>
              <a:t>Czy uczestnicy reagują zaskoczeniem na strzałkę powrotną? — to dobry znak krytycznego myślenia. Jeśli ktoś mówi "to jak pętla lojalnościowa" — potwierdź i rozwiń: dokładnie, i to jest temat slajdu 33.</a:t>
            </a:r>
          </a:p>
          <a:p/>
          <a:p>
            <a:r>
              <a:t>[WIZUALIZACJA]</a:t>
            </a:r>
          </a:p>
          <a:p>
            <a:r>
              <a:t>Centralny diagram — cztery etapy RACE ułożone w łuk lub okrąg (nie w linię prostą). Etapy oznaczone kolorami: Zasięg (niebieski), Aktywacja (zielony), Konwersja (pomarańczowy), Zaangażowanie (fioletowy). Strzałki między etapami wskazują przepływ zgodny z ruchem wskazówek zegara — od Zasięg do Aktywacja do Konwersja do Zaangażowanie. Dodatkowa strzałka powrotna z Zaangażowanie z powrotem do Zasięg, wyraźnie oznaczona: "Zaangażowani klienci = nowy Zasięg". Legenda kolorów widoczna w rogu lub pod diagramem: R = niebieski, A = zielony, C = pomarańczowy, E = fioletowy. Tytuł slajdu: "RACE — to cykl, nie lejek."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11:23</a:t>
            </a:r>
          </a:p>
          <a:p/>
          <a:p>
            <a:r>
              <a:t>[SAY]</a:t>
            </a:r>
          </a:p>
          <a:p>
            <a:r>
              <a:t>Pierwszy etap RACE to Zasięg — po angielsku Reach. Zasięg odpowiada na pytanie: jak budujemy widoczność i świadomość marki, zanim klient nas w ogóle rozważy? To jest praca, która dzieje się zanim klient trafi na naszą stronę, przed zakupem, często zanim uświadomił sobie, że ma potrzebę. Kanały budowania zasięgu to te, które dobrze znacie: SEO, kampanie płatne w wyszukiwarce i mediach społecznościowych, działania PR, influencer marketing i partnerstwa. KPI na poziomie Zasięgu mierzą, czy w ogóle jesteśmy widoczni: ruch organiczny, impresje, udział w głosie rynku i wzrost obserwujących. Dwie statystyki, które warto zapamiętać: globalne badania BrightEdge pokazują, że ruch organiczny z wyszukiwania generuje 53% całego mierzalnego ruchu na stronach internetowych — to więcej niż reklamy płatne, media społecznościowe i direct łącznie. W Polsce kluczowe platformy zasięgowe to YouTube — docierający do 24,4 miliona Polaków miesięcznie, czyli ponad dwie trzecie wszystkich internautów w kraju — oraz TikTok z 13,8 milionami użytkowników i średnim czasem sesji 53 minuty dziennie, co jest najwyższym wynikiem spośród wszystkich platform. (Źródło: Gemius/PBI Mediapanel 2024.) Te liczby to punkt wyjścia do decyzji strategicznych o alokacji zasięgu — bo nie każda platforma pasuje do każdej marki.</a:t>
            </a:r>
          </a:p>
          <a:p/>
          <a:p>
            <a:r>
              <a:t>[DO]</a:t>
            </a:r>
          </a:p>
          <a:p>
            <a:r>
              <a:t>Odsłoń lewą kolumnę (kanały) — ikona po ikonie. Następnie odsłoń prawą kolumnę (KPI). Na końcu odsłoń pasek statystyk na dole. Użyj wskaźnika, aby podkreślić kontrast: 53% organicznie vs. reszta płatnie i społecznościowo.</a:t>
            </a:r>
          </a:p>
          <a:p/>
          <a:p>
            <a:r>
              <a:t>[WATCH]</a:t>
            </a:r>
          </a:p>
          <a:p>
            <a:r>
              <a:t>Czy ktoś pyta, co oznacza "share of voice"? — krótko wyjaśnij: procent wzmianek o marce w ogóle wzmianek o całej kategorii. Obserwuj, czy uczestnicy reagują zaskoczeniem na zasięg TikToka w Polsce — to dobry punkt do pytania otwartego w następnym slajdzie.</a:t>
            </a:r>
          </a:p>
          <a:p/>
          <a:p>
            <a:r>
              <a:t>[WIZUALIZACJA]</a:t>
            </a:r>
          </a:p>
          <a:p>
            <a:r>
              <a:t>Tło lub obramowanie slajdu w kolorze niebieskim — konsekwentne kodowanie kolorem etapu Zasięg. Duże "R" w kole niebieskim w lewym górnym rogu z podpisem "Zasięg (Reach)". Dwie kolumny. Lewa kolumna: lista kanałów z ikonami (niebieskobiałe): SEO, PPC/Google Ads, Social Media, PR, Influencer Marketing, Partnerstwa. Prawa kolumna: lista KPI z ikonami: ruch organiczny, liczba wyświetleń (impresje), udział w rynku wyszukiwania (share of voice), wzrost obserwujących, pozycje słów kluczowych. Dół slajdu: pasek z dwoma statystykami na niebieskim tle: "Ruch organiczny = 53% całego ruchu na stronach" i "YouTube: 24,4 mln Polaków miesięcznie | TikTok: 13,8 mln użytkowników, 53 min/dzień" (Gemius/PBI Mediapanel 2024).</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11:27</a:t>
            </a:r>
          </a:p>
          <a:p/>
          <a:p>
            <a:r>
              <a:t>[SAY]</a:t>
            </a:r>
          </a:p>
          <a:p>
            <a:r>
              <a:t>Przyjrzyjmy się polskiemu rynkowi platform bliżej — bo wybór kanału zasięgowego w Polsce to decyzja strategiczna, a dane wskazują na wyraźne różnice. YouTube ma największy surowy zasięg w Polsce — 24,4 miliona użytkowników miesięcznie, co czyni go platformą o największym potencjale dotarcia. Facebook również dociera do porównywalnej liczby użytkowników, ale z wyraźnie starszą demografią i niższym organicznym zasięgiem treści marek na przestrzeni ostatnich lat. TikTok ma mniejszy zasięg nominalnie — 13,8 miliona — ale najwyższy czas sesji spośród wszystkich platform: 53 minuty dziennie. Oznacza to, że użytkownicy TikToka są głębiej zanurzeni w treściach niż na jakiejkolwiek innej platformie. LinkedIn stwarza wyjątkową rozbieżność w danych: DataReportal podaje zasięg reklamowy 8,2 miliona, podczas gdy Gemius mierzy około 5 milionów aktywnych miesięcznie — obydwie liczby podaję tu razem, bo ta rozbieżność sama w sobie jest informacją o tym, jak różne metodologie mierzą zasięg. Kluczowe pytanie dla każdej marki: której platformy demografia najlepiej odpowiada waszej personie? Bo "największy zasięg" i "najlepszy zasięg dla mojej marki" to dwie zupełnie różne rzeczy.</a:t>
            </a:r>
          </a:p>
          <a:p/>
          <a:p>
            <a:r>
              <a:t>[DO]</a:t>
            </a:r>
          </a:p>
          <a:p>
            <a:r>
              <a:t>Odsłoń tabelę kolumna po kolumnie. Zatrzymaj się przy wierszu TikTok i podkreśl czas sesji (53 min). Następnie podkreśl rozbieżność LinkedIn — zaznacz, że obydwie liczby są wiarygodne, ale mierzą coś innego.</a:t>
            </a:r>
          </a:p>
          <a:p/>
          <a:p>
            <a:r>
              <a:t>[WATCH]</a:t>
            </a:r>
          </a:p>
          <a:p>
            <a:r>
              <a:t>Czy uczestnicy reagują zaskoczeniem na czas sesji TikToka? — to naturalny punkt do krótkiej dyskusji. Czy ktoś kwestionuje dane LinkedIn? — to dociekliwość warta pochwały; zachęć do sprawdzenia źródeł w materiałach kursu.</a:t>
            </a:r>
          </a:p>
          <a:p/>
          <a:p>
            <a:r>
              <a:t>[WIZUALIZACJA]</a:t>
            </a:r>
          </a:p>
          <a:p>
            <a:r>
              <a:t>Tło lub akcenty niebieskie — kodowanie kolorem etapu Zasięg. Centralna tabela porównawcza pięciu platform: YouTube, TikTok, Facebook, Instagram, LinkedIn. Kolumny tabeli: Platforma, Zasięg miesięczny w Polsce, Średni czas sesji (min/dzień), Główny format treści, Najlepsza strategia zasięgowa. Komórki wypełnione danymi z Gemius/PBI Mediapanel 2024 i DataReportal 2025: YouTube (24,4M, ~40 min), TikTok (13,8M, 53 min), Facebook (~24M, ~33 min), Instagram (~13M, ~32 min), LinkedIn (8,2M wg DataReportal / ~5M wg Gemius — oba podane). Nad tabelą: pytanie prowadzące: "Który kanał wybierasz dla Zasięgu?" Pod tabelą: dwa wnioski wytłuszczone na niebieskim tle: "YouTube = największy zasięg" | "TikTok = najwyższe zaangażowanie czasowe". Źródło: Gemius/PBI Mediapanel 2024 / DataReportal Digital 2025 Poland.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11:31</a:t>
            </a:r>
          </a:p>
          <a:p/>
          <a:p>
            <a:r>
              <a:t>[SAY]</a:t>
            </a:r>
          </a:p>
          <a:p>
            <a:r>
              <a:t>Drugi etap RACE to Aktywacja — po angielsku Act lub Interact. Aktywacja pyta: co robi odwiedzający naszą stronę zanim dokona zakupu? Jak skłaniamy kogoś, kto nas odkrył, do głębszej interakcji? Aktywacja to etap między "słyszałem o tej marce" a "rozważam zakup" — i jest to etap, który większość firm dramatycznie zaniedbuje, skupiając się tylko na zasięgu i konwersji. Kanały aktywacji to te, które budują wartość przed transakcją: artykuły blogowe i treści edukacyjne, sekwencje emailowe do nowych subskrybentów, strony docelowe z konkretną obietnicą wartości, lead magnety — darmowe e-booki, kalkulatory, narzędzia interaktywne — które wymieniają wartość za adres email. KPI na tym etapie mierzą głębokość i jakość interakcji, nie tylko sam fakt wizyty. Zanim przejdę dalej — statystyka, która powinna was niepokoić: 93% marketerów potwierdza, że personalizacja poprawia konwersje. Jednak tylko 13% z nich stosuje zaawansowane techniki personalizacji. Oznacza to, że ogromna większość firm wie, co powinna robić, ale tego nie robi — a to jest przewaga konkurencyjna dla tych, którzy zdecydują się wdrożyć personalizację na etapie Aktywacji. (Źródło: Litmus / HubSpot, dane 2024.)</a:t>
            </a:r>
          </a:p>
          <a:p/>
          <a:p>
            <a:r>
              <a:t>[DO]</a:t>
            </a:r>
          </a:p>
          <a:p>
            <a:r>
              <a:t>Odsłoń lewą kolumnę (kanały), potem prawą (KPI). Na końcu odsłoń pasek statystyki na dole. Przy statystyce 93%/13% zatrzymaj się i zadaj pytanie retoryczne: "Co się dzieje z tym 80% różnicy? Gdzie idzie ta szansa?"</a:t>
            </a:r>
          </a:p>
          <a:p/>
          <a:p>
            <a:r>
              <a:t>[WATCH]</a:t>
            </a:r>
          </a:p>
          <a:p>
            <a:r>
              <a:t>Czy ktoś pyta, co konkretnie znaczy "zaawansowana personalizacja"? — podaj przykład: nie tylko "Drogi Janie" w mailu, lecz rekomendacje produktów na podstawie historii przeglądania i zakupów, dynamiczna treść strony dostosowana do etapu lifecycle klienta. Obserwuj, czy ktoś z doświadczeniem w email marketingu komentuje — zachęć do dzielenia się.</a:t>
            </a:r>
          </a:p>
          <a:p/>
          <a:p>
            <a:r>
              <a:t>[WIZUALIZACJA]</a:t>
            </a:r>
          </a:p>
          <a:p>
            <a:r>
              <a:t>Tło lub obramowanie w kolorze zielonym — kodowanie kolorem etapu Aktywacja. Duże "A" w kole zielonym w lewym górnym rogu z podpisem "Aktywacja (Act)". Dwie kolumny. Lewa: kanały z zielonymi ikonami — Content Marketing, Email Nurture, Landing Pages, Interaktywne narzędzia, Webinary. Prawa: KPI — czas spędzony na stronie, liczba stron na sesję, współczynnik klikalności w emailu (CTR), liczba pobrań lead magnetu, zapisy na newsletter. Dół slajdu: pasek statystyki na zielonym tle: "93% marketerów mówi, że personalizacja poprawia konwersje — ale tylko 13% stosuje zaawansowaną personalizację." (Źródło: Litmus / HubSpot Email Marketing Stats.)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11:35</a:t>
            </a:r>
          </a:p>
          <a:p/>
          <a:p>
            <a:r>
              <a:t>[SAY]</a:t>
            </a:r>
          </a:p>
          <a:p>
            <a:r>
              <a:t>Najlepszym przykładem inwestycji na poziomie Aktywacji jest IKEA. IKEA to największy sprzedawca mebli na świecie — 504 sklepy i 4,6 miliarda wizyt na stronie internetowej rocznie. Brzmi jak ogromny Zasięg, prawda? Problem polegał na tym, że te miliardy wizyt nie przekładały się na zakupy online, bo klienci mieli fundamentalny problem na etapie Aktywacji: nie potrafili sobie wyobrazić, jak meble będą wyglądały w ich domu. To nie jest problem cenowy ani logistyczny — to problem wizualizacji i pewności decyzji. IKEA odpowiedziała na to narzędziem AR: aplikacja IKEA Place z 2017 roku, rozbudowana o IKEA Kreativ w 2022, pozwala skanować swoje pomieszczenie telefonem i wirtualnie ustawiać meble IKEA w prawdziwej przestrzeni — przed zakupem. To jest czyste rozwiązanie bariery Aktywacji. Nie obniżono cen. Nie zwiększono zasięgu. Usunięto tarcie na etapie interakcji przed zakupem, które blokowało decyzję. Warto odnotować: udział e-commerce w przychodach IKEA to szacunkowo około 7% — liczba, którą opatrujemy słowem "szacunkowe", bo IKEA nie publikuje precyzyjnych danych e-commerce w raportach rocznych. Ale kierunek inwestycji jest jasny: usuwanie barier Aktywacji jest priorytetem strategicznym.</a:t>
            </a:r>
          </a:p>
          <a:p/>
          <a:p>
            <a:r>
              <a:t>[DO]</a:t>
            </a:r>
          </a:p>
          <a:p>
            <a:r>
              <a:t>Odsłoń lewą stronę slajdu (problem IKEA). Następnie odsłoń prawą stronę (rozwiązanie AR). Na końcu odsłoń wytłuszczony insight na dole. Podkreśl: rozwiązanie nie było promocją — było produktem.</a:t>
            </a:r>
          </a:p>
          <a:p/>
          <a:p>
            <a:r>
              <a:t>[WATCH]</a:t>
            </a:r>
          </a:p>
          <a:p>
            <a:r>
              <a:t>Czy uczestnicy używają aplikacji IKEA lub mają doświadczenie z AR w zakupach? Jeśli tak, zachęć do podzielenia się — to wzmocni konkretność przykładu. Obserwuj, czy ktoś pyta, dlaczego IKEA e-commerce jest tak małe pomimo takiego zasięgu — to właśnie jest ilustracja bariery Aktywacji.</a:t>
            </a:r>
          </a:p>
          <a:p/>
          <a:p>
            <a:r>
              <a:t>[WIZUALIZACJA]</a:t>
            </a:r>
          </a:p>
          <a:p>
            <a:r>
              <a:t>Tło i akcenty w kolorze zielonym — kodowanie kolorem etapu Aktywacja. Lewa strona: uproszczona grafika lub ikona przedstawiająca aplikację AR z widokiem mebla w wirtualnym wnętrzu (nie zdjęcie — schemat lub opis wizualny). Prawa strona: dwa bloki tekstowe. Blok górny: "Problem Aktywacji IKEA: 4,6 miliarda wizyt rocznie — ale trudno wyobrazić sobie meble w domu przed zakupem." Blok dolny: "Rozwiązanie: IKEA Place (2017) i IKEA Kreativ (2022) — AR umożliwia wizualizację mebli w prawdziwym wnętrzu przed zakupem." Dół slajdu: kluczowy insight wytłuszczony: "IKEA usunęła barierę Aktywacji cyfrowo — nie sprzedażą ani rabatem." Dane w stopce: IKEA: 504 sklepy, €45,1B sprzedaży w 2024 r. | E-commerce ~7% przychodów (szacunkowe). Źródło: IKEA/FourWeekMBA.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11:40</a:t>
            </a:r>
          </a:p>
          <a:p/>
          <a:p>
            <a:r>
              <a:t>[SAY]</a:t>
            </a:r>
          </a:p>
          <a:p>
            <a:r>
              <a:t>Trzeci etap RACE to Konwersja — Convert. Konwersja to moment, w którym zainteresowanie zamienia się w transakcję. To etap, na którym większość firm skupia najwięcej uwagi — bo wyniki są tu najłatwiej mierzalne. Ale bez pracy na poziomie Zasięgu i Aktywacji nie ma kogo konwertować. Kanały konwersji to w praktyce wszystko, co usuwa tarcie w momencie zakupu: dobra architektura strony zakupowej, szybki i prosty proces płatności, czytelne opcje dostawy. W Polsce trzy czynniki konwersyjne mają szczególne znaczenie. Po pierwsze: 77% wizyt w polskim e-commerce pochodzi z urządzeń mobilnych — jeśli wasz sklep nie jest zoptymalizowany pod mobile, tracicie większość potencjalnych konwersji. Po drugie: BLIK — polska metoda płatności — jest używana przez 68% kupujących online, co oznacza wzrost o 5 punktów procentowych rok do roku. To nie jest opcja dodatkowa — to oczekiwany standard. Po trzecie: paczkomaty — 81% polskich kupujących woli odbiór przez paczkomat od dostawy do domu. 84% mówi wprost, że dostępność paczkomatu czyni ich bardziej skłonnymi do zakupu online. To dane Gemius/PBI i IAB Polska z 2024 roku. Wniosek: konwersja w Polsce ma swój specyficzny kontekst infrastrukturalny — BLIK i paczkomaty to nie dodatki, to fundamenty doświadczenia zakupowego.</a:t>
            </a:r>
          </a:p>
          <a:p/>
          <a:p>
            <a:r>
              <a:t>[DO]</a:t>
            </a:r>
          </a:p>
          <a:p>
            <a:r>
              <a:t>Odsłoń lewą kolumnę (kanały), potem prawą (KPI). Na końcu odsłoń pasek z trzema statystykami — każdą podkreśl oddzielnie, zatrzymując się po każdej.</a:t>
            </a:r>
          </a:p>
          <a:p/>
          <a:p>
            <a:r>
              <a:t>[WATCH]</a:t>
            </a:r>
          </a:p>
          <a:p>
            <a:r>
              <a:t>Czy uczestnicy znają te statystyki z pracy zawodowej? — w środowisku e-commerce polskim będą. Jeśli ktoś kwestionuje 81% paczkomat — to realna liczba z badania IAB/Gemius; masz źródło w stopce. Obserwuj, czy ktoś z sektora B2B czuje się wykluczony — zasygnalizuj, że RACE działa w B2B, ale z dłuższym cyklem i wieloma decydentami — pytanie rozszerzające w ćwiczeniu to adresuje.</a:t>
            </a:r>
          </a:p>
          <a:p/>
          <a:p>
            <a:r>
              <a:t>[WIZUALIZACJA]</a:t>
            </a:r>
          </a:p>
          <a:p>
            <a:r>
              <a:t>Tło lub obramowanie w kolorze pomarańczowym — kodowanie kolorem etapu Konwersja. Duże "C" w kole pomarańczowym w lewym górnym rogu z podpisem "Konwersja (Convert)". Dwie kolumny. Lewa: kanały z pomarańczowymi ikonami — Optymalizacja strony zakupowej (CRO), Retargeting, Bramki płatności, Opcje dostawy, Promocje i kody rabatowe. Prawa: KPI — współczynnik konwersji, wartość średniego koszyka (AOV), koszt pozyskania klienta (CPA), wskaźnik porzuconych koszyków, zwrot z wydatków na reklamę (ROAS). Dół slajdu: pasek na pomarańczowym tle z trzema polskimi statystykami: "77% wizyt w e-commerce = urządzenia mobilne (Shopify/Statista 2025)" | "BLIK: 68% polskich zakupów online (+5pp r/r)" | "81% Polaków woli paczkomaty do odbioru przesyłek" (Gemius/PBI/IAB Polska E-commerce w Polsce 2024).</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11:44</a:t>
            </a:r>
          </a:p>
          <a:p/>
          <a:p>
            <a:r>
              <a:t>[SAY]</a:t>
            </a:r>
          </a:p>
          <a:p>
            <a:r>
              <a:t>Zalando to jeden z najlepszych przykładów myślenia strategicznego o etapie Konwersji. Zalando — 10,6 miliarda euro przychodów w 2024 roku, 51 milionów aktywnych użytkowników w 25 krajach europejskich — zbudowało swoją pozycję rynkową w dużej mierze na jednej decyzji: darmowych zwrotach. Darmowe zwroty od pierwszego dnia działania, od 2008 roku — zanim stało się to standardem branżowym. Skąd ta decyzja? Bo bariera konwersji w modzie online jest fundamentalna: klient nie może przymierzyć ubrania przed zakupem. Ryzyko złego rozmiaru, złego koloru, złego fasonu — to tarcie, które blokuje decyzję zakupową. Zalando skalkulowało, że wysoki wskaźnik zwrotów — 30 do 50 procent w europejskiej modzie — nie jest kosztem do minimalizowania, lecz kosztem pozyskania klienta do zaakceptowania. Innymi słowy: wolę płacić za zwrot niż tracić sprzedaż. To nie jest promocja "darmowe zwroty przez miesiąc" — to decyzja architektury produktu na poziomie strategicznym. Zalando nie obniżyło cen, żeby zwiększyć konwersję. Usunęło ryzyko. A to jest różnica między myśleniem taktycznym a myśleniem na poziomie etapu RACE.</a:t>
            </a:r>
          </a:p>
          <a:p/>
          <a:p>
            <a:r>
              <a:t>[DO]</a:t>
            </a:r>
          </a:p>
          <a:p>
            <a:r>
              <a:t>Odsłoń lewą stronę (ikona zwrotu). Następnie odsłoń kolejno trzy bloki po prawej stronie. Na końcu odsłoń kluczowy insight wytłuszczony. Zatrzymaj się przy "infrastruktura konwersji = inwestycja strategiczna, nie koszt" — to zdanie warto powtórzyć głośno dwa razy.</a:t>
            </a:r>
          </a:p>
          <a:p/>
          <a:p>
            <a:r>
              <a:t>[WATCH]</a:t>
            </a:r>
          </a:p>
          <a:p>
            <a:r>
              <a:t>Czy uczestnicy znają Zalando jako użytkownicy? — bardzo prawdopodobne w polskiej sali. Czy ktoś pyta o rentowność modelu wysokich zwrotów? — dobry sygnał; krótko odpowiedz: Zalando prowadzi dane na temat ROI zwrotów i traktuje wskaźnik konwersji per użytkownik jako główny KPI, nie koszt zwrotu. Szczegóły w materiałach.</a:t>
            </a:r>
          </a:p>
          <a:p/>
          <a:p>
            <a:r>
              <a:t>[WIZUALIZACJA]</a:t>
            </a:r>
          </a:p>
          <a:p>
            <a:r>
              <a:t>Tło i akcenty w kolorze pomarańczowym — kodowanie kolorem etapu Konwersja. Lewa strona: uproszczona ikona paczki ze strzałką powrotną (zwrot) na pomarańczowym tle. Prawa strona: dwa bloki. Blok górny: "Zalando — darmowe zwroty od 2008 roku: nie promocja, lecz decyzja produktowa." Blok środkowy: "Problem konwersji w modzie online: klient nie wie, czy rozmiar pasuje. Ryzyko zwrotu blokuje decyzję zakupową." Blok dolny: "Rozwiązanie: darmowe zwroty eliminują ryzyko → konwersja rośnie." Kluczowy insight wytłuszczony na dole: "Infrastruktura konwersji = inwestycja strategiczna, nie koszt." Dane w stopce: Zalando €10,6B przychodów (2024), 51M+ aktywnych użytkowników, 25 rynków europejskich. Źródło: Zalando/Wikipedia/FourWeekMBA.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11:48</a:t>
            </a:r>
          </a:p>
          <a:p/>
          <a:p>
            <a:r>
              <a:t>[SAY]</a:t>
            </a:r>
          </a:p>
          <a:p>
            <a:r>
              <a:t>Czwarty i ostatni etap RACE to Zaangażowanie — Engage. To etap, który większość firm traktuje jak "miły dodatek" do budżetu marketingowego — i to jest jeden z najkosztowniejszych błędów strategicznych. Zaangażowanie odpowiada na pytanie: co robimy po tym, jak klient już kupił? Jak budujemy relację, która sprawia, że kupuje ponownie, poleca nas znajomym i zostaje z nami na długo? KPI Zaangażowania to Customer Lifetime Value — wartość klienta przez całe życie relacji — Net Promoter Score, wskaźnik powtórnych zakupów i wskaźnik churn. Kanały Zaangażowania to przede wszystkim email automatyczny, programy lojalnościowe, budowanie społeczności wokół marki i systemy zbierania feedbacku. Email zasługuje na szczególne wyróżnienie: badanie Litmus State of Email 2025 pokazuje ROI do 50 dolarów na każdego dolara wydanego — przy czym 30% liderów marketingu raportuje zwrot w przedziale 36 do 50 dolarów na 1 dolara wydatku. To jest najwyższy ROI spośród wszystkich kanałów cyfrowych. I wróćmy do strzałki, którą widzieliście na slajdzie 25: Zaangażowanie zamyka pętlę RACE. Lojalni, zaangażowani klienci organicznie rozszerzają Zasięg — polecają, dzielą się, recenzują. To jest RACE jako cykl, a nie lejek.</a:t>
            </a:r>
          </a:p>
          <a:p/>
          <a:p>
            <a:r>
              <a:t>[DO]</a:t>
            </a:r>
          </a:p>
          <a:p>
            <a:r>
              <a:t>Odsłoń lewą kolumnę (kanały/działania), potem prawą (KPI). Na końcu odsłoń pasek statystyki i strzałkę Zaangażowanie → Zasięg. Przy strzałce odwołaj się do diagramu ze slajdu 25 — "pamiętacie tę strzałkę powrotną? To właśnie ona."</a:t>
            </a:r>
          </a:p>
          <a:p/>
          <a:p>
            <a:r>
              <a:t>[WATCH]</a:t>
            </a:r>
          </a:p>
          <a:p>
            <a:r>
              <a:t>Czy uczestnicy reagują zaskoczeniem na ROI emaila ($36–$50/$1)? — to częsta reakcja. Podkreśl: dobrze prowadzone listy emailowe z segmentacją i automatyzacją to jeden z najbardziej niedocenionych zasobów marketingowych. Czy ktoś z doświadczeniem w e-commerce komentuje CLV? — zachęć do rozwinięcia, to wzmocni grupę.</a:t>
            </a:r>
          </a:p>
          <a:p/>
          <a:p>
            <a:r>
              <a:t>[WIZUALIZACJA]</a:t>
            </a:r>
          </a:p>
          <a:p>
            <a:r>
              <a:t>Tło lub obramowanie w kolorze fioletowym — kodowanie kolorem etapu Zaangażowanie. Duże "E" w kole fioletowym w lewym górnym rogu z podpisem "Zaangażowanie (Engage)". Dwie kolumny. Lewa: kanały i działania z fioletowymi ikonami — Email Automation (retencja), Program lojalnościowy, Budowanie społeczności, Treści ekskluzywne dla klientów, NPS i feedback loop. Prawa: KPI — Customer Lifetime Value (CLV), Net Promoter Score (NPS), wskaźnik powtórnych zakupów, wskaźnik churn, open rate i CTR kampanii retencyjnych. Dół slajdu: pasek na fioletowym tle z kluczową statystyką i powiązaniem cyklu: "Email marketing ROI: do $50 na każdy $1 wydany (30% liderów marketingu raportuje $36–$50 ROI)" (Źródło: Litmus State of Email 2025) | Strzałka: "Zaangażowanie → Zasięg: lojalni klienci = organiczni ambasadorzy".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11:52</a:t>
            </a:r>
          </a:p>
          <a:p/>
          <a:p>
            <a:r>
              <a:t>[SAY]</a:t>
            </a:r>
          </a:p>
          <a:p>
            <a:r>
              <a:t>Spotify Wrapped to przykład etapu Zaangażowanie w absolutnie najczystszej formie — i jednocześnie najbardziej elegancki przykład, jak Zaangażowanie przekształca się w nowy Zasięg. Spotify działa na rynku, na którym wszystkie platformy oferują dokładnie ten sam katalog muzyczny. Apple Music, Tidal, Amazon Music, YouTube Music — ta sama muzyka, podobne ceny. Jak zatem Spotify buduje lojalność? Przez dane. Każdy użytkownik Spotify generuje przez rok ogromną ilość danych o swoich preferencjach muzycznych. Spotify zbiera te dane, analizuje je i pod koniec roku przekształca w spersonalizowaną narrację: "Twoje top 5 artystów, twój najdłuższy dzień słuchania, twój ulubiony gatunek o północy." To nie jest statystyka — to lustro tożsamości. I użytkownicy to dzielą. W grudniu 2019 roku Spotify Wrapped wygenerował ponad 1,2 miliona postów na samym Twitterze — organicznie, bez płatnej dystrybucji. Żaden budżet reklamowy nie kupiłby takiego zasięgu. To jest RACE w pełnym cyklu: Zaangażowanie poprzez personalizację → publiczne udostępnienie → nowy Zasięg → nowe osoby odkrywają Spotify → nowa Aktywacja i Konwersja. Wrapped nie jest kampanią wizerunkową — jest architekturą pętli wzrostu.</a:t>
            </a:r>
          </a:p>
          <a:p/>
          <a:p>
            <a:r>
              <a:t>[DO]</a:t>
            </a:r>
          </a:p>
          <a:p>
            <a:r>
              <a:t>Odsłoń lewą stronę (grafika Wrapped). Następnie odsłoń kolejno bloki po prawej stronie. Na końcu odsłoń strzałkę Engage → Reach. Odwołaj się wyraźnie do diagramu ze slajdu 25 i 32 — zamknij pętlę wizualnie.</a:t>
            </a:r>
          </a:p>
          <a:p/>
          <a:p>
            <a:r>
              <a:t>[WATCH]</a:t>
            </a:r>
          </a:p>
          <a:p>
            <a:r>
              <a:t>Czy uczestnicy używają Spotify Wrapped? — bardzo prawdopodobne. Zapytaj krótko: "Kto udostępniał swoje Wrapped?" — jeśli większość rąk idzie w górę, masz żywy dowód mechanizmu. Obserwuj, czy ktoś kwestionuje skuteczność Wrapped po 2019 roku — to dobra okazja do komentarza, że kampania jest kontynuowana co roku z rosnącym zasięgiem.</a:t>
            </a:r>
          </a:p>
          <a:p/>
          <a:p>
            <a:r>
              <a:t>[WIZUALIZACJA]</a:t>
            </a:r>
          </a:p>
          <a:p>
            <a:r>
              <a:t>Tło i akcenty w kolorze fioletowym — kodowanie kolorem etapu Zaangażowanie. Lewa strona: stylizowana grafika lub ikona przedstawiająca kartę "Spotify Wrapped" — kolorowe karty z danymi słuchalności, charakterystyczna estetyka kampanii. Prawa strona: dwa bloki. Blok górny: "Spotify Wrapped: 12 miesięcy słuchania → 1 wydarzenie tożsamościowe." Blok środkowy: "Mechanizm: personalizacja danych słuchacza jako treść do udostępnienia publicznie." Blok dolny na fioletowym tle: "Efekt: 1,2 mln+ postów na Twitterze w grudniu 2019 roku — organicznie, bez płatnej dystrybucji." Strzałka poniżej prowadząca do napisu: "Engage → Reach: lojalni klienci = nowy zasięg." Źródło: Backlinko Spotify Statistics 2025 / Wikipedia Spotify Wrapped. Dane kontekstowe: Spotify 713M MAU, 281M płatnych subskrybentów (Q3 2025).</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11:56</a:t>
            </a:r>
          </a:p>
          <a:p/>
          <a:p>
            <a:r>
              <a:t>[SAY]</a:t>
            </a:r>
          </a:p>
          <a:p>
            <a:r>
              <a:t>Dotarliśmy do najważniejszego slajdu łączącego oba frameworki, które poznaliśmy dziś rano. SOSTAC to framework planowania — odpowiada na pytanie "jak zbudować plan?". RACE to mapa egzekucji — odpowiada na pytanie "jak realizować ten plan na ścieżce klienta?". Nie można robić SOSTAC porządnie bez RACE, bo bez RACE kolumna Taktyki w SOSTAC to losowa lista kanałów zamiast przemyślanego systemu. I nie można robić RACE bez SOSTAC, bo bez SOSTAC etapy RACE to aktywności bez kierunku strategicznego. Tabela, którą widzicie, pokazuje, jak każdy z sześciu etapów SOSTAC wprost przekłada się na RACE: Sytuacja to audyt bieżącej wydajności na wszystkich czterech etapach RACE — czyli odpowiedź na pytanie, w którym etapie mamy dziś największe luki. Cele to co najmniej jeden KPI na etap RACE — nie tylko cel sprzedażowy. Strategia to decyzja, które etapy RACE priorytetyzujemy. Taktyki to lista kanałów i treści przypisanych do każdego etapu RACE. Działania to budżety i właściciele taktyk per etap RACE. A Kontrola to dashboard monitorujący, jak każdy etap działa w czasie. To jest pełna integracja — i dokładnie to, co będziecie budować w Ćwiczeniu 2 za kilka minut.</a:t>
            </a:r>
          </a:p>
          <a:p/>
          <a:p>
            <a:r>
              <a:t>[DO]</a:t>
            </a:r>
          </a:p>
          <a:p>
            <a:r>
              <a:t>Odsłoń cytat nad tabelą. Następnie odsłoń tabelę wierszami — po jednym etapie SOSTAC naraz — i zatrzymaj się przy każdym, wskazując połączenie z RACE. Podkreśl szczególnie wiersz "Taktyki → etapy RACE", bo to jest bezpośredni powrót do slajdu 13.</a:t>
            </a:r>
          </a:p>
          <a:p/>
          <a:p>
            <a:r>
              <a:t>[WATCH]</a:t>
            </a:r>
          </a:p>
          <a:p>
            <a:r>
              <a:t>Czy uczestnicy rozumieją integrację? — dobry test: zapytaj bez zapowiedzi: "W której kolumnie SOSTAC pojawia się RACE po raz pierwszy?" Prawidłowa odpowiedź: Sytuacja (audyt per etap RACE) i Cele (KPI per etap). Obserwuj, czy ktoś robi notatki z tabeli — to wskazuje, że materiał trafia jako użyteczne narzędzie, nie tylko teoria.</a:t>
            </a:r>
          </a:p>
          <a:p/>
          <a:p>
            <a:r>
              <a:t>[WIZUALIZACJA]</a:t>
            </a:r>
          </a:p>
          <a:p>
            <a:r>
              <a:t>Slajd z centralną tabelą 2-kolumnową. Lewa kolumna: sześć etapów SOSTAC (Sytuacja, Cele, Strategia, Taktyki, Działania, Kontrola) — każdy w swoim kolorze z poprzednich slajdów SOSTAC. Prawa kolumna: "Implikacja dla RACE" — opisująca, jak każdy etap SOSTAC łączy się z RACE. Treść komórek: Sytuacja → "Audyt bieżącej wydajności na każdym z czterech etapów RACE"; Cele → "Wyznacz co najmniej jeden KPI na każdy etap RACE"; Strategia → "Zdecyduj, które etapy RACE priorytetyzujesz i jak się różnicujesz"; Taktyki → "Przypisz konkretne kanały i treści do każdego etapu RACE"; Działania → "Wyznacz właścicieli i budżety dla taktyk każdego etapu RACE"; Kontrola → "Zbuduj dashboard śledzący KPI dla każdego etapu RACE". Nad tabelą: cytat wytłuszczony: "SOSTAC to framework planowania. RACE to mapa egzekucji w ramach tego planu." Źródło cytatu: Dave Chaffey / Smart Insights.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12:00</a:t>
            </a:r>
          </a:p>
          <a:p/>
          <a:p>
            <a:r>
              <a:t>[SAY]</a:t>
            </a:r>
          </a:p>
          <a:p>
            <a:r>
              <a:t>Ten slajd to szablon do zabrania ze sobą — po to tu jest. Podsumowuje dla każdego z czterech etapów RACE przykładowe KPI i narzędzia pomiaru. To nie jest wyczerpująca lista — to punkt wyjścia. Każda organizacja, każda marka, każdy produkt będzie miał swój własny zestaw KPI zależny od celów, modelu biznesowego i dostępnych danych. Ale każdy dashboard marketingowy, który nie zawiera co najmniej jednego KPI per etap RACE, jest z definicji niekompletny — bo mierzy tylko część cyklu klienta. Zasięg bez Aktywacji? Mierzysz widoczność, ale nie wiesz, czy ktoś reaguje. Konwersja bez Zaangażowania? Mierzysz transakcje, ale nie wiesz, czy klient wraca. Idealne minimum to jeden KPI na etap, mierzony regularnie — tygodniowo lub miesięcznie — i raportowany razem, nie osobno. Jeśli na waszej prezentacji dla zarządu KPI zasięgowe są w jednym slajdzie, konwersyjne w innym, a lojalnościowe nie istnieją w ogóle — RACE jest właśnie odpowiedzią na tę fragmentację. Użyjcie tego szablonu jako podstawy do budowania dashboardu dla marki z Ćwiczenia 2.</a:t>
            </a:r>
          </a:p>
          <a:p/>
          <a:p>
            <a:r>
              <a:t>[DO]</a:t>
            </a:r>
          </a:p>
          <a:p>
            <a:r>
              <a:t>Wyświetl tabelę w całości od razu — to slajd referencyjny, nie animowany. Powiedz uczestnikom wyraźnie: "Ten slajd będzie dostępny w materiałach — zróbcie zdjęcie lub zaznaczcie go." Użyj wskaźnika, żeby przejść przez każdą kolumnę i wymienić przykładowe KPI.</a:t>
            </a:r>
          </a:p>
          <a:p/>
          <a:p>
            <a:r>
              <a:t>[WATCH]</a:t>
            </a:r>
          </a:p>
          <a:p>
            <a:r>
              <a:t>Czy uczestnicy robią zdjęcia slajdu lub notują KPI? — to bardzo dobry znak; slajd spełnia swoją funkcję referencyjną. Jeśli ktoś pyta, jakie narzędzia rekomendować małej firmie bez budżetu na CRM — odpowiedz: Google Analytics 4 + Google Sheets jako dashboard jest wystarczającym punktem startowym.</a:t>
            </a:r>
          </a:p>
          <a:p/>
          <a:p>
            <a:r>
              <a:t>[WIZUALIZACJA]</a:t>
            </a:r>
          </a:p>
          <a:p>
            <a:r>
              <a:t>Slajd z cztery-kolumnową tabelą podsumowującą — jeden etap RACE na kolumnę. Nagłówki kolumn w kolorach RACE: Zasięg (niebieski), Aktywacja (zielony), Konwersja (pomarańczowy), Zaangażowanie (fioletowy). Każda kolumna zawiera: ikonę etapu, przykładowe KPI (3–4 na etap) i przykładowe narzędzie pomiaru. Treść komórek: Zasięg — KPI: ruch organiczny, impresje, udział w głosie rynku, wzrost obserwujących; Narzędzie: Google Analytics, SEMrush. Aktywacja — KPI: czas na stronie, strony per sesja, CTR emaila, pobrania lead magnetu; Narzędzie: GA4, platforma email. Konwersja — KPI: współczynnik konwersji, AOV, CPA, porzucone koszyki; Narzędzie: GA4, platforma e-commerce. Zaangażowanie — KPI: CLV, NPS, wskaźnik powtórnych zakupów, churn rate; Narzędzie: CRM, NPS tool. Tytuł slajdu: "RACE KPI Dashboard — szablon referencyjny". Stopka: "Zabierz ten slajd — to Twój punkt wyjścia do budowania dashboardu KPI."</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12:03</a:t>
            </a:r>
          </a:p>
          <a:p/>
          <a:p>
            <a:r>
              <a:t>[SAY]</a:t>
            </a:r>
          </a:p>
          <a:p>
            <a:r>
              <a:t>Mamy za sobą cały framework RACE. Teraz czas, żeby go zastosować do marki, którą wybraliście w Ćwiczeniu 1. Przez czterdzieści minut zmapujecie ścieżkę klienta dla waszej marki przez wszystkie cztery etapy RACE — z kanałami, emocjami klienta i punktami tarcia. Na następnym slajdzie zobaczycie dokładne instrukcje i przykład wypełnionej planszy dla Żappki. Ważne przypomnienie: kontynuujecie pracę z tą samą marką, którą wybraliście w Ćwiczeniu 1. To jest element ciągłości przez cały dzień — na koniec każda grupa będzie miała prawie kompletny plan marketingowy.</a:t>
            </a:r>
          </a:p>
          <a:p/>
          <a:p>
            <a:r>
              <a:t>[DO]</a:t>
            </a:r>
          </a:p>
          <a:p>
            <a:r>
              <a:t>Wyświetl slajd. Daj grupom 20 sekund ciszy na przygotowanie się — niech zidentyfikują swoje urządzenia i otworzą tablicę Canva. Następnie przejdź do slajdu 37.</a:t>
            </a:r>
          </a:p>
          <a:p/>
          <a:p>
            <a:r>
              <a:t>[WATCH]</a:t>
            </a:r>
          </a:p>
          <a:p>
            <a:r>
              <a:t>Czy grupy pamiętają swoją wybraną markę? Jeśli jakaś grupa zmieniła skład od Warsztatu 1, upewnij się, że nowi uczestnicy znają markę wybraną przez grupę.</a:t>
            </a:r>
          </a:p>
          <a:p/>
          <a:p>
            <a:r>
              <a:t>[WIZUALIZACJA]</a:t>
            </a:r>
          </a:p>
          <a:p>
            <a:r>
              <a:t>Ciemne tło wysokiego kontrastu (ciemna granatowa lub głęboka czerń) — wyraźnie różne od stylu slajdów wykładowych. Centralnie: duży napis "Czas na ćwiczenia" w kolorze białym, poniżej: "Warsztat 2 — Mapowanie Ścieżki Klienta RACE". Cztery małe kółka w kolorach RACE (niebieski, zielony, pomarańczowy, fioletowy) ułożone poziomo pod napisem. Brak innych elementów — minimalizm, pauza wizualna po bloku wykładowym.</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12:05</a:t>
            </a:r>
          </a:p>
          <a:p/>
          <a:p>
            <a:r>
              <a:t>[SAY]</a:t>
            </a:r>
          </a:p>
          <a:p>
            <a:r>
              <a:t>Instrukcja do Warsztatu drugiego. Wasze zadanie: zmapujcie ścieżkę klienta dla waszej marki przez cztery etapy RACE. Dla każdego etapu dodajcie na tablicy Canva: po pierwsze — kanały, przez które klient kontaktuje się z marką na tym etapie; po drugie — emocje klienta — co czuje, czego się obawia, czego pragnie; po trzecie — punkty tarcia, czyli co może go zatrzymać lub zniechęcić. Na koniec, jeśli zostanie wam czas, dodajcie jeden kluczowy KPI dla każdego etapu — co mierzylibyście, żeby wiedzieć, że ten etap działa? Macie czterdzieści minut — do 12:30. Pracujcie na swoich grupowych strefach na tablicy Canva — wejdź przez QR kod na ekranie. Tablica ma układ czterech poziomych swim lanes — Zasięg, Aktywacja, Konwersja, Zaangażowanie — w kolorach RACE z dzisiejszego wykładu. Pamiętajcie: kontynuujecie pracę z tą samą marką, którą wybraliście w Ćwiczeniu 1. Jeśli nie pamiętacie jej nazwy, mamy ją zanotowaną na tablicy z Warsztatu 1.</a:t>
            </a:r>
          </a:p>
          <a:p/>
          <a:p>
            <a:r>
              <a:t>[SETUP]</a:t>
            </a:r>
          </a:p>
          <a:p>
            <a:r>
              <a:t>Potwierdź, że tablica Canva Whiteboard ma aktywne swim lanes z etykietami Zasięg / Aktywacja / Konwersja / Zaangażowanie w poprawnych kolorach RACE. Sprawdź, czy każda grupa ma własną strefę roboczą na tablicy. Potwierdź, że QR kod wyświetla się poprawnie i jest czytelny z tylnych rzędów. Sprawdź, czy przykład Żappka jest widoczny na slajdzie 38 (nie na tablicy grup). Ustaw timer na 40 minut widoczny dla uczestników.</a:t>
            </a:r>
          </a:p>
          <a:p/>
          <a:p>
            <a:r>
              <a:t>[DO]</a:t>
            </a:r>
          </a:p>
          <a:p>
            <a:r>
              <a:t>Wyświetl slajd. Wskaż QR kod i poczekaj, aż wszystkie grupy połączą się z tablicą — upewnij się, że każda widzi swoją strefę. Uruchom timer. W czasie ćwiczenia chodź między grupami; prompty gdy grupy utykają: przy Zasięgu: "Jak ta persona po raz pierwszy usłyszała o tej marce? Google? Znajomy? Reklama?"; przy Aktywacji: "Co robiła między odkryciem a zakupem? Jakie pytania miała?"; przy Konwersji: "Co ją przekonało do zakupu i co mogło ją zatrzymać tuż przed kasą?"; przy Zaangażowaniu: "Co zrobiła firma po zakupie — emailem, aplikacją, programem lojalnościowym?".</a:t>
            </a:r>
          </a:p>
          <a:p/>
          <a:p>
            <a:r>
              <a:t>[WATCH]</a:t>
            </a:r>
          </a:p>
          <a:p>
            <a:r>
              <a:t>Monitoruj, czy grupy wypełniają wszystkie trzy podstrefy (Kanały, Emocje, Punkty tarcia) w każdym swim lane. Częsty błąd: grupy skupiają się tylko na kanałach i pomijają emocje. Jeśli tak, zatrzymaj się przy grupie i zapytaj: "Co czuje klient w momencie Zasięgu — jaką ma potrzebę, jaką emocję?" Obserwuj, czy jakaś grupa ma trudności z etapem Zaangażowanie — to często najmniej doświadczony obszar; użyj promptu: "Co ta marka robi, żeby klient kupił ponownie?"</a:t>
            </a:r>
          </a:p>
          <a:p/>
          <a:p>
            <a:r>
              <a:t>[DEBRIEF]</a:t>
            </a:r>
          </a:p>
          <a:p>
            <a:r>
              <a:t>"Który etap RACE jest dla waszej marki najsłabszy w tej chwili? Jakie dowody na to macie?", "Gdzie na ścieżce klienta pojawia się największe tarcie — i czy to bariera cyfrowa czy fizyczna?", "Gdybyście mogli zainwestować tylko w jeden etap RACE, który dałby najwyższy ROI? Dlaczego?"</a:t>
            </a:r>
          </a:p>
          <a:p/>
          <a:p>
            <a:r>
              <a:t>[EXTENSION]</a:t>
            </a:r>
          </a:p>
          <a:p>
            <a:r>
              <a:t>"Dla marek B2B: ścieżka klienta w RACE jest zazwyczaj dłuższa i angażuje wielu decydentów. Jak zmieniłaby się wasza mapa, gdyby klientem był zespół zakupowy zamiast jednej osoby?"</a:t>
            </a:r>
          </a:p>
          <a:p/>
          <a:p>
            <a:r>
              <a:t>[WIZUALIZACJA]</a:t>
            </a:r>
          </a:p>
          <a:p>
            <a:r>
              <a:t>Ciemne tło (kontynuacja slajdu 36). Cztery wyraźne bloki informacyjne. Blok 1 — ZADANIE (ikona ołówka, wytłuszczony nagłówek): "Zmapujcie ścieżkę klienta dla waszej marki przez 4 etapy RACE — z kanałami, emocjami i punktami tarcia." Blok 2 — CZAS / OUTPUT (ikona zegara): "40 minut (do 12:30) | Wynik: Mapa podróży klienta z kanałami, emocjami i punktami tarcia per etap RACE + jeden KPI na etap." Blok 3 — NARZĘDZIE (ikona tabletu + placeholder QR kodu): "Canva Whiteboard — swim lanes Reach / Act / Convert / Engage. Wejdź przez QR kod." Blok 4 — PRZYPOMNIENIE (ramka wyróżniająca w kontrastowym kolorze): "Kontynuujcie pracę z marką wybraną w Ćwiczeniu 1." Poniżej: miniatura struktury swim lanes z czterema poziomymi pasami w kolorach RACE i podstrefami: Kanały, Emocje klienta, Punkty tarcia.</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12:10</a:t>
            </a:r>
          </a:p>
          <a:p/>
          <a:p>
            <a:r>
              <a:t>[SAY]</a:t>
            </a:r>
          </a:p>
          <a:p>
            <a:r>
              <a:t>To jest przykład jak powinna wyglądać wypełniona plansza RACE — w tym przypadku dla Żappki, aplikacji lojalnościowej Żabki, i persony Ani, 32-latki z Warszawy, która robi zakupy dwa razy w tygodniu. Zwróćcie uwagę, że każdy swim lane ma trzy warstwy: kanały — skąd klient wie o marce lub gdzie działa, emocje — co czuje na tym etapie, i punkty tarcia — co może go zatrzymać lub zniechęcić. To jest dokładnie to, co wasze grupy mają teraz zrobić dla swojej marki. Ważna uwaga: to jest przykład z jedną karteczką per podstrefa — wasz cel to trzy do pięciu karteczek na podstrefę. Jeden przykład Żappki to punkt orientacyjny, nie granica. Startujcie — macie czterdzieści minut.</a:t>
            </a:r>
          </a:p>
          <a:p/>
          <a:p>
            <a:r>
              <a:t>[SETUP]</a:t>
            </a:r>
          </a:p>
          <a:p>
            <a:r>
              <a:t>Potwierdź, że timer jest uruchomiony. Upewnij się, że przykład Żappki widoczny na slajdzie — nie nadpisuje stref grup na tablicy Canva. Jeśli grupy jeszcze nie zdefiniowały persony klienta, przypomnij im to teraz: "Zanim zaczniesz mapować — powiedz dwa zdania o kliencie, którego mapujesz: wiek, kontekst, punkt startowy."</a:t>
            </a:r>
          </a:p>
          <a:p/>
          <a:p>
            <a:r>
              <a:t>[DO]</a:t>
            </a:r>
          </a:p>
          <a:p>
            <a:r>
              <a:t>Wyświetl slajd z przykładem Żappki. Wskaż wskaźnikiem po jednej karteczce w każdym swim lane, czytając jej treść i komentując format. Podkreśl trzy warstwy: kanały, emocje, tarcie. Następnie daj grupom wyraźny sygnał do startu. Przejdź po sali i upewnij się, że każda grupa aktywnie pracuje.</a:t>
            </a:r>
          </a:p>
          <a:p/>
          <a:p>
            <a:r>
              <a:t>[WATCH]</a:t>
            </a:r>
          </a:p>
          <a:p>
            <a:r>
              <a:t>Obserwuj, czy grupy zaczynają od persony klienta — jeśli nie, zatrzymaj się przy każdej i zapytaj: "Kogo mapujecie? Powiedz mi dwa zdania o tej osobie." Persona nadaje kierunek całej mapie. Monitoruj równomierność pracy — czy grupy wypełniają kolejno swim lanes od Zasięgu do Zaangażowania, czy skaczą. Skakanie jest OK, ale Zaangażowanie często zostaje pominięte — zwróć na to uwagę.</a:t>
            </a:r>
          </a:p>
          <a:p/>
          <a:p>
            <a:r>
              <a:t>[DEBRIEF]</a:t>
            </a:r>
          </a:p>
          <a:p>
            <a:r>
              <a:t>(Te same pytania co na slajdzie 37 — używaj ich po zakończeniu ćwiczenia o 12:30.)</a:t>
            </a:r>
          </a:p>
          <a:p/>
          <a:p>
            <a:r>
              <a:t>[EXTENSION]</a:t>
            </a:r>
          </a:p>
          <a:p>
            <a:r>
              <a:t>(Jak na slajdzie 37 — pytanie B2B dla zaawansowanych grup.)</a:t>
            </a:r>
          </a:p>
          <a:p/>
          <a:p>
            <a:r>
              <a:t>[WIZUALIZACJA]</a:t>
            </a:r>
          </a:p>
          <a:p>
            <a:r>
              <a:t>Wizualizacja częściowo wypełnionej planszy RACE — cztery poziome swim lanes w kolorach RACE: Zasięg (niebieski), Aktywacja (zielony), Konwersja (pomarańczowy), Zaangażowanie (fioletowy). Każdy swim lane zawiera trzy podstrefy (Kanały, Emocje klienta, Punkty tarcia) z jedną przykładową karteczką. Treść karteczek dla Żappki: Zasięg — Kanały: "TikTok (reklamy wideo Żappki), witryny sklepów Żabka przy przystankach, polecenie od kolegi." Emocje: "Ciekawość — 'czy to naprawdę tańsze?'" Punkty tarcia: "Nie znam aplikacji — czy warto pobierać kolejną?" Aktywacja — Kanały: "Strona www Żappka, Instagram Żabka, powiadomienia push po instalacji." Emocje: "Zainteresowanie — 'te oferty wyglądają OK.'" Punkty tarcia: "Nie lubię dawać dostępu do lokalizacji." Konwersja — Kanały: "Aplikacja Żappka przy kasie (kod QR), płatność BLIK." Emocje: "Satysfakcja — 'ubiłem dobry deal.'" Punkty tarcia: "Kolejka w sklepie gdy szukam kodu w aplikacji." Zaangażowanie — Kanały: "Personalizowane powiadomienia push ('Twój ulubiony jogurt jest dziś -30%')." Emocje: "Lojalność — 'ta aplikacja zna moje nawyki.'" Punkty tarcia: "Za dużo powiadomień — wyłączyłem je." Tytuł nad przykładem: "Przykład: Żappka (Żabka) — mapa RACE dla persony Ania, 32 lata, Warszawa." Dół slajdu: "Wasze grupy mają pustą planszę dla swojej marki — startujcie."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12:30</a:t>
            </a:r>
          </a:p>
          <a:p/>
          <a:p>
            <a:r>
              <a:t>[SAY]</a:t>
            </a:r>
          </a:p>
          <a:p>
            <a:r>
              <a:t>Czas na zasłużoną przerwę obiadową — macie godzinę. Wrócimy dokładnie o 13:30. Zanim wyjdziecie, jedna prośba: przez chwilę podczas lunchu pomyślcie o marce, którą dzisiaj analizujecie. Czym ta marka różni się od konkurencji? Dlaczego klienci ją wybierają? Po południu zagłębimy się w strategię marki i propozycję wartości — te pytania będą waszym punktem wyjścia.</a:t>
            </a:r>
          </a:p>
          <a:p/>
          <a:p>
            <a:r>
              <a:t>[DO]</a:t>
            </a:r>
          </a:p>
          <a:p>
            <a:r>
              <a:t>Wyświetl slajd. Głośno ogłoś koniec poranka i godzinę powrotu. Potwierdź lokalizację restauracji lub bufetu jeśli dotyczy.</a:t>
            </a:r>
          </a:p>
          <a:p/>
          <a:p>
            <a:r>
              <a:t>[WATCH]</a:t>
            </a:r>
          </a:p>
          <a:p>
            <a:r>
              <a:t>Zwróć uwagę, ile osób wychodzi natychmiast — to naturalny sygnał wyczerpania poznawczego po intensywnym poranku. Jeśli grupy zaczynają rozmawiać o materiałach przy wyjściu, to bardzo dobry znak: warsztaty zadziałały.</a:t>
            </a:r>
          </a:p>
          <a:p/>
          <a:p>
            <a:r>
              <a:t>[WIZUALIZACJA]</a:t>
            </a:r>
          </a:p>
          <a:p>
            <a:r>
              <a:t>Jasne, proste tło — duży napis "Przerwa obiadowa" wyśrodkowany na slajdzie. Poniżej: "Do zobaczenia o 13:30." W dolnej części slajdu — mniejszy tekst w kursywie: "Wróćcie myślami do marki, którą analizujecie — po południu zagłębimy się w strategię marki i propozycję wartości." Opcjonalnie: ikona talerza lub zegara wskazującego 13:30.</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13:30</a:t>
            </a:r>
          </a:p>
          <a:p/>
          <a:p>
            <a:r>
              <a:t>[SAY]</a:t>
            </a:r>
          </a:p>
          <a:p>
            <a:r>
              <a:t>Witajcie z powrotem. Żeby rozgrzać umysły po lunchu, zacznijmy od szybkiej rundy oceniania. Zaraz pokażę wam pięć prawdziwych kampanii marketingowych polskich marek — jedną po drugiej. Dla każdej macie trzydzieści sekund. Wasza jedyna decyzja: dobra kampania czy zła? Podnieście rękę, jeśli myślicie, że dobra. Nie ma złych odpowiedzi — ale chcę, żebyście uzasadnili swoją ocenę jednym zdaniem. Zaczynamy.</a:t>
            </a:r>
          </a:p>
          <a:p/>
          <a:p>
            <a:r>
              <a:t>[DO]</a:t>
            </a:r>
          </a:p>
          <a:p>
            <a:r>
              <a:t>Wyświetl slajd. Upewnij się, że timer (lub stopwatch na telefonie) jest gotowy do odliczania 30 sekund dla każdej kampanii. Przejdź do slajdu 41 natychmiast po krótkim wstępie.</a:t>
            </a:r>
          </a:p>
          <a:p/>
          <a:p>
            <a:r>
              <a:t>[WATCH]</a:t>
            </a:r>
          </a:p>
          <a:p>
            <a:r>
              <a:t>Czy uczestnicy są rozbudzeni? Energia w sali po lunchu zwykle jest niższa — dynamika quickfire pomaga ją podnieść. Mów energicznie i utrzymuj szybkie tempo.</a:t>
            </a:r>
          </a:p>
          <a:p/>
          <a:p>
            <a:r>
              <a:t>[WIZUALIZACJA]</a:t>
            </a:r>
          </a:p>
          <a:p>
            <a:r>
              <a:t>Ciemne tło (głęboki granat lub czerń) — duży nagłówek "Dobra czy zła kampania?" w jasnym, kontrastowym kolorze. Poniżej: zwięzła instrukcja w trzech punktach: "1. Zobaczysz kampanię. 2. Macie 30 sekund. 3. Podnieście rękę: dobra czy zła?" Na dole slajdu: "5 kampanii. Quickfire." Ikona stopera lub tarczy zegara dla podkreślenia tempa.</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13:32</a:t>
            </a:r>
          </a:p>
          <a:p/>
          <a:p>
            <a:r>
              <a:t>[SAY]</a:t>
            </a:r>
          </a:p>
          <a:p>
            <a:r>
              <a:t>CD Projekt Red — polskie studio twórców Wiedźmina i Cyberpunka — i ich post na TikToku w kampanii Phantom Liberty. Trzydzieści sekund. Dobra czy zła?</a:t>
            </a:r>
          </a:p>
          <a:p/>
          <a:p>
            <a:r>
              <a:t>[DO]</a:t>
            </a:r>
          </a:p>
          <a:p>
            <a:r>
              <a:t>Uruchom timer na 30 sekund. Po upływie czasu zbierz głosy — ręce w górę. Zapytaj jedną lub dwie osoby o uzasadnienie. Nie dawaj "oficjalnej odpowiedzi" — zamiast tego połącz obserwacje klasy z frameworkiem który ją dotyczy: "Ktoś powiedział, że to buduje społeczność — to jest właśnie etap Zaangażowania w RACE, albo strategia marki opartej na wartościach. Wrócimy do CD Projekt Red w bloku po południu."</a:t>
            </a:r>
          </a:p>
          <a:p/>
          <a:p>
            <a:r>
              <a:t>[WATCH]</a:t>
            </a:r>
          </a:p>
          <a:p>
            <a:r>
              <a:t>Czy uczestnicy reagują emocjonalnie? Gracze w sali mogą znać tę markę bardzo dobrze — to może wywołać ciekawą dynamikę. Obserwuj, czy ktoś przywołuje kryzys launch'u Cyberpunka 2077 — to doskonały punkt wejścia do dyskusji o strategii marki po południu.</a:t>
            </a:r>
          </a:p>
          <a:p/>
          <a:p>
            <a:r>
              <a:t>[WIZUALIZACJA]</a:t>
            </a:r>
          </a:p>
          <a:p>
            <a:r>
              <a:t>Jeden duży placeholder na zrzut ekranu lub opis kampanii — post społecznościowy CD Projekt Red na TikToku dotyczący Cyberpunk 2077 Phantom Liberty. Konto: @cdprojektred. Post pokazuje zawartość angażującą społeczność graczy (np. behind-the-scenes, odpowiedź na komentarz fana, meme nawiązujący do fabuły gry). Minimalna narracja — niech obraz mówi sam za siebie. Na dole slajdu: "Dobra czy zła kampania? Macie 30 sekund." Małe logo TikTok w rogu.</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13:36</a:t>
            </a:r>
          </a:p>
          <a:p/>
          <a:p>
            <a:r>
              <a:t>[SAY]</a:t>
            </a:r>
          </a:p>
          <a:p>
            <a:r>
              <a:t>Tym razem email — od mBanku, polskiego pioniera bankowości cyfrowej. Post retencyjny z elementem grywalizacji. Trzydzieści sekund. Dobra czy zła?</a:t>
            </a:r>
          </a:p>
          <a:p/>
          <a:p>
            <a:r>
              <a:t>[DO]</a:t>
            </a:r>
          </a:p>
          <a:p>
            <a:r>
              <a:t>Uruchom timer na 30 sekund. Zbierz głosy. Zapytaj jedno zdanie uzasadnienia. Połącz z kontekstem: "Jeśli ktoś mówi, że to zbyt nachalne albo zbyt grywalizacyjne — to dokładnie pytanie o CVP i strategię marki, które będziemy badać za chwilę."</a:t>
            </a:r>
          </a:p>
          <a:p/>
          <a:p>
            <a:r>
              <a:t>[WATCH]</a:t>
            </a:r>
          </a:p>
          <a:p>
            <a:r>
              <a:t>Uczestnicy z doświadczeniem bankowym lub finansowym mogą mieć silne opinie o mBanku. Jeśli pojawia się dyskusja o danych osobowych i personalizacji — to cenny sygnał; zaznacz go na użytek bloku CVP.</a:t>
            </a:r>
          </a:p>
          <a:p/>
          <a:p>
            <a:r>
              <a:t>[WIZUALIZACJA]</a:t>
            </a:r>
          </a:p>
          <a:p>
            <a:r>
              <a:t>Jeden duży placeholder na zrzut ekranu emaila mBanku — kampania retencyjno-angażująca z elementem grywalizacji. Email pokazuje spersonalizowane wezwanie do działania, pasek postępu lub element zdobywania punktów w programie Mgra, wyraźny CTA. Minimalna narracja na slajdzie. Na dole: "Dobra czy zła kampania? Macie 30 sekund." Małe logo email w rogu.</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13:40</a:t>
            </a:r>
          </a:p>
          <a:p/>
          <a:p>
            <a:r>
              <a:t>[SAY]</a:t>
            </a:r>
          </a:p>
          <a:p>
            <a:r>
              <a:t>Żabka i jej strona docelowa do kampanii Żappki. Landing page, który ma przekonać do pobrania aplikacji. Trzydzieści sekund. Dobra czy zła?</a:t>
            </a:r>
          </a:p>
          <a:p/>
          <a:p>
            <a:r>
              <a:t>[DO]</a:t>
            </a:r>
          </a:p>
          <a:p>
            <a:r>
              <a:t>Uruchom timer na 30 sekund. Zbierz głosy. Zapytaj o uzasadnienie. Połącz: "Żabka to marka, którą dobrze znamy z ćwiczenia 1 i 2 — jak wasza ocena zmienia się, kiedy znacie już ich strategię SOSTAC i mapę RACE?"</a:t>
            </a:r>
          </a:p>
          <a:p/>
          <a:p>
            <a:r>
              <a:t>[WATCH]</a:t>
            </a:r>
          </a:p>
          <a:p>
            <a:r>
              <a:t>Grupy, które rano pracowały na Żabce jako przykładzie roboczym, mogą mieć znacznie bogatszy kontekst do oceny. Obserwuj, czy wiedza z rana informuje ich ocenę popołudniową — to jest sign że transfer wiedzy zadziałał.</a:t>
            </a:r>
          </a:p>
          <a:p/>
          <a:p>
            <a:r>
              <a:t>[WIZUALIZACJA]</a:t>
            </a:r>
          </a:p>
          <a:p>
            <a:r>
              <a:t>Jeden duży placeholder na zrzut ekranu strony docelowej Żabki promującej aplikację Żappka. Strona pokazuje ofertę promocyjną, CTA do pobrania aplikacji, elementy wizualne spójne z identyfikacją wizualną Żabki (zieleń, logotyp). Minimalna narracja. Na dole: "Dobra czy zła kampania? Macie 30 sekund." Małe logo przeglądarki lub aplikacji w rogu.</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13:44</a:t>
            </a:r>
          </a:p>
          <a:p/>
          <a:p>
            <a:r>
              <a:t>[SAY]</a:t>
            </a:r>
          </a:p>
          <a:p>
            <a:r>
              <a:t>InPost i ich post influencerski — messaging skupiony na wygodzie Paczkomatu. Trzydzieści sekund. Dobra czy zła?</a:t>
            </a:r>
          </a:p>
          <a:p/>
          <a:p>
            <a:r>
              <a:t>[DO]</a:t>
            </a:r>
          </a:p>
          <a:p>
            <a:r>
              <a:t>Uruchom timer na 30 sekund. Zbierz głosy. Zapytaj o uzasadnienie. Połącz: "InPost będzie naszym głównym przykładem przy Kanwie Propozycji Wartości w ćwiczeniu 3 — zapamiętajcie tę ocenę, bo wrócimy do niej."</a:t>
            </a:r>
          </a:p>
          <a:p/>
          <a:p>
            <a:r>
              <a:t>[WATCH]</a:t>
            </a:r>
          </a:p>
          <a:p>
            <a:r>
              <a:t>Jeśli uczestnicy kwestionują autentyczność influencer marketingu — doskonały punkt do późniejszej dyskusji o strategii marki i tożsamości. Nie rozwijaj tematu teraz — oznacz go słownie jako "to omówimy dokładniej za chwilę."</a:t>
            </a:r>
          </a:p>
          <a:p/>
          <a:p>
            <a:r>
              <a:t>[WIZUALIZACJA]</a:t>
            </a:r>
          </a:p>
          <a:p>
            <a:r>
              <a:t>Jeden duży placeholder na zrzut ekranu postu influencerskiego promującego InPost i Paczkomat. Kreacja podkreśla wygodę ("paczka kiedy chcę, gdzie chcę"), autentyczny styl influencera, CTA lub kod zniżkowy. Minimalna narracja. Na dole: "Dobra czy zła kampania? Macie 30 sekund." Mała ikona influencera lub aparatu w rogu.</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13:48</a:t>
            </a:r>
          </a:p>
          <a:p/>
          <a:p>
            <a:r>
              <a:t>[SAY]</a:t>
            </a:r>
          </a:p>
          <a:p>
            <a:r>
              <a:t>I na koniec — Allegro i ich pozycja w organicznych wynikach wyszukiwania dla konkurencyjnej kategorii. To nie reklama — to SEO. Trzydzieści sekund. Dobra czy zła kampania?</a:t>
            </a:r>
          </a:p>
          <a:p/>
          <a:p>
            <a:r>
              <a:t>[DO]</a:t>
            </a:r>
          </a:p>
          <a:p>
            <a:r>
              <a:t>Uruchom timer na 30 sekund. Zbierz głosy. Zapytaj o uzasadnienie. Zakończ re-energizer podsumowaniem: "Świetna robota. Widzę, że wasze oko marketingowe jest już rozgrzane. Teraz przejdziemy do czegoś, co sprawi, że ta ocena stanie się jeszcze ostrzejsza — strategii marki i propozycji wartości." Przejdź płynnie do slajdu 46.</a:t>
            </a:r>
          </a:p>
          <a:p/>
          <a:p>
            <a:r>
              <a:t>[WATCH]</a:t>
            </a:r>
          </a:p>
          <a:p>
            <a:r>
              <a:t>Obserwuj, czy uczestnicy potrafią odróżnić "mi się podoba" od "jest skuteczna strategicznie." Jeśli większość odpowiedzi jest estetyczna ("ładny design"), warto przy podsumowaniu zaznaczyć: "Oceniamy skuteczność strategiczną — nie estetykę."</a:t>
            </a:r>
          </a:p>
          <a:p/>
          <a:p>
            <a:r>
              <a:t>[WIZUALIZACJA]</a:t>
            </a:r>
          </a:p>
          <a:p>
            <a:r>
              <a:t>Jeden duży placeholder na zrzut ekranu organicznego wyniku wyszukiwania Allegro dla konkurencyjnej kategorii (np. "laptopy do 3000 zł" lub "sneakers damskie"). Wynik pokazuje listing Allegro wysoko w wynikach Google — tytuł strony, meta opis, rich snippets jeśli dostępne. Minimalna narracja. Na dole: "Dobra czy zła kampania? Macie 30 sekund." Mała ikona lupy lub Google w rogu.</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13:50</a:t>
            </a:r>
          </a:p>
          <a:p/>
          <a:p>
            <a:r>
              <a:t>[SAY]</a:t>
            </a:r>
          </a:p>
          <a:p>
            <a:r>
              <a:t>Uczyliśmy się SOSTAC i RACE jako pierwszych, bo to najbardziej namacalne narzędzia — ale w praktyce zawodowej definiujesz strategię marki zanim wypełnisz SOSTAC. Celowo odwróciliśmy tę kolejność: zaczęliśmy od konkretnych frameworków planistycznych, bo one dały wam rusztowanie, dzięki któremu abstrakcyjne pojęcia takie jak "strategia marki" i "propozycja wartości" będą teraz miały dla was zupełnie inny, bardziej praktyczny wymiar. Przez całe rano budowaliście plany i mapy. Teraz zobaczymy, co powinno je fundować. Te dwa górne poziomy hierarchii — Strategia Marki i Strategia Cyfrowa — to fundament, bez którego SOSTAC jest tylko formularzem do wypełnienia, a RACE listą kanałów bez kierunku.</a:t>
            </a:r>
          </a:p>
          <a:p/>
          <a:p>
            <a:r>
              <a:t>[DO]</a:t>
            </a:r>
          </a:p>
          <a:p>
            <a:r>
              <a:t>Wyświetl slajd. Wskaż wskaźnikiem wyblakłe dolne poziomy, a następnie podświetlone dwa górne. Powiedz wyraźnie: "Tam, gdzie byliśmy rano — teraz tu, gdzie naprawdę zaczyna się strategia."</a:t>
            </a:r>
          </a:p>
          <a:p/>
          <a:p>
            <a:r>
              <a:t>[WATCH]</a:t>
            </a:r>
          </a:p>
          <a:p>
            <a:r>
              <a:t>Obserwuj reakcje — czy uczestnicy rozumieją pedagogiczną logikę odwrócenia? Jeśli ktoś pyta "dlaczego nie zaczęliśmy od tego rano?" — to doskonałe pytanie; odpowiedz: "Bo strategia marki bez kontekstu planistycznego jest abstrakcja. Teraz, gdy znacie SOSTAC i RACE, strategia marki nabiera znaczenia."</a:t>
            </a:r>
          </a:p>
          <a:p/>
          <a:p>
            <a:r>
              <a:t>[WIZUALIZACJA]</a:t>
            </a:r>
          </a:p>
          <a:p>
            <a:r>
              <a:t>Diagram hierarchii — Wariant 2 z hierarchy-diagram-spec.md. Dwa górne poziomy (Strategia Marki i Strategia Cyfrowa) wyświetlone w pełnym kolorze i pełnej przezroczystości, z dodaną białą ramką 3pt dającą wizualny "lift." Trzy dolne poziomy (Strategia Marketingu Cyfrowego, SOSTAC, RACE) wyblakłe do 30% przezroczystości. Strzałki między poziomami 1 i 2: pełna przezroczystość. Strzałki między poziomami 2–3, 3–4, 4–5: wyblakłe do 30%. Podpis pod diagramem: "Zbudowaliśmy plan (SOSTAC) i mapę egzekucji (RACE). Teraz: fundament strategiczny."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13:53</a:t>
            </a:r>
          </a:p>
          <a:p/>
          <a:p>
            <a:r>
              <a:t>[SAY]</a:t>
            </a:r>
          </a:p>
          <a:p>
            <a:r>
              <a:t>Zanim zagłębimy się w Strategię Marki, musimy ustawić trzy pojęcia względem siebie — bo w praktyce są często mylone, nawet przez doświadczonych marketerów. Strategia Cyfrowa to pytanie na poziomie całej organizacji: jak technologia cyfrowa zmienia sposób, w jaki działamy? Przykład: decyzja mBanku o działaniu bez fizycznych oddziałów od 2000 roku — to nie był wybór działu marketingu, to była decyzja zarządu. Strategia Marketingu Cyfrowego to pytanie operacyjne: jak używamy kanałów cyfrowych, żeby pozyskiwać, konwertować i zatrzymywać klientów? Przykład: Allegro, które zdecydowało inwestować w emocjonalne filmy na YouTube zamiast reklam opartych o najniższą cenę. I wreszcie Strategia Marki — pytanie tożsamościowe: kim jesteśmy i co reprezentujemy? Przykład: CD Projekt Red, który buduje reputację przez zasady — brak DRM, darmowe DLC, podejście player-first — a nie przez budżety reklamowe. Te trzy pytania mają różnych właścicieli, różne horyzonty czasowe i różne narzędzia. Żadne z nich nie jest synonimem pozostałych.</a:t>
            </a:r>
          </a:p>
          <a:p/>
          <a:p>
            <a:r>
              <a:t>[DO]</a:t>
            </a:r>
          </a:p>
          <a:p>
            <a:r>
              <a:t>Odsłaniaj kolumny tabeli jedną po drugiej — najpierw Strategia Cyfrowa z przykładem mBanku, potem Strategia Marketingu Cyfrowego z Allegro, na koniec Strategia Marki z CD Projektem. Zadaj pytanie retoryczne: "Kto w firmie odpowiada za każde z tych pytań?"</a:t>
            </a:r>
          </a:p>
          <a:p/>
          <a:p>
            <a:r>
              <a:t>[WATCH]</a:t>
            </a:r>
          </a:p>
          <a:p>
            <a:r>
              <a:t>Jeśli uczestnicy mają trudność z odróżnieniem Strategii Cyfrowej od Strategii Marketingu Cyfrowego — użyj promptu: "Wyobraźcie sobie, że jesteście CEO Żabki. Decyzja o budowie sieci autonomicznych sklepów Nano to strategia cyfrowa. Decyzja o tym, żeby promować Żappkę na TikToku — to już strategia marketingu cyfrowego."</a:t>
            </a:r>
          </a:p>
          <a:p/>
          <a:p>
            <a:r>
              <a:t>[WIZUALIZACJA]</a:t>
            </a:r>
          </a:p>
          <a:p>
            <a:r>
              <a:t>Tabela trójkolumnowa. Każda kolumna odpowiada jednemu poziomowi hierarchii. Nagłówki kolumn: "Strategia Cyfrowa" / "Strategia Marketingu Cyfrowego" / "Strategia Marki." Wiersz 1 (pytanie definiujące): "Jak technologia transformuje organizację?" / "Jak pozyskujemy, konwertujemy i utrzymujemy klientów cyfrowo?" / "Kim jesteśmy i co reprezentujemy?" Wiersz 2 (przykład): "mBank: brak fizycznych oddziałów od 2000 roku — decyzja organizacyjna, nie marketingowa" / "Allegro: emocjonalne filmy na YouTube zamiast reklam opartych o cenę" / "CD Projekt Red: brak DRM, darmowe DLC, filozofia player-first." Wiersz 3 (właściciel): "CEO / CTO / CDO" / "CMO / Head of Digital" / "Brand Director / CEO." Minimalna czcionka 30pt.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13:57</a:t>
            </a:r>
          </a:p>
          <a:p/>
          <a:p>
            <a:r>
              <a:t>[SAY]</a:t>
            </a:r>
          </a:p>
          <a:p>
            <a:r>
              <a:t>Strategia marki to nie logo i nie kolorystyka. To system wzajemnie powiązanych decyzji, które definiują, kim marka jest i jak komunikuje się ze światem. Pięć kluczowych komponentów: po pierwsze — Cel, czyli "dlaczego istniejemy poza zarabianiem pieniędzy?"; po drugie — Pozycjonowanie, czyli dla kogo jesteśmy numerem jeden i w czym; po trzecie — Obietnica, czyli co każdorazowo gwarantujemy klientowi; po czwarte — Osobowość, czyli jak mówimy, jaki mamy charakter, jaki ton komunikacji; i po piąte — Tożsamość, czyli spójny system wizualny i werbalny, który sprawia, że marka jest rozpoznawalna. Wszystkie pięć musi być ze sobą spójne — jeśli osobowość marki jest "odważna i bezpośrednia", ale tożsamość wizualna jest "stonowana i korporacyjna," marka wysyła sprzeczne sygnały. Pytanie testowe na koniec: gdyby wasza firma zniknęła jutro — czy ktokolwiek naprawdę by jej brakowało? Jeśli nie — nie macie strategii marki, macie tylko ofertę.</a:t>
            </a:r>
          </a:p>
          <a:p/>
          <a:p>
            <a:r>
              <a:t>[DO]</a:t>
            </a:r>
          </a:p>
          <a:p>
            <a:r>
              <a:t>Odsłaniaj każdy z pięciu komponentów po kolei. Przy każdym zatrzymaj się na jedno zdanie wyjaśnienia. Na koniec odsłoń pytanie testowe na dole slajdu.</a:t>
            </a:r>
          </a:p>
          <a:p/>
          <a:p>
            <a:r>
              <a:t>[WATCH]</a:t>
            </a:r>
          </a:p>
          <a:p>
            <a:r>
              <a:t>Obserwuj, czy uczestnicy próbują natychmiast zaaplikować każdy komponent do swojej marki z ćwiczenia — to doskonały znak. Jeśli ktoś pyta "a co jeśli marka nie ma celu poza zyskiem?" — to świetny punkt do dyskusji; odpowiedz: "To prawda dla wielu marek. Właśnie dlatego są interchangeable dla konsumenta."</a:t>
            </a:r>
          </a:p>
          <a:p/>
          <a:p>
            <a:r>
              <a:t>[WIZUALIZACJA]</a:t>
            </a:r>
          </a:p>
          <a:p>
            <a:r>
              <a:t>Pięć elementów rozłożonych w centralnym diagramie — układ gwiazdowy lub kołowy z "Strategia Marki" w centrum i pięcioma satelitami: Cel (Purpose), Pozycjonowanie (Positioning), Obietnica (Promise), Osobowość (Personality), Tożsamość (Identity). Każdy satelita ma jednozdaniowy opis. Tło neutralne, krój czcionki jednolity z resztą prezentacji. Minimalna czcionka 30pt. Na dole slajdu: kursywą — "Strategia marki to nie logo. To odpowiedź na pytanie: gdyby nasza firma zniknęła jutro, czy ktoś by jej naprawdę brakowało?"</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14:01</a:t>
            </a:r>
          </a:p>
          <a:p/>
          <a:p>
            <a:r>
              <a:t>[SAY]</a:t>
            </a:r>
          </a:p>
          <a:p>
            <a:r>
              <a:t>Simon Sinek spopularyzował koncepcję "Zacznij od Dlaczego" — i choć brzmi prosto, w praktyce jest jednym z najtrudniejszych zadań strategicznych dla każdej marki. Dlaczego to nie "żeby zarabiać pieniądze" — to cel biznesowy, nie cel marki. Dlaczego to odpowiedź na pytanie: w jakim celu istniejemy poza generowaniem przychodu? Allegro jest tutaj doskonałym polskim przykładem. Kampania "English for Beginners" z 2016 roku — film, w którym starszy pan uczy się angielskiego, żeby zaskoczyć wnuczkę — zebrał 11 milionów wyświetleń w dwa tygodnie. Allegro prawie nie pojawia się w filmie. Produkt jest nieistotny. Ważna jest emocja: ludzkie połączenia umożliwiane przez technologię. To jest Brand Purpose. A wyniki są wymierne: Allegro ma dziś 88% świadomości marki wśród polskich kupujących online i 45 do 50 procent udziału w rynku e-commerce w Polsce — dane Statista i Allegro IR za rok 2024. Marka, która ma jasny cel, nie musi kupować uwagi. Ona ją przyciąga.</a:t>
            </a:r>
          </a:p>
          <a:p/>
          <a:p>
            <a:r>
              <a:t>[DO]</a:t>
            </a:r>
          </a:p>
          <a:p>
            <a:r>
              <a:t>Wyświetl diagram Złotego Kręgu najpierw bez przykładu Allegro. Zapytaj: "Jaka jest wasza odpowiedź na DLACZEGO dla marki, z którą pracujecie dzisiaj?" Daj 30 sekund na myślenie. Następnie odsłoń przykład Allegro i statystykę.</a:t>
            </a:r>
          </a:p>
          <a:p/>
          <a:p>
            <a:r>
              <a:t>[WATCH]</a:t>
            </a:r>
          </a:p>
          <a:p>
            <a:r>
              <a:t>Uczestnicy często mylą "Dlaczego" z misją korporacyjną — "dostarczamy najlepsze produkty." Jeśli tak — naprowadź: "Allegro mogłoby powiedzieć 'dostarczamy produkty w najlepszych cenach.' Zamiast tego mówią: umożliwiamy ludzkie połączenia. Różnica jest fundamentalna."</a:t>
            </a:r>
          </a:p>
          <a:p/>
          <a:p>
            <a:r>
              <a:t>[WIZUALIZACJA]</a:t>
            </a:r>
          </a:p>
          <a:p>
            <a:r>
              <a:t>Centralny diagram "Złotego Kręgu" (Golden Circle) — trzy koncentryczne okręgi: "DLACZEGO" (Why) w centrum, "JAK" (How) w środkowym pierścieniu, "CO" (What) w zewnętrznym. Nagłówek: "Zacznij od Dlaczego — Simon Sinek." Po prawej stronie: case study Allegro — krótki opis kampanii "English for Beginners" z ikoną YouTube i cytatem: "Allegro nie sprzedaje produktów. Sprzedaje ludzkie połączenia." W dolnej części: statystyka 18: "Allegro: 88% świadomości marki wśród polskich kupujących online; 45–50% udział w rynku e-commerce; GMV €15,3B w 2024." Źródło: Statista / Allegro IR 2024.</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14:05</a:t>
            </a:r>
          </a:p>
          <a:p/>
          <a:p>
            <a:r>
              <a:t>[SAY]</a:t>
            </a:r>
          </a:p>
          <a:p>
            <a:r>
              <a:t>Pozycjonowanie to nie USP. USP pyta: "czym się różnimy?" — i skupia się na produkcie. Pozycjonowanie pyta: "dla kogo jesteśmy numerem jeden i w czym?" — i skupia się na kliencie. To fundamentalna różnica. Klasyczny wzór oświadczenia pozycjonującego wygląda tak: dla określonego targetu, który ma określoną potrzebę, nasza marka jest jedyną w swojej kategorii, która dostarcza kluczową różnicę, i możemy to udowodnić. Macie trzydzieści sekund — spróbujcie w głowie wypełnić ten wzór dla marki, z którą pracujecie dzisiaj. Mapa percepcyjna to narzędzie wizualizacyjne: umieszczasz markę na dwóch osiach w stosunku do konkurentów. Kluczowa kwestia: nie ma jednej "właściwej" mapy — wybór osi jest decyzją strategiczną. InPost może umieścić siebie na osi "wygoda vs. cena" albo "zasięg vs. personalizacja." Każda mapa zadaje inne pytanie o pozycję konkurencyjną.</a:t>
            </a:r>
          </a:p>
          <a:p/>
          <a:p>
            <a:r>
              <a:t>[DO]</a:t>
            </a:r>
          </a:p>
          <a:p>
            <a:r>
              <a:t>Odsłoń wzór oświadczenia pozycjonującego. Daj 30 sekund na ciche ćwiczenie. Następnie odsłoń mapę percepcyjną i wyjaśnij dwie osie. Zapytaj: "Jakie dwie osie użylibyście dla marki z waszego ćwiczenia? Dlaczego te, a nie inne?"</a:t>
            </a:r>
          </a:p>
          <a:p/>
          <a:p>
            <a:r>
              <a:t>[WATCH]</a:t>
            </a:r>
          </a:p>
          <a:p>
            <a:r>
              <a:t>Jeśli grupy utykają na wyborze osi — to naturalny problem, bo wybór osi odzwierciedla decyzję strategiczną. Naprowadź: "Jakie dwa wymiary są najważniejsze dla waszego klienta? Co on lub ona ocenia przy wyborze marki?"</a:t>
            </a:r>
          </a:p>
          <a:p/>
          <a:p>
            <a:r>
              <a:t>[WIZUALIZACJA]</a:t>
            </a:r>
          </a:p>
          <a:p>
            <a:r>
              <a:t>Dwa elementy wizualne. Po lewej: wzór oświadczenia pozycjonującego (Positioning Statement Formula): "Dla [target], którzy [potrzeba], nasza marka jest jedyną [kategoria], która [kluczowa różnica], ponieważ [dowód]." Po prawej: uproszczona mapa percepcyjna (Perceptual Map) — dwie osie (np. "Cena: niska → wysoka" i "Zasięg: niszowy → masowy"), z kilkoma markami rozmieszczonymi na mapie jako przykład. Nagłówek: "Pozycjonowanie: dla KOGO i w CZYM." Minimalna czcionka 30pt.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14:09</a:t>
            </a:r>
          </a:p>
          <a:p/>
          <a:p>
            <a:r>
              <a:t>[SAY]</a:t>
            </a:r>
          </a:p>
          <a:p>
            <a:r>
              <a:t>Tożsamość marki to spójny system wizualny i werbalny, który sprawia, że marka jest rozpoznawalna na każdym punkcie kontaktu z klientem. To nie tylko logo — to zestaw zasad, który decyduje jak marka wygląda, jak mówi i jak się zachowuje. Osobowość marki to jej "charakter" — zestaw cech, które sprawiają, że marka brzmi jak konkretna osoba, a nie korporacyjna maszyna. Duolingo to jeden z najbardziej skrajnych i skutecznych przykładów osobowości marki na TikToku — ponad 13 milionów followersów, maskotka Duo traktowana jak niezależna osobowość z własnym humorem, własną historią i własną specyficzną nienawiścią do użytkowników, którzy pomijają lekcje. Ta "chaotyczna" osobowość jest w pełni świadoma i konsekwentna — i dlatego działa. CD Projekt Red to z kolei przykład tożsamości wyrażonej przez decyzje produktowe. Ich "brak DRM, darmowe DLC, player-first" to nie hasło marketingowe — to filozofia, która kształtuje wszystkie decyzje od developmentu gier po zarządzanie społecznością. Tożsamość marki powinna być widoczna nie tylko w reklamie, ale w tym, jak marka zachowuje się w kryzysie.</a:t>
            </a:r>
          </a:p>
          <a:p/>
          <a:p>
            <a:r>
              <a:t>[DO]</a:t>
            </a:r>
          </a:p>
          <a:p>
            <a:r>
              <a:t>Wyświetl slajd. Odsłoń lewą kolumnę (system tożsamości), następnie prawą z obydwoma case studies. Zapytaj: "Jaką osobowość ma marka z waszego ćwiczenia — gdybyście mieli opisać ją jak człowieka, trzema przymiotnikami?"</a:t>
            </a:r>
          </a:p>
          <a:p/>
          <a:p>
            <a:r>
              <a:t>[WATCH]</a:t>
            </a:r>
          </a:p>
          <a:p>
            <a:r>
              <a:t>Obserwuj, czy uczestnicy potrafią oddzielić tożsamość wizualną od osobowości werbalnej — często są traktowane jako to samo. Jeśli tak — naprowadź przykładem: "Duolingo ma spójną identyfikację wizualną, ale jego osobowość budują nie graficy, lecz copywriterzy i moderatorzy community."</a:t>
            </a:r>
          </a:p>
          <a:p/>
          <a:p>
            <a:r>
              <a:t>[WIZUALIZACJA]</a:t>
            </a:r>
          </a:p>
          <a:p>
            <a:r>
              <a:t>Dwie kolumny. Lewa: "System Tożsamości" — ikony reprezentujące elementy: logo, kolorystyka, typografia, ton głosu (voice), key visuals. Prawa: dwa case studies. Górny: Duolingo — zdjęcie/opis konta TikTok z maskotką Duo (13M+ followersów, "chaotyczny humor, mascot-driven, self-aware"), liczba followersów, przykładowy kadr z viralowego wideo. Dolny: CD Projekt Red — opis tożsamości opartej na wartościach: "DRM-free, free DLC, player-first — tożsamość wyrażona przez decyzje produktowe, nie przez design."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14:13</a:t>
            </a:r>
          </a:p>
          <a:p/>
          <a:p>
            <a:r>
              <a:t>[SAY]</a:t>
            </a:r>
          </a:p>
          <a:p>
            <a:r>
              <a:t>David Aaker, profesor marketingu z Berkeley, zaproponował model, który do dziś jest jednym z najbardziej użytecznych narzędzi do mierzenia siły marki. Kapital marki — Brand Equity — to wartość, jaką nazwa marki dodaje do produktu lub usługi ponad jej funkcjonalne cechy. Aaker wyróżnił pięć komponentów: lojalność, świadomość, postrzegana jakość, skojarzenia z marką i inne zasoby własnościowe. Co sprawia, że ten model jest wyjątkowo użyteczny w epoce cyfrowej? Każdy komponent ma mierzalny odpowiednik w danych cyfrowych. Lojalność mierzymy CLV i wskaźnikiem powtórnych zakupów. Świadomość — zasięgiem organicznym i share of voice w wyszukiwaniu. Postrzegana jakość — NPS i ocenami produktów. Skojarzenia z marką — sentymentem w social media i wskaźnikami zaangażowania. Zasoby własnościowe — na przykład rozmiar i jakość bazy danych first-party. Silna marka cyfrowa ma wysokie wyniki we wszystkich pięciu. Słaba marka cyfrowa może mieć ogromne zasięgi i zerową lojalność. To nie jest to samo.</a:t>
            </a:r>
          </a:p>
          <a:p/>
          <a:p>
            <a:r>
              <a:t>[DO]</a:t>
            </a:r>
          </a:p>
          <a:p>
            <a:r>
              <a:t>Odsłaniaj komponenty Aakera jeden po jeden, za każdym razem ujawniając cyfrowy ekwiwalent. Zadaj pytanie do klasy: "Gdzie na tej mapie jest mocna wasza marka? Gdzie jest słaba?" Pozwól na 30 sekund refleksji.</a:t>
            </a:r>
          </a:p>
          <a:p/>
          <a:p>
            <a:r>
              <a:t>[WATCH]</a:t>
            </a:r>
          </a:p>
          <a:p>
            <a:r>
              <a:t>Jeśli uczestnicy są zaskoczeni, że "marka" można mierzyć liczbami — to doskonały moment na podkreślenie: "Marketing jest zarówno sztuką jak i nauką. Aaker dał nam język, żeby rozmawiać o marce w języku, który rozumie CFO."</a:t>
            </a:r>
          </a:p>
          <a:p/>
          <a:p>
            <a:r>
              <a:t>[WIZUALIZACJA]</a:t>
            </a:r>
          </a:p>
          <a:p>
            <a:r>
              <a:t>Centralny diagram modelu Aakera — pięć komponentów kapitału marki rozłożonych wokół centrum: (1) Lojalność wobec marki, (2) Świadomość marki, (3) Postrzegana jakość, (4) Skojarzenia z marką, (5) Inne zasoby własnościowe. Obok każdego komponentu: mały label z ekwiwalentem cyfrowej metryki. Przykład: Lojalność → CLV / Wskaźnik powtórnych zakupów; Świadomość → Zasięg organiczny / Share of Voice; Postrzegana jakość → NPS / Oceny produktów; Skojarzenia → Sentyment w social media / Engagement rate; Zasoby proprietary → Dane first-party / Baza subskrybentów email.</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14:17</a:t>
            </a:r>
          </a:p>
          <a:p/>
          <a:p>
            <a:r>
              <a:t>[SAY]</a:t>
            </a:r>
          </a:p>
          <a:p>
            <a:r>
              <a:t>Piramida marki to narzędzie, które pokazuje, jak marka buduje znaczenie — od poziomu produktu do poziomu tożsamości. Na dole piramidy są atrybuty: konkretne cechy produktu, które można opisać techniczne. W środku są korzyści — najpierw funkcjonalne, potem emocjonalne. Na samym szczycie jest esencja marki: jedno zdanie lub nawet jedno słowo, które streszcza wszystko, czym marka jest. Nike jest tutaj podręcznikowym przykładem. Atrybuty — technologia Air Max, materiał Flyknit, grip podeszwy. Korzyści funkcjonalne — wydajność, wytrzymałość, komfort w treningu. Korzyści emocjonalne — czuję się jak prawdziwy sportowiec. Wartości — determinacja, przezwyciężanie własnych granic, autentyzm. I esencja: "Just Do It" — trzy słowa, które zawierają całą filozofię marki. Kluczowa obserwacja: większość firm komunikuje się z poziomu atrybutów. Silne marki komunikują się z poziomu esencji. "Just Do It" nie mówi nic o podeszwach. Mówi wszystko o tym, dlaczego chcesz być klientem Nike.</a:t>
            </a:r>
          </a:p>
          <a:p/>
          <a:p>
            <a:r>
              <a:t>[DO]</a:t>
            </a:r>
          </a:p>
          <a:p>
            <a:r>
              <a:t>Odsłaniaj piramidę od podstawy do szczytu. Przy każdym poziomie wyraźnie odczytaj przykład Nike. Na szczycie zatrzymaj się dłużej przy "Just Do It" i zadaj pytanie: "Jaka byłaby esencja marki, z którą pracujecie dzisiaj — jedno zdanie, jeden slogan, który streszcza wszystko?"</a:t>
            </a:r>
          </a:p>
          <a:p/>
          <a:p>
            <a:r>
              <a:t>[WATCH]</a:t>
            </a:r>
          </a:p>
          <a:p>
            <a:r>
              <a:t>Obserwuj, czy uczestnicy przenoszą tę strukturę na swoją markę roboczą. Jeśli ktoś utknął — naprowadź: "Zacznijcie od atrybutów. Spiszcie trzy konkretne cechy produktu. A potem zapytajcie: co to oznacza dla klienta emocjonalnie?"</a:t>
            </a:r>
          </a:p>
          <a:p/>
          <a:p>
            <a:r>
              <a:t>[WIZUALIZACJA]</a:t>
            </a:r>
          </a:p>
          <a:p>
            <a:r>
              <a:t>Piramida pięciostopniowa — od podstawy do szczytu: (1) Atrybuty (cechy produktu), (2) Korzyści funkcjonalne, (3) Korzyści emocjonalne, (4) Wartości marki, (5) Esencja marki (Brand Essence). Każdy poziom zawiera jednolinijkowy opis. Przykład Nike wzdłuż prawej krawędzi piramidy: Atrybuty → "Podeszwy Air Max, technologia Flyknit"; Korzyści funkcjonalne → "Wydajność atletyczna, komfort"; Korzyści emocjonalne → "Czuję się jak prawdziwy sportowiec"; Wartości → "Determinacja, przezwyciężanie siebie, autentyzm"; Esencja → "Just Do It." Nagłówek: "Od atrybutów do esencji."</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14:17</a:t>
            </a:r>
          </a:p>
          <a:p/>
          <a:p>
            <a:r>
              <a:t>[SAY]</a:t>
            </a:r>
          </a:p>
          <a:p>
            <a:r>
              <a:t>CVP to nie hasło reklamowe. To odpowiedź na jedno konkretne pytanie klienta: "Dlaczego właśnie Wy, a nie ktoś inny?" Ta odpowiedź musi być konkretna, musi mówić o kliencie — nie o produkcie. Różnica między CVP a USP jest subtelna, ale fundamentalna. USP koncentruje się na marce: "Jesteśmy najszybsi. Jesteśmy najtańsi. Jesteśmy najbardziej innowacyjni." CVP koncentruje się na kliencie: "Twoja paczka jest gotowa do odbioru o każdej porze, siedem minut od twojego domu, bez konieczności czekania na kuriera." Obydwa zdania mogą opisywać InPost. Ale jedno jest reklamą — drugie jest propozycją wartości. Mocna CVP jest testowalna: możesz zapytać klienta "czy to zdanie odzwierciedla to, co ceniłeś w naszej marce?" i uzyskać odpowiedź. Słaba CVP brzmi jak broszura korporacyjna: "Dostarczamy innowacyjne rozwiązania na miarę potrzeb klienta." To nic nie znaczy.</a:t>
            </a:r>
          </a:p>
          <a:p/>
          <a:p>
            <a:r>
              <a:t>[DO]</a:t>
            </a:r>
          </a:p>
          <a:p>
            <a:r>
              <a:t>Odsłoń definicję CVP, następnie tabelę porównawczą wiersz po wierszu. Przy każdym wierszu zatrzymaj się i zapytaj: "Który z tych języków przeważa w komunikacji marki, z którą pracujecie?"</a:t>
            </a:r>
          </a:p>
          <a:p/>
          <a:p>
            <a:r>
              <a:t>[WATCH]</a:t>
            </a:r>
          </a:p>
          <a:p>
            <a:r>
              <a:t>Uważaj na częsty błąd — uczestnicy wpisują slogan marki jako CVP. Jeśli tak się dzieje, naprowadź: "Slogan jest wyrazem CVP, ale nim nie jest. CVP jest zdaniem, które klient mógłby wypowiedzieć sami — 'wybieram tę markę, bo…'"</a:t>
            </a:r>
          </a:p>
          <a:p/>
          <a:p>
            <a:r>
              <a:t>[WIZUALIZACJA]</a:t>
            </a:r>
          </a:p>
          <a:p>
            <a:r>
              <a:t>Dwa elementy. Górna część: definicja CVP — wyróżniona graficznie: "CVP = zwięzłe stwierdzenie komunikujące unikalne korzyści produktu/usługi dla konkretnego klienta docelowego — wyjaśniające, dlaczego powinien wybrać tę ofertę zamiast alternatyw." Środkowa część: tabela porównawcza CVP vs. USP, dwie kolumny: "USP" / "CVP." Wiersze: (1) Pytanie: "Czym się różnimy?" vs. "Dlaczego klient powinien nas wybrać?"; (2) Fokus: "Marka / produkt" vs. "Klient i jego potrzeby"; (3) Język: "My jesteśmy najlepsi w…" vs. "Ty zyskujesz / Twój ból znika…"; (4) Przykład: "Najszybsza dostawa w Polsce" vs. "Twoja paczka gotowa do odbioru w 15 minut, o każdej godzinie, 7 minut od domu."</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14:20</a:t>
            </a:r>
          </a:p>
          <a:p/>
          <a:p>
            <a:r>
              <a:t>[SAY]</a:t>
            </a:r>
          </a:p>
          <a:p>
            <a:r>
              <a:t>Kanwa Propozycji Wartości — opracowana przez Alexandra Osterwaldera — to narzędzie, które przekształca intuicję o kliencie w ustrukturyzowaną analizę. Składa się z dwóch elementów. Profil Klienta po prawej: trzy strefy — Zadania Klienta, czyli co klient chce osiągnąć; Bóle, czyli co mu przeszkadza i frustruje; i Korzyści, czyli co chce zyskać lub poczuć. Mapa Wartości po lewej: trzy strefy — Produkty i Usługi, które oferujemy; Uśmierzacze Bólu, czyli jak nasz produkt adresuje konkretne bóle z Profilu; i Kreatory Korzyści, czyli jak tworzymy konkretne korzyści z Profilu. Magia dzieje się w miejscu FIT — kiedy każdy ból ma odpowiadający mu Uśmierzacz, a każda pożądana Korzyść ma odpowiadający Kreator. Spotify to przykład doskonałego FIT — firma zmapowała dokładnie, czego słuchacze muzyki chcą: personalizacja, odkrywanie nowej muzyki, tożsamość przez muzykę — i zbudowała produkt, który adresuje każdy z tych elementów. Wynik: 713 milionów aktywnych użytkowników miesięcznie i 31,7 procent udziału w globalnym rynku streamingu. W ćwiczeniu 3 za chwilę — sami przejdziecie przez tę kanwę dla waszej marki. Kluczowa zasada: zawsze zaczynamy od Profilu Klienta. Nigdy od Mapy Wartości.</a:t>
            </a:r>
          </a:p>
          <a:p/>
          <a:p>
            <a:r>
              <a:t>[DO]</a:t>
            </a:r>
          </a:p>
          <a:p>
            <a:r>
              <a:t>Wyświetl diagram. Wskaż koło Profilu Klienta i wyjaśnij trzy strefy z polskimi etykietami. Wskaż kwadrat Mapy Wartości i wyjaśnij trzy strefy. Podkreśl FIT jako "cel całego ćwiczenia." Odsłoń statystykę Spotify na dole.</a:t>
            </a:r>
          </a:p>
          <a:p/>
          <a:p>
            <a:r>
              <a:t>[WATCH]</a:t>
            </a:r>
          </a:p>
          <a:p>
            <a:r>
              <a:t>Upewnij się, że uczestnicy rozumieją polskie etykiety stref — Zadania Klienta, Bóle, Korzyści, Produkty i Usługi, Uśmierzacze Bólu, Kreatory Korzyści. Jeśli ktokolwiek wygląda na zagubionego — wyjaśnij jednym zdaniem każdą po polsku i angielsku.</a:t>
            </a:r>
          </a:p>
          <a:p/>
          <a:p>
            <a:r>
              <a:t>[WIZUALIZACJA]</a:t>
            </a:r>
          </a:p>
          <a:p>
            <a:r>
              <a:t>Klasyczny diagram Kanwy Propozycji Wartości (Alexander Osterwalder) — koło po prawej stronie (Profil Klienta) i kwadrat po lewej (Mapa Wartości). Koło Profilu Klienta podzielone na trzy strefy: Zadania Klienta (żółty), Bóle (czerwony), Korzyści (zielony). Kwadrat Mapy Wartości podzielony na trzy strefy: Produkty i Usługi (szary), Uśmierzacze Bólu (pomarańczowy), Kreatory Korzyści (niebieski). Strzałka łącząca koło i kwadrat z etykietą "FIT." Polskie etykiety stref widoczne w każdym segmencie. Statystyka 19 w dole slajdu: "Spotify: 713 milionów aktywnych użytkowników miesięcznie; 31,7% światowego udziału w rynku streamingu." Źródło: Backlinko Spotify Statistics 2025. Podpis: "Spotify dopasowało CVP do dokładnie zmapowanych potrzeb słuchaczy muzyki — i zbudowało największą platformę streamingową na świecie."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14:23</a:t>
            </a:r>
          </a:p>
          <a:p/>
          <a:p>
            <a:r>
              <a:t>[SAY]</a:t>
            </a:r>
          </a:p>
          <a:p>
            <a:r>
              <a:t>Zobaczmy, jak wygląda mocna CVP w praktyce — na pięciu przykładach z różnych branż i kontekstów. InPost: "Dla polskiego kupującego online, który nienawidzi czekać na kuriera — Paczkomat gwarantuje odbiór paczki w siedem minut od domu, o każdej godzinie, 24 na dobę — w odróżnieniu od dostawy do drzwi, która wymaga by ktoś był w domu." Żabka: "Dla zapracowanego mieszkańca polskiego miasta — sklep, który jest zawsze blisko i zna twoje nawyki zakupowe — i nagradza lojalność spersonalizowanymi ofertami przez Żappkę." Spotify: "Twoja muzyka, wszędzie, spersonalizowana dla ciebie." Airbnb: "Belong anywhere" — "Poczuj się jak w domu, gdziekolwiek na świecie." Slack: "Where work happens" — "Tu dzieje się praca." Zwróćcie uwagę na skalę — od rozbudowanego formatu pozycjonującego dla InPost po kapsułkowe, jednozdaniowe CVP dla marek globalnych. Oba są poprawne — różnią się kontekstem zastosowania. Rozbudowany format przyda się do dokumentu strategicznego lub briefu agencji. Kapsułka — do nagłówka strony czy materiałów pitch.</a:t>
            </a:r>
          </a:p>
          <a:p/>
          <a:p>
            <a:r>
              <a:t>[DO]</a:t>
            </a:r>
          </a:p>
          <a:p>
            <a:r>
              <a:t>Odsłaniaj karty jedna po drugiej. Przy każdej zatrzymaj się na chwilę i zapytaj klasę: "Czy to CVP mówi do klienta czy o produkcie?" Przy InPost wskaż: "7 minut od domu" — to konkret, który można weryfikować. Przy Airbnb: "Belong anywhere" — to emocja, nie funkcja. Oboje mogą być skuteczne, ale w różnych kontekstach.</a:t>
            </a:r>
          </a:p>
          <a:p/>
          <a:p>
            <a:r>
              <a:t>[WATCH]</a:t>
            </a:r>
          </a:p>
          <a:p>
            <a:r>
              <a:t>Jeśli uczestnicy kwestionują "Belong anywhere" jako CVP ("to zbyt ogólne!") — odpowiedz: "Zgoda, to bardziej Brand Essence niż CVP. Dobry przykład na to, jak CVP i Strategia Marki nakładają się na siebie na poziomie esencji."</a:t>
            </a:r>
          </a:p>
          <a:p/>
          <a:p>
            <a:r>
              <a:t>[WIZUALIZACJA]</a:t>
            </a:r>
          </a:p>
          <a:p>
            <a:r>
              <a:t>Pięć kart ułożonych w kolumnie lub siatce. Każda karta zawiera logo marki (placeholder) i jedną do dwóch linii tekstu CVP. Format każdej: "Dla [target] / Którzy [problem] / Nasz produkt [rozwiązanie] / Bo [kluczowa korzyść] / W odróżnieniu od [alternatywa]." Marki: InPost, Żabka, Spotify, Airbnb, Slack. Minimalna czcionka 30pt dla CVP na kartach.</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14:25</a:t>
            </a:r>
          </a:p>
          <a:p/>
          <a:p>
            <a:r>
              <a:t>[SAY]</a:t>
            </a:r>
          </a:p>
          <a:p>
            <a:r>
              <a:t>Silna CVP nie jest celem samym w sobie — jest kompasem dla wszystkich dalszych decyzji marketingowych. Kiedy masz silną CVP, pytania stają się prostsze: czy ten kanał dociera do naszego klienta? Czy ta treść odpowiada na jego ból lub tworzy korzyść, na której mu zależy? Czy ten komunikat mówi o kliencie, czy o produkcie? Strategia treści bez CVP to produkcja contentu bez kierunku. Wybór kanałów bez CVP to bycie wszędzie i nigdzie. Hierarchia przekazu bez CVP to brak kręgosłupa w komunikacji. CVP nie zwalnia was od podejmowania trudnych decyzji — ale sprawia, że macie kryterium wyboru, które wykracza poza "bo prezes lubi TikToka." Za kilka minut w ćwiczeniu 3 będziecie budować CVP dla waszej marki — krok po kroku, zaczynając od Profilu Klienta. Pamiętajcie: CVP, którą zbudujecie, będzie kompassem dla całego dnia, łącznie z budżetem w ćwiczeniu 4.</a:t>
            </a:r>
          </a:p>
          <a:p/>
          <a:p>
            <a:r>
              <a:t>[DO]</a:t>
            </a:r>
          </a:p>
          <a:p>
            <a:r>
              <a:t>Wyświetl diagram kompassowy. Wskaź kolejno cztery kierunki i odczytaj pytania. Na koniec podkreśl: "Ten slajd to pomost między tym, czego się nauczyliście, a tym, co za chwilę zbudujecie."</a:t>
            </a:r>
          </a:p>
          <a:p/>
          <a:p>
            <a:r>
              <a:t>[WATCH]</a:t>
            </a:r>
          </a:p>
          <a:p>
            <a:r>
              <a:t>Jeśli uczestnicy wyglądają na zmęczonych po intensywnym bloku — to normalny znak przed ćwiczeniem. Nie przedłużaj; przejdź płynnie do instrukcji warsztatu. Energia wraca, gdy ludzie biorą się do pracy.</a:t>
            </a:r>
          </a:p>
          <a:p/>
          <a:p>
            <a:r>
              <a:t>[WIZUALIZACJA]</a:t>
            </a:r>
          </a:p>
          <a:p>
            <a:r>
              <a:t>Centralny diagram kompassowy — w centrum: "CVP." Cztery strzałki wychodzące na zewnątrz, każda z etykietą: (1) Strategia Treści — "Czy ta treść odpowiada na ból lub wzmacnia korzyść klienta?"; (2) Wybór Kanałów — "Czy ten kanał dociera do naszego klienta docelowego?"; (3) Hierarchia Przekazu — "Czy ten komunikat mówi CVP językiem klienta?"; (4) Priorytet Budżetu — "Czy ten kanał wzmacnia propozycję wartości, czy tylko generuje ruch?" Podpis w stylu kursywy na dole: "Kiedy masz silną CVP, wszystkie decyzje marketingowe stają się prostsze."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14:25</a:t>
            </a:r>
          </a:p>
          <a:p/>
          <a:p>
            <a:r>
              <a:t>[SAY]</a:t>
            </a:r>
          </a:p>
          <a:p>
            <a:r>
              <a:t>Czas na ćwiczenia. Warsztat 3 — Kanwa Propozycji Wartości. Teraz wy przejdziecie przez tę samą analizę, którą przed chwilą opisywaliśmy na przykładach. Zaraz pokażę wam instrukcje i przypomnienie: pracujecie z tą samą marką, którą wybraliście w Ćwiczeniu 1.</a:t>
            </a:r>
          </a:p>
          <a:p/>
          <a:p>
            <a:r>
              <a:t>[SETUP]</a:t>
            </a:r>
          </a:p>
          <a:p>
            <a:r>
              <a:t>Przed wyświetleniem tego slajdu potwierdź, że tablica Canva Whiteboard dla Ćwiczenia 3 jest aktywna i wyświetla Kanwę Propozycji Wartości z oznaczeniami stref w poprawnych kolorach. Sprawdź, czy etykieta "NIE ZACZYNAM TUTAJ — ukończ najpierw Profil Klienta" jest widoczna i zakrywa Mapę Wartości. Potwierdź, że grupy mają własne strefy robocze i że przykład InPost jest widoczny jako punkt orientacyjny. Upewnij się, że QR kod do tablicy wyświetla się poprawnie i jest czytelny z tyłu sali.</a:t>
            </a:r>
          </a:p>
          <a:p/>
          <a:p>
            <a:r>
              <a:t>[DO]</a:t>
            </a:r>
          </a:p>
          <a:p>
            <a:r>
              <a:t>Wyświetl slajd. Krótka pauza dla efektu. Przejdź natychmiast do slajdu 59.</a:t>
            </a:r>
          </a:p>
          <a:p/>
          <a:p>
            <a:r>
              <a:t>[WATCH]</a:t>
            </a:r>
          </a:p>
          <a:p>
            <a:r>
              <a:t>Obserwuj poziom energii — ciemne tło i prostota komunikatu działają jak sygnał "czas na pracę." Większość uczestników powinna zareagować skupieniem.</a:t>
            </a:r>
          </a:p>
          <a:p/>
          <a:p>
            <a:r>
              <a:t>[DEBRIEF]</a:t>
            </a:r>
          </a:p>
          <a:p>
            <a:r>
              <a:t>"Czy zaczęliście wypełniać Mapę Wartości, zanim skończyliście Profil Klienta? Jak to wpłynęło na jakość waszej analizy?", "Który z identyfikowanych bólów klienta jest najbardziej nieoczekiwany — czyli taki, o którym marka prawdopodobnie nie myśli regularnie?", "Jak przetłumaczylibyście wnioski z waszej Kanwy na jedno zdanie CVP — zdanie, które klient sam mógłby wypowiedzieć?"</a:t>
            </a:r>
          </a:p>
          <a:p/>
          <a:p>
            <a:r>
              <a:t>[EXTENSION]</a:t>
            </a:r>
          </a:p>
          <a:p>
            <a:r>
              <a:t>"Sformułujcie waszą CVP jako jedno zdanie — w formacie: 'Dla [kto], który chce [co], [marka] jest [czym], bo [dowód], w odróżnieniu od [alternatywy].'"</a:t>
            </a:r>
          </a:p>
          <a:p/>
          <a:p>
            <a:r>
              <a:t>[WIZUALIZACJA]</a:t>
            </a:r>
          </a:p>
          <a:p>
            <a:r>
              <a:t>Ciemne tło (głęboki granat lub czerń). Duży centralny napis: "Czas na ćwiczenia" w jasnym, kontrastowym kolorze. Poniżej, mniejszy tekst: "Warsztat 3 — Kanwa Propozycji Wartości." Bez dodatkowych elementów — maksymalny kontrast i minimalizm.</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14:27</a:t>
            </a:r>
          </a:p>
          <a:p/>
          <a:p>
            <a:r>
              <a:t>[SAY]</a:t>
            </a:r>
          </a:p>
          <a:p>
            <a:r>
              <a:t>Instrukcja do Warsztatu trzeciego. Wasze zadanie: uzupełnijcie Kanwę Propozycji Wartości dla waszej marki. Macie pięćdziesiąt minut — do 15:15. Oczekiwany wynik: wypełniona Kanwa dla jednego wybranego segmentu klienta oraz jeden werbalizowany CVP, który ten segment zrozumie i zaakceptuje. Narzędzie: tablica Canva Whiteboard — wejdźcie przez QR kod na ekranie. Najważniejsza zasada: zaczynacie od Profilu Klienta — Zadania, Bóle, Korzyści — i nie dotykajcie Mapy Wartości, dopóki Profil nie jest w pełni wypełniony. Na tablicy macie etykietę "NIE ZACZYNAM TUTAJ" po stronie Mapy — traktujcie ją poważnie. Pracujecie z tą samą marką, którą wybraliście w Ćwiczeniu 1. Jeśli nie pamiętacie jej nazwy, macie ją zanotowaną na tablicy z Warsztatu 1.</a:t>
            </a:r>
          </a:p>
          <a:p/>
          <a:p>
            <a:r>
              <a:t>[SETUP]</a:t>
            </a:r>
          </a:p>
          <a:p>
            <a:r>
              <a:t>Potwierdź, że etykieta "NIE ZACZYNAM TUTAJ — ukończ Profil Klienta najpierw" jest dobrze widoczna i zakrywa strefę Mapy Wartości na tablicy Canva. Sprawdź, że wszystkie grupy mają własne, wyraźnie oddzielone strefy robocze. Potwierdź, że timer jest gotowy. Sprawdź, czy QR kod prowadzi do właściwej tablicy i że działa na urządzeniach mobilnych.</a:t>
            </a:r>
          </a:p>
          <a:p/>
          <a:p>
            <a:r>
              <a:t>[DO]</a:t>
            </a:r>
          </a:p>
          <a:p>
            <a:r>
              <a:t>Wyświetl slajd. Wskaż QR kod i poczekaj, aż wszystkie grupy połączą się z tablicą. Potwierdź, że każda grupa widzi swoją strefę roboczą i że etykieta "NIE ZACZYNAM TUTAJ" jest widoczna po stronie Mapy Wartości. Uruchom timer na 50 minut. W trakcie ćwiczenia chodź między grupami z następującymi promptami: przy Zadaniach Klienta: "Jakie zadania — funkcjonalne, społeczne i emocjonalne — chce realizować wasz klient?"; przy Bólach: "Co konkretnie go frustruje, co go blokuje, czego się boi?"; przy Korzyściach: "Co chce osiągnąć? Co sprawi, że poczuje, że wybrał dobrze?"; przy przejściu do Mapy: "Teraz dla każdego Bólu — znajdźcie Uśmierzacz. Dla każdej Korzyści — znajdźcie Kreator. Jeśli nie macie dopasowania — to luka strategiczna."</a:t>
            </a:r>
          </a:p>
          <a:p/>
          <a:p>
            <a:r>
              <a:t>[WATCH]</a:t>
            </a:r>
          </a:p>
          <a:p>
            <a:r>
              <a:t>Kluczowy błąd: grupy zaczynają od Mapy Wartości zamiast od Profilu Klienta — wypełniają listę produktów i usług bez wcześniejszego zmapowania klienta. Jeśli to widzisz, zatrzymaj grupę: "Stop — zacznijcie od Profilu. Jakiego klienta mapujecie? Kto to jest? Opiszcie mi tę osobę w dwóch zdaniach." Obserwuj równomierność między Zadaniami, Bólami i Korzyściami — grupy mają tendencję do skupiania się na Bólach i pomijania Zadań. Naprowadź: "Zadania klienta to nie bóle — to to, co ta osoba chce osiągnąć w swoim życiu."</a:t>
            </a:r>
          </a:p>
          <a:p/>
          <a:p>
            <a:r>
              <a:t>[DEBRIEF]</a:t>
            </a:r>
          </a:p>
          <a:p>
            <a:r>
              <a:t>"Czy zaczęliście wypełniać Mapę Wartości, zanim skończyliście Profil Klienta? Jak to wpłynęło na jakość waszej analizy?", "Który z identyfikowanych bólów klienta jest najbardziej nieoczekiwany — czyli taki, o którym marka prawdopodobnie nie myśli regularnie?", "Jak przetłumaczylibyście wnioski z waszej Kanwy na jedno zdanie CVP — zdanie, które klient sam mógłby wypowiedzieć?"</a:t>
            </a:r>
          </a:p>
          <a:p/>
          <a:p>
            <a:r>
              <a:t>[EXTENSION]</a:t>
            </a:r>
          </a:p>
          <a:p>
            <a:r>
              <a:t>"Sformułujcie waszą CVP jako jedno zdanie — w formacie: 'Dla [kto], który chce [co], [marka] jest [czym], bo [dowód], w odróżnieniu od [alternatywy].'"</a:t>
            </a:r>
          </a:p>
          <a:p/>
          <a:p>
            <a:r>
              <a:t>[WIZUALIZACJA]</a:t>
            </a:r>
          </a:p>
          <a:p>
            <a:r>
              <a:t>Jasne, czytelne tło. Nagłówek: "Warsztat 3 — Kanwa Propozycji Wartości." Poniżej, cztery sekcje w czytelnym układzie: ZADANIE: "Uzupełnijcie Kanwę Propozycji Wartości dla waszej marki." CZAS: "50 minut (do 15:15)." OUTPUT: "Wypełniona Kanwa + jeden zwerbalizowany CVP dla wybranego segmentu." NARZĘDZIE: "[QR code placeholder] — Canva Whiteboard." Wyróżniony box z ostrzeżeniem: "WAŻNE: ZACZNIJCIE od Profilu Klienta — NIE dotykajcie Mapy Wartości przed ukończeniem Profilu!" Poniżej, w kursywie: "Przypomnij: kontynuujecie z marką wybraną w Ćwiczeniu 1."</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14:32</a:t>
            </a:r>
          </a:p>
          <a:p/>
          <a:p>
            <a:r>
              <a:t>[SAY]</a:t>
            </a:r>
          </a:p>
          <a:p>
            <a:r>
              <a:t>To jest punkt orientacyjny — jak powinien wyglądać wypełniony Profil Klienta dla InPost. Persona Marka, 31-letniego warszawiaka, który kupuje online kilka razy w miesiącu i rzadko jest w domu w godzinach dostawy. Zwróćcie uwagę, że Zadania, Bóle i Korzyści są napisane z perspektywy klienta — jego głosem, jego słowami, jego frustracją. Nie "szybka dostawa" jako cecha produktu — lecz "muszę być w domu w czterogodzinnym oknie i to rujnuje mi plan dnia" jako ból klienta. Mapa Wartości jest zakryta celowo — po to, żebyście wy nie skusili się i nie zaczęli od produktu. Kiedy wasz Profil Klienta jest gotowy, Mapa niemal wypełnia się sama — bo wiecie dokładnie, co adresować. Wasz Profil powinien być równie konkretny jak ten, lub bardziej. Ogólniki w stylu "klient chce dobrej obsługi" nie prowadzą do mocnego CVP.</a:t>
            </a:r>
          </a:p>
          <a:p/>
          <a:p>
            <a:r>
              <a:t>[SETUP]</a:t>
            </a:r>
          </a:p>
          <a:p>
            <a:r>
              <a:t>Potwierdź, że tablica Canva Whiteboard wyświetla przykład InPost jako punkt referencyjny — widoczny dla wszystkich grup, ale wyraźnie oddzielony od ich stref roboczych. Sprawdź, czy etykieta "JESZCZE NIE" zakrywająca Mapę Wartości jest widoczna zarówno na przykładzie jak i w strefach grup. Timer powinien być już uruchomiony.</a:t>
            </a:r>
          </a:p>
          <a:p/>
          <a:p>
            <a:r>
              <a:t>[DO]</a:t>
            </a:r>
          </a:p>
          <a:p>
            <a:r>
              <a:t>Wyświetl slajd z przykładem InPost. Wskaż wskaźnikiem każdą strefę Profilu Klienta i odczytaj przykładowe karteczki. Podkreśl: "Głos klienta, nie głos działu produktu." Następnie wskaż zakrytą Mapę Wartości i powiedz: "Macie materiał na Mapę dopiero wtedy, kiedy Profil jest gotowy." Daj grupom wyraźny sygnał do pracy.</a:t>
            </a:r>
          </a:p>
          <a:p/>
          <a:p>
            <a:r>
              <a:t>[WATCH]</a:t>
            </a:r>
          </a:p>
          <a:p>
            <a:r>
              <a:t>Obserwuj, czy grupy próbują skopiować przykład InPost zamiast go adaptować do własnej marki — interweniuj: "InPost to punkt orientacyjny, nie szablon do skopiowania. Wasz klient jest inny. Co on lub ona naprawdę próbuje osiągnąć?"</a:t>
            </a:r>
          </a:p>
          <a:p/>
          <a:p>
            <a:r>
              <a:t>[DEBRIEF]</a:t>
            </a:r>
          </a:p>
          <a:p>
            <a:r>
              <a:t>"Czy zaczęliście wypełniać Mapę Wartości, zanim skończyliście Profil Klienta? Jak to wpłynęło na jakość waszej analizy?", "Który z identyfikowanych bólów klienta jest najbardziej nieoczekiwany — czyli taki, o którym marka prawdopodobnie nie myśli regularnie?", "Jak przetłumaczylibyście wnioski z waszej Kanwy na jedno zdanie CVP — zdanie, które klient sam mógłby wypowiedzieć?"</a:t>
            </a:r>
          </a:p>
          <a:p/>
          <a:p>
            <a:r>
              <a:t>[EXTENSION]</a:t>
            </a:r>
          </a:p>
          <a:p>
            <a:r>
              <a:t>"Sformułujcie waszą CVP jako jedno zdanie — w formacie: 'Dla [kto], który chce [co], [marka] jest [czym], bo [dowód], w odróżnieniu od [alternatywy].'"</a:t>
            </a:r>
          </a:p>
          <a:p/>
          <a:p>
            <a:r>
              <a:t>[WIZUALIZACJA]</a:t>
            </a:r>
          </a:p>
          <a:p>
            <a:r>
              <a:t>Klasyczny diagram Kanwy Propozycji Wartości wypełniony częściowo dla InPost. Persona klienta opisana nad kanwą: "Persona: Marek, 31 lat, Warszawa, kupuje online 3–4x/miesiąc, często w trasie lub w pracy, rzadko jest w domu w godzinach dostawy." Profil Klienta (koło, po prawej) — wypełniony: Zadania Klienta (żółte karteczki): "Odebrać paczkę bez zmiany planów," "Zarządzać zakupami online bez logistycznego stresu." Bóle (czerwone karteczki): "Kurier przyszedł kiedy byłem w pracy — i zaczyna się kłótnia z logistyką," "Muszę być w domu w 4-godzinnym oknie dostawy," "Spóźniona dostawa — prezentem nie zdążyłem." Korzyści (zielone karteczki): "Wiem dokładnie kiedy i gdzie odbiorę paczkę," "Mogę odebrać o 22:00 wracając z pracy," "Żaden kurier nie czeka na mnie — to ja wybieram." Mapa Wartości (kwadrat, po lewej) — przykryta dużym, wyraźnym napisem: "JESZCZE NIE — ukończ Profil Klienta najpierw." Podpis pod przykładem: "Wasz Profil Klienta powinien być równie konkretny — lub bardziej. Ogólniki nie prowadzą do mocnego CVP."</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15:15</a:t>
            </a:r>
          </a:p>
          <a:p/>
          <a:p>
            <a:r>
              <a:t>[SAY]</a:t>
            </a:r>
          </a:p>
          <a:p>
            <a:r>
              <a:t>Mamy przerwę 15-minutową. Do zobaczenia o 15:30 — wróćmy z energią na ostatni blok.</a:t>
            </a:r>
          </a:p>
          <a:p/>
          <a:p>
            <a:r>
              <a:t>[DO]</a:t>
            </a:r>
          </a:p>
          <a:p>
            <a:r>
              <a:t>Wyświetl slajd. Uruchom odliczanie do 15:30 jeśli masz taką możliwość.</a:t>
            </a:r>
          </a:p>
          <a:p/>
          <a:p>
            <a:r>
              <a:t>[WATCH]</a:t>
            </a:r>
          </a:p>
          <a:p>
            <a:r>
              <a:t>Upewnij się, że uczestnicy wychodzą z sali — nie pozwól im "zostać i pogadać" przez całą przerwę. Regeneracja jest kluczowa przed ostatnim blokiem.</a:t>
            </a:r>
          </a:p>
          <a:p/>
          <a:p>
            <a:r>
              <a:t>[WIZUALIZACJA]</a:t>
            </a:r>
          </a:p>
          <a:p>
            <a:r>
              <a:t>Ciemne lub neutralne tło. Wyśrodkowany napis: "Przerwa 15 minut — do zobaczenia o 15:30". Minimalna treść — żadnych dodatkowych elementów graficznych.</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15:30</a:t>
            </a:r>
          </a:p>
          <a:p/>
          <a:p>
            <a:r>
              <a:t>[SAY]</a:t>
            </a:r>
          </a:p>
          <a:p>
            <a:r>
              <a:t>Witamy po przerwie. Przez pierwsze trzy bloki dnia zbudowaliśmy solidny fundament: mamy Brand Strategy — czyli wiemy, czym jest nasza marka i co obiecujemy. Mamy framework planowania SOSTAC — wiemy, jak przejść od analizy do działania. Mamy mapę egzekucji RACE — wiemy, jak prowadzić klienta od pierwszego kontaktu do lojalności. I mamy CVP — wiemy, co konkretnie oferujemy i dlaczego klient ma wybrać właśnie nas. Teraz czas na ostatnie, bardzo praktyczne pytanie: jak wybrać konkretne kanały cyfrowe i ile pieniędzy zainwestować w każdy z nich? To nie jest pytanie akademickie — to pytanie, które każdy z was będzie zadawać lub słyszeć w pracy w najbliższych tygodniach.</a:t>
            </a:r>
          </a:p>
          <a:p/>
          <a:p>
            <a:r>
              <a:t>[DO]</a:t>
            </a:r>
          </a:p>
          <a:p>
            <a:r>
              <a:t>Wyświetl slajd. Wskaż każdy z czterech ukończonych elementów i krótko podsumuj. Następnie wskaż strzałkę do "Kanały i Budżet" — to jest kierunek na kolejne 60 minut.</a:t>
            </a:r>
          </a:p>
          <a:p/>
          <a:p>
            <a:r>
              <a:t>[WATCH]</a:t>
            </a:r>
          </a:p>
          <a:p>
            <a:r>
              <a:t>Czy uczestnicy są z powrotem w skupieniu? Jeśli energia jest niska po przerwie, dodaj energię głosem — mów wyraźniej i szybciej przez pierwsze 30 sekund.</a:t>
            </a:r>
          </a:p>
          <a:p/>
          <a:p>
            <a:r>
              <a:t>[WIZUALIZACJA]</a:t>
            </a:r>
          </a:p>
          <a:p>
            <a:r>
              <a:t>Jasne, czytelne tło. Nagłówek: "Gdzie jesteśmy i dokąd zmierzamy?" Cztery ikony lub prostokąty ułożone poziomo, z checkmarkami: "Brand Strategy ✓", "SOSTAC ✓", "RACE ✓", "CVP ✓". Strzałka wskazująca na piąty element: "Kanały i Budżet →". Dolna część: krótkie pytanie na slajdzie — "Jak wybrać konkretne kanały i ile zainwestować?"</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15:33</a:t>
            </a:r>
          </a:p>
          <a:p/>
          <a:p>
            <a:r>
              <a:t>[SAY]</a:t>
            </a:r>
          </a:p>
          <a:p>
            <a:r>
              <a:t>Zanim przejdziemy do konkretnych kanałów, potrzebujemy polskiego kontekstu. Polska to jeden z bardziej dynamicznych rynków cyfrowych w Europie Środkowo-Wschodniej. Penetracja internetu wynosi 89,8% — to znaczy, że prawie 34,5 miliona Polaków jest online. To jest wasza potencjalna widownia cyfrowa. Co ważniejsze dla strategii kanałowej: 62,7% Polaków korzysta z internetu głównie przez urządzenia mobilne. To nie jest detalis techniczny — to konsekwencja strategiczna. Oznacza, że każdy kanał, który wybieracie, musi być zoptymalizowany pod doświadczenie mobilne — landing page, email, reklama displayowa, formularz zakupowy. Bez wyjątku. Dlaczego o tym mówię? Bo wiele strategii kanałowych jest kopiowanych z globalnych benchmarków — z US, z UK, z zachodnioeuropejskich rynków. W Polsce mamy własną strukturę preferencji cyfrowych, własne platformy z dominującą pozycją, własne nawyki płatnicze. Za chwilę zobaczycie konkretne dane.</a:t>
            </a:r>
          </a:p>
          <a:p/>
          <a:p>
            <a:r>
              <a:t>[DO]</a:t>
            </a:r>
          </a:p>
          <a:p>
            <a:r>
              <a:t>Wyświetl slajd. Wskaż kolejno: penetrację internetu, liczbę użytkowników, i wskaźnik mobile-first. Pauza po każdej liczbie.</a:t>
            </a:r>
          </a:p>
          <a:p/>
          <a:p>
            <a:r>
              <a:t>[WATCH]</a:t>
            </a:r>
          </a:p>
          <a:p>
            <a:r>
              <a:t>Czy ktoś w sali jest zaskoczony skalą penetracji mobile? To dobry moment na krótkie pytanie do sali: "Ile z was projektuje kampanie mobile-first od początku, a nie jako afterthought?" Odpowiedzi dadzą ci wgląd w poziom zaawansowania grupy.</a:t>
            </a:r>
          </a:p>
          <a:p/>
          <a:p>
            <a:r>
              <a:t>[WIZUALIZACJA]</a:t>
            </a:r>
          </a:p>
          <a:p>
            <a:r>
              <a:t>Duże liczby w centrum slajdu: "89,8%" i "34,5 mln". Ikona telefonu komórkowego z napisem "62,7% Polaków korzysta z internetu głównie przez mobile". Mapa lub flaga Polski jako kontekst geograficzny. Dolna belka: "Polska ≠ globalny szablon."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15:37</a:t>
            </a:r>
          </a:p>
          <a:p/>
          <a:p>
            <a:r>
              <a:t>[SAY]</a:t>
            </a:r>
          </a:p>
          <a:p>
            <a:r>
              <a:t>Spójrzmy na konkretne dane zasięgowe dla polskiego rynku. YouTube — 24,4 miliona miesięcznych użytkowników, zasięg reklamowy 75,6% populacji internautów. To jest największa platforma wideo w Polsce i jedno z najszerszych okienek reklamowych, jakie macie do dyspozycji. Facebook — 19,1 miliona. Nadal ogromna baza, szczególnie w segmencie 35 plus. Instagram — 10,3 miliona, z wyraźnie młodszą demografią i wyższym zaangażowaniem w treści wizualne. TikTok — 13,8 miliona, i tu ważna informacja: średnia sesja dzienna wynosi 53 minuty. To jest ekstremalnie wysoki wynik. Dla porównania — nikt nie siedzi na LinkedIn 53 minuty dziennie. LinkedIn — 8,2 miliona według DataReportal, około 5 milionów według Gemius — różnica metodologiczna, używajcie tych liczb ostrożnie. Teraz kluczowe zdanie, które chcę, żebyście zapamiętali: zasięg nie równa się zaangażowaniu. TikTok ma ogromny czas sesji, ale intencja użytkownika — dlaczego jest na platformie — jest zupełnie inna niż intencja użytkownika YouTube'a szukającego recenzji produktu. Dobór kanału musi uwzględniać nie tylko kto jest na platformie, ale i po co tam jest.</a:t>
            </a:r>
          </a:p>
          <a:p/>
          <a:p>
            <a:r>
              <a:t>[DO]</a:t>
            </a:r>
          </a:p>
          <a:p>
            <a:r>
              <a:t>Wyświetl slajd. Przejdź przez każdy wiersz tabeli. Zatrzymaj się dłużej przy TikToku — kontrast 53 minut sesji versus niskiej intencji zakupowej to ważna obserwacja strategiczna.</a:t>
            </a:r>
          </a:p>
          <a:p/>
          <a:p>
            <a:r>
              <a:t>[WATCH]</a:t>
            </a:r>
          </a:p>
          <a:p>
            <a:r>
              <a:t>Czy ktoś z grupy pracuje w e-commerce lub social media? Jeśli tak, zaproś ich do komentarza: "Jak wasze doświadczenia z tymi platformami w Polsce mają się do tych liczb?" To buduje zaangażowanie i often ujawnia ciekawe praktyczne spostrzeżenia.</a:t>
            </a:r>
          </a:p>
          <a:p/>
          <a:p>
            <a:r>
              <a:t>[WIZUALIZACJA]</a:t>
            </a:r>
          </a:p>
          <a:p>
            <a:r>
              <a:t>Tabela z czterema kolumnami: Platforma / Miesięczni użytkownicy / Zasięg reklamowy / Sesja dzienna (jeśli dostępna). Wiersze: YouTube (24,4 mln; 75,6% zasięg reklamowy), Facebook (19,1 mln), Instagram (10,3 mln), TikTok (13,8 mln; 53 min sesja dzienna), LinkedIn (8,2 mln DataReportal / ~5 mln Gemius). Wyróżniona belka na dole: "Zasięg ≠ zaangażowanie." Kolory RACE nie są stosowane do wierszy tabeli — tabela jest neutralna wizualnie.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15:42</a:t>
            </a:r>
          </a:p>
          <a:p/>
          <a:p>
            <a:r>
              <a:t>[SAY]</a:t>
            </a:r>
          </a:p>
          <a:p>
            <a:r>
              <a:t>Polska ma kilka charakterystycznych cech rynku e-commerce, które bezpośrednio wpływają na strategię kanałową. Po pierwsze, płatności: BLIK — polski system płatności mobilnych — obsługuje 68% transakcji e-commerce w Polsce. Jeśli wasz kanał cyfrowy prowadzi do zakupu online, a nie obsługujecie BLIK — tracicie na konwersji. To nie jest kwestia wygody, to kwestia eliminacji barier. Po drugie, logistyka: 81% kupujących online preferuje dostawę do Paczkomatu. Co więcej — 84% konsumentów deklaruje, że jest bardziej skłonnych do dokonania zakupu, jeśli opcja Paczkomatu jest dostępna. To ma bezpośredni wpływ na komunikację kanałową — jeśli sprzedajecie online, Paczkomat jako CTA w reklamie nie jest szczegółem, to argument sprzedażowy. Po trzecie, Allegro — 45 do 50 procent udziału w rynku e-commerce. Jeśli wasza strategia kanałowa nie uwzględnia Allegro jako osobnego kanału lub przynajmniej jako kontekstu konkurencyjnego, brakuje istotnego elementu analizy. Jedna ważna uwaga: dane IAB Polska dotyczące podziału wydatków na poszczególne kanały reklamowe są szacunkowe — traktuję je jako przybliżone wartości i otwarcie o tym mówię. Jeśli ktoś zapyta o szczegółowe liczby, powiem wprost: to są szacunki, nie audyt.</a:t>
            </a:r>
          </a:p>
          <a:p/>
          <a:p>
            <a:r>
              <a:t>[DO]</a:t>
            </a:r>
          </a:p>
          <a:p>
            <a:r>
              <a:t>Wyświetl slajd. Wskaż kolejno każdy z trzech bloków infografiki. Podkreśl gwiazdkę przy danych IAB — to jest sygnał do uczestników, że prowadzący jest przejrzysty w kwestii pewności danych.</a:t>
            </a:r>
          </a:p>
          <a:p/>
          <a:p>
            <a:r>
              <a:t>[WATCH]</a:t>
            </a:r>
          </a:p>
          <a:p>
            <a:r>
              <a:t>Uwaga: jeśli ktoś zapyta o szczegółowy podział wydatków reklamowych na kanały według IAB Polska — przyznaj otwarcie, że te dane są szacunkowe. Nie próbuj przedstawiać szacunków jako pewnych liczb. Transparentność w kwestii jakości danych to sygnał profesjonalizmu, nie słabości.</a:t>
            </a:r>
          </a:p>
          <a:p/>
          <a:p>
            <a:r>
              <a:t>[WIZUALIZACJA]</a:t>
            </a:r>
          </a:p>
          <a:p>
            <a:r>
              <a:t>Infografika "Polski Konsument Cyfrowy." Trzy główne bloki z ikonami: (1) Płatności: ikona telefonu / portfela — "BLIK: 68% płatności e-commerce"; (2) Logistyka: ikona paczkomatu — "Paczkomat: 81% kupujących online preferuje; 84% bardziej skłonnych do zakupu jeśli dostępny"; (3) Platforma: logo-style blok — "Allegro: 45–50% udziału w rynku e-commerce." Dolna belka z małą gwiazdką: "Dane IAB Polska na poziomie kanałów — szacunkowe."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15:46</a:t>
            </a:r>
          </a:p>
          <a:p/>
          <a:p>
            <a:r>
              <a:t>[SAY]</a:t>
            </a:r>
          </a:p>
          <a:p>
            <a:r>
              <a:t>Zanim przejdziemy do konkretnych benchmarków, potrzebujemy modelu porządkującego myślenie o kanałach. Model Owned, Earned, Paid — media własne, zdobyte i płatne — to punkt wyjścia. Owned: to kanały, które kontrolujecie — wasza strona internetowa, blog, newsletter, konto w mediach społecznościowych. Earned: to media, których nie kupiliście — recenzje klientów, artykuły PR, polecenia, viralowe udostępnienia. Paid: to kanały, za które płacicie — Google Ads, Meta Ads, influencerzy na kontrakcie, display. Kluczowa obserwacja: każdy z tych typów najlepiej działa w różnych etapach RACE. Paid świetnie buduje Reach — dotarcie do nowych osób. Earned wzmacnia Convert i Engage — zaufanie rówieśnicze jest trudne do kupienia. Owned to backbone całego systemu — bez dobrego owned, żadna płatna kampania nie przekona użytkownika do działania. I tutaj zdanie, które chcę, żebyście zapamiętali: "Paid amplifies what exists. Without owned and earned, paid is just expensive." Płatne media wzmacniają to, co już istnieje. Bez solidnych mediów własnych i zdobytych — płatna kampania to drogi megafon bez nic do powiedzenia.</a:t>
            </a:r>
          </a:p>
          <a:p/>
          <a:p>
            <a:r>
              <a:t>[DO]</a:t>
            </a:r>
          </a:p>
          <a:p>
            <a:r>
              <a:t>Wyświetl slajd. Wskaż kolejno trzy koła diagramu. Następnie przejdź przez mapowanie do RACE — używając kolorów. Zakończ cytatem — odczytaj go wyraźnie, powoli.</a:t>
            </a:r>
          </a:p>
          <a:p/>
          <a:p>
            <a:r>
              <a:t>[WATCH]</a:t>
            </a:r>
          </a:p>
          <a:p>
            <a:r>
              <a:t>Czy uczestnicy rozumieją różnicę między earned a owned? Częsty błąd: ludzie liczą followersy jako "earned" — to jest owned. Earned to treści generowane przez innych, bez waszej kontroli. Jeśli widzisz zamieszanie, wyjaśnij na przykładzie.</a:t>
            </a:r>
          </a:p>
          <a:p/>
          <a:p>
            <a:r>
              <a:t>[WIZUALIZACJA]</a:t>
            </a:r>
          </a:p>
          <a:p>
            <a:r>
              <a:t>Diagram Venna z trzema nakładającymi się kołami: "Owned" (media własne — strona, email, blog), "Earned" (media zdobyte — recenzje, PR, word-of-mouth), "Paid" (media płatne — reklamy, influencerzy). W strefach przecięć: przykłady synergii. Obok lub pod diagramem: mapping do etapów RACE z kolorami (Reach = niebieski, Act = zielony, Convert = pomarańczowy, Engage = fioletowy). Wyróżnione zdanie: "Paid amplifies what exists. Without owned and earned, paid is just expensive."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15:49</a:t>
            </a:r>
          </a:p>
          <a:p/>
          <a:p>
            <a:r>
              <a:t>[SAY]</a:t>
            </a:r>
          </a:p>
          <a:p>
            <a:r>
              <a:t>Teraz dane, które często są używane w prezentacjach budżetowych — i które wymagają ostrożnego czytania. Email marketing: $36 do $50 zwrotu na każdy zainwestowany dolar, według Litmus Email Marketing ROI Report z 2025 roku. To jest najwyższy mierzalny ROI wśród kanałów cyfrowych — i jednocześnie kanał, który najczęściej jest niedofinansowany w budżetach, bo jest "nudny." SEO i content: wysoki długoterminowy ROI, ale z horyzontem 6 do 12 miesięcy — nie jest narzędziem na szybkie wyniki. Google Ads: w polskim e-commerce szacowany średni ROAS na poziomie 200% — czyli na każde 100 złotych wydane odzyskujecie 200 w przychodzie. To jest szacunek, nie gwarancja. Social Ads: silne narzędzie do budowania Reach, ale niższe przełożenie na bezpośredni Convert — szczególnie jeśli nie ma dobrego landing page'a. Marketing influencerów: $5,20 zwrotu na każdy dolar według Influencer Marketing Hub 2025. Uwaga: wszystkie te liczby są szacunkowe i zależą od branży, produktu i jakości wykonania. Traktujcie je jako punkt orientacyjny do dyskusji budżetowej, nie jako gwarantowany wynik.</a:t>
            </a:r>
          </a:p>
          <a:p/>
          <a:p>
            <a:r>
              <a:t>[DO]</a:t>
            </a:r>
          </a:p>
          <a:p>
            <a:r>
              <a:t>Wyświetl slajd. Przejdź wiersz po wierszu przez tabelę. Przy każdym kanale zadaj retoryczne pytanie: "Czy to jest kanał, który wasze marki już używają?" — nie oczekuj odpowiedzi, ale buduj refleksję.</a:t>
            </a:r>
          </a:p>
          <a:p/>
          <a:p>
            <a:r>
              <a:t>[WATCH]</a:t>
            </a:r>
          </a:p>
          <a:p>
            <a:r>
              <a:t>Obserwuj reakcje na email marketing — jeśli ktoś jest zaskoczony wysokim ROI, to świetny moment na pogłębienie: "Dlaczego więc email jest często ostatnim priorytetem w budżetach?" Odpowiedź (bo jest "niewidowiskowy") otwiera ważną dyskusję o strategii vs. estetyce.</a:t>
            </a:r>
          </a:p>
          <a:p/>
          <a:p>
            <a:r>
              <a:t>[WIZUALIZACJA]</a:t>
            </a:r>
          </a:p>
          <a:p>
            <a:r>
              <a:t>Tabela z czterema kolumnami: Kanał / Wskaźnik ROI / Horyzont czasowy / Źródło. Wiersze: Email Marketing ($36–$50 na każdy $1 zainwestowany / Natychmiastowy–12 mies. / Litmus 2025), SEO/Content (Wysoki długoterminowy ROI / 6–12 miesięcy / Industry benchmark), Google Ads (średni ROAS 200% dla polskiego e-commerce / 1–3 miesiące / Szacunkowe), Social Ads (Wysoki Reach; niższa efektywność Convert / Zależy od kampanii / Szacunkowe), Marketing Influencerów ($5,20 zwrotu na każdy $1 / Zależy od kampanii / IMH 2025). Dolna belka: "Wszystkie benchmarki są szacunkowe — wyniki zależą od branży i jakości egzekucji."</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15:52</a:t>
            </a:r>
          </a:p>
          <a:p/>
          <a:p>
            <a:r>
              <a:t>[SAY]</a:t>
            </a:r>
          </a:p>
          <a:p>
            <a:r>
              <a:t>Nie możemy zamknąć bloku o kanałach bez rozmowy o AI. 89% marketerów globalnie używa AI w jakiejś formie — to dane z Salesforce State of Marketing z 2025 roku. Ważna uwaga: ta statystyka jest globalna. Dane specyficzne dla Polski nie są dostępne — przynajmniej nie w rzetelnych, publicznie dostępnych badaniach. Mówię o tym otwarcie, bo używanie globalnych danych jako polskich to jeden z najczęstszych błędów w prezentacjach rynkowych. Że coś dzieje się globalnie, nie znaczy automatycznie, że dzieje się w Polsce w takim samym stopniu. Jakie są kluczowe zastosowania AI w marketingu? Treści w skali — generowanie kopii reklamowych, postów, opisów produktów. Personalizacja — dynamiczne dopasowanie komunikatu do segmentu. Analityka predykcyjna — prognozowanie zachowań klientów na podstawie wzorców historycznych. I AI w wyszukiwaniu — zmieniające się zachowania użytkowników w Google, Bing, i nowych narzędziach AI-assisted search. To jest obszar, który zmienia się szybko — cokolwiek powiem dziś może być zdezaktualizowane w ciągu sześciu miesięcy. Kluczowa umiejętność: wiedzieć, gdzie szukać aktualnych danych, a nie zapamiętywać konkretne liczby.</a:t>
            </a:r>
          </a:p>
          <a:p/>
          <a:p>
            <a:r>
              <a:t>[DO]</a:t>
            </a:r>
          </a:p>
          <a:p>
            <a:r>
              <a:t>Wyświetl slajd. Zwróć uwagę uczestników na adnotację "Dane globalne — specyfika polska nieznana" — to ważny sygnał o podejściu do źródeł. Przejdź przez cztery zastosowania AI.</a:t>
            </a:r>
          </a:p>
          <a:p/>
          <a:p>
            <a:r>
              <a:t>[WATCH]</a:t>
            </a:r>
          </a:p>
          <a:p>
            <a:r>
              <a:t>Uwaga: ta statystyka jest globalna — nie prezentuj jej jako polskiej. Jeśli ktoś zapyta "a ile w Polsce?" — odpowiedz wprost: "Nie wiem, bo rzetelnych danych dla Polski nie ma. Dobre pytanie." To jest prawidłowa odpowiedź. Obserwuj, czy uczestnicy wychwytują tę różnicę — to ćwiczenie krytycznego myślenia o źródłach.</a:t>
            </a:r>
          </a:p>
          <a:p/>
          <a:p>
            <a:r>
              <a:t>[WIZUALIZACJA]</a:t>
            </a:r>
          </a:p>
          <a:p>
            <a:r>
              <a:t>Centralna liczba: "89%" na jasnym tle. Podtytuł: "marketerów globalnie używa AI w jakiejś formie (Salesforce 2025)." Wyraźna adnotacja: "Dane globalne — specyfika polska nieznana." Poniżej: cztery ikony z etykietami — "Treści w skali", "Personalizacja", "Analityka predykcyjna", "AI w wyszukiwaniu". Dolna belka z ostrzeżeniem: "Ta statystyka opisuje globalny rynek — dane specyficzne dla Polski są niedostępne."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15:55</a:t>
            </a:r>
          </a:p>
          <a:p/>
          <a:p>
            <a:r>
              <a:t>[SAY]</a:t>
            </a:r>
          </a:p>
          <a:p>
            <a:r>
              <a:t>Połączmy teraz dane z poprzednich slajdów w jedną macierz. Które kanały najlepiej służą którym etapom RACE? SEO i content: świetny w fazie Act — kiedy użytkownik aktywnie szuka informacji — i w długoterminowym Engage przez treści wartościowe. Google Ads Search: bardzo mocny Convert — użytkownik z intencją zakupową klika reklamę. Paid Social na Meta: doskonały Reach — budowanie świadomości w szerokich grupach. TikTok Ads: Reach wśród młodszych segmentów — ale intencja zakupowa jest niższa niż w wyszukiwarce. Email Marketing: niedoceniony Convert i Engage — szczególnie w retencji i reaktywacji klientów. Marketing Influencerów: Act i Engage — budowanie zaangażowania i autorytetu w niszy. Display i Programmatic: Reach i Re-marketing w Convert — docieranie do osób, które były już na waszej stronie. CRO Strony — optymalizacja konwersji: to jest kanał wewnętrzny, który maksymalizuje efektywność wszystkich pozostałych. Jedna obserwacja podsumowująca: żaden pojedynczy kanał nie dominuje we wszystkich etapach. Skuteczna strategia kanałowa to zawsze miks, nie monokanał.</a:t>
            </a:r>
          </a:p>
          <a:p/>
          <a:p>
            <a:r>
              <a:t>[DO]</a:t>
            </a:r>
          </a:p>
          <a:p>
            <a:r>
              <a:t>Wyświetl slajd. Przejdź przez każdy wiersz — wskazuj checkmarki i tłumacz krótko uzasadnienie. Zaakcentuj kolor każdej kolumny RACE.</a:t>
            </a:r>
          </a:p>
          <a:p/>
          <a:p>
            <a:r>
              <a:t>[WATCH]</a:t>
            </a:r>
          </a:p>
          <a:p>
            <a:r>
              <a:t>Czy uczestnicy próbują skopiować całą macierz do notatek? Przypomnij: "Ta macierz będzie dostępna — koncentrujcie się teraz na logice, a nie notatkach." Obserwuj, czy ktoś pyta o kanały, których nie ma w tabeli — to dobry znak zaangażowania.</a:t>
            </a:r>
          </a:p>
          <a:p/>
          <a:p>
            <a:r>
              <a:t>[WIZUALIZACJA]</a:t>
            </a:r>
          </a:p>
          <a:p>
            <a:r>
              <a:t>Tabela z pięcioma kolumnami: Kanał / Reach / Act / Convert / Engage. Checkmarki (✓) lub gwiazdki (★) oznaczają, które kanały najsilniej działają w których etapach. Kolory kolumn zgodne z kodowaniem RACE: Reach = niebieski, Act = zielony, Convert = pomarańczowy, Engage = fioletowy. Kanały w wierszach: SEO/Content, Google Ads Search, Paid Social (Meta), TikTok Ads, Email Marketing, Marketing Influencerów, Display/Programmatic, CRO Strony.</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15:58</a:t>
            </a:r>
          </a:p>
          <a:p/>
          <a:p>
            <a:r>
              <a:t>[SAY]</a:t>
            </a:r>
          </a:p>
          <a:p>
            <a:r>
              <a:t>Jak wygląda rynek reklamy cyfrowej w Polsce? IAB Polska szacuje, że w 2024 roku całkowity rynek wyniósł 9,2 miliarda złotych. To jest liczba łączna, potwierdzona — i ona jest wiarygodna. Podział na poszczególne kanały jest już szacunkowy — zaznaczam to wyraźnie, bo IAB Polska nie publikuje szczegółowego audytu per kanał w formie, która byłaby w pełni weryfikowalna. Przykładowy podział, który widzicie na slajdzie — około 30% na Search i SEO, 25% na Paid Social, 20% na wideo, 15% na Display i Programmatic, 10% na Email i afiliację — to ilustracyjny model. Nie jest to normą ani zaleceniem — to punkt wyjścia do dyskusji. Wasza alokacja powinna wynikać ze strategii, nie z benchmarku rynkowego. Jeśli wasza marka jest B2B z długim cyklem sprzedaży — proporcje będą wyglądać zupełnie inaczej niż dla e-commerce B2C z szybkim zakupem impulsywnym. Budżet to narzędzie strategii, nie szablonu.</a:t>
            </a:r>
          </a:p>
          <a:p/>
          <a:p>
            <a:r>
              <a:t>[DO]</a:t>
            </a:r>
          </a:p>
          <a:p>
            <a:r>
              <a:t>Wyświetl slajd. Wskaż liczbę 9,2 mld PLN i podkreśl gwiazdkę — "dane łączne OK, podział szacunkowy." Następnie wskaż diagram z przykładem i wyraźnie przeczytaj etykietę "PRZYKŁADOWY PODZIAŁ — nie normatywny."</a:t>
            </a:r>
          </a:p>
          <a:p/>
          <a:p>
            <a:r>
              <a:t>[WATCH]</a:t>
            </a:r>
          </a:p>
          <a:p>
            <a:r>
              <a:t>Jeśli ktoś zapyta: "Jaki jest właściwy podział?" — odpowiedz: "Zależy od marki, etapu cyklu życia, segmentu i celów. Nie ma jednej odpowiedzi — dlatego za chwilę będziecie to sami wypracowywać w warsztacie."</a:t>
            </a:r>
          </a:p>
          <a:p/>
          <a:p>
            <a:r>
              <a:t>[WIZUALIZACJA]</a:t>
            </a:r>
          </a:p>
          <a:p>
            <a:r>
              <a:t>Nagłówek: "Ile wydać i na co?" Lewa strona: duża liczba "9,2 mld PLN" z podpisem "Całkowity rynek reklamy cyfrowej w Polsce 2024 (IAB Polska)" i gwiazdką "dane łączne potwierdzone; podział na kanały — szacunkowy." Prawa strona: diagram kołowy lub słupkowy z przykładowym podziałem budżetu z wyraźną etykietą: "PRZYKŁADOWY PODZIAŁ — nie normatywny." Sektory: ~30% Search/SEO, ~25% Paid Social, ~20% Wideo, ~15% Display/Programmatic, ~10% Email + Afiliacja.</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16:01</a:t>
            </a:r>
          </a:p>
          <a:p/>
          <a:p>
            <a:r>
              <a:t>[SAY]</a:t>
            </a:r>
          </a:p>
          <a:p>
            <a:r>
              <a:t>Bez pomiaru nie ma optymalizacji. I tu pojawia się jeden z największych błędów w planowaniu budżetów kanałowych: problem last-click attribution. Model atrybucji last-click przypisuje 100% kredytu za konwersję ostatniemu kanałowi, który użytkownik kliknął przed zakupem. W praktyce oznacza to, że Google Ads Search dostaje cały kredyt — bo to zazwyczaj ostatni klik — a Facebook, który zbudował świadomość trzy tygodnie wcześniej, nie dostaje nic. Efekt? Marketerzy ograniczają budżet "nieefektywnego" Facebooka i zwiększają "efektywne" Google Ads. I nie rozumieją, dlaczego po kilku miesiącach wyniki Google Ads zaczynają spadać — bo nie ma już awareness'u do konwertowania. Rozwiązanie: model multi-touch attribution. Każdy touchpoint na ścieżce klienta dostaje część kredytu proporcjonalnie do swojej roli. W Google Analytics 4 możecie to konfigurować. Podstawy techniczne, które warto wdrożyć: UTM parameters na każdym linku zewnętrznym, spójne nazewnictwo kampanii w GA4, regularne raporty ścieżek konwersji. Pamiętajcie: nie możecie optymalizować tego, czego nie mierzysz.</a:t>
            </a:r>
          </a:p>
          <a:p/>
          <a:p>
            <a:r>
              <a:t>[DO]</a:t>
            </a:r>
          </a:p>
          <a:p>
            <a:r>
              <a:t>Wyświetl slajd. Przejdź przez diagram ścieżki klienta — najpierw pokaż błąd last-click, potem model poprawny. Zakończ zdaniem "Nie możesz optymalizować tego, czego nie mierzysz" — powiedz je wolno.</a:t>
            </a:r>
          </a:p>
          <a:p/>
          <a:p>
            <a:r>
              <a:t>[WATCH]</a:t>
            </a:r>
          </a:p>
          <a:p>
            <a:r>
              <a:t>Czy ktoś z grupy używa modeli atrybucji innych niż last-click? Jeśli tak, zaproś do krótkiego komentarza — to wartościowe dla całej grupy. Obserwuj, czy ktoś notuje UTM — to dobry znak orientacji praktycznej.</a:t>
            </a:r>
          </a:p>
          <a:p/>
          <a:p>
            <a:r>
              <a:t>[WIZUALIZACJA]</a:t>
            </a:r>
          </a:p>
          <a:p>
            <a:r>
              <a:t>Dwa panele. Lewy: diagram ścieżki klienta (Touchpoint 1 → Touchpoint 2 → Touchpoint 3 → Konwersja) z modelem "last-click" zaznaczonym czerwonym X i adnotacją "Błąd last-click: 100% kredytu idzie do ostatniego kanału." Prawy: ta sama ścieżka z modelem multi-touch attribution — każdy touchpoint otrzymuje część kredytu. Dolna belka: "UTM parameters → Google Analytics 4 → decyzja budżetowa." Wyróżnione zdanie: "Nie możesz optymalizować tego, czego nie mierzysz."</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16:04</a:t>
            </a:r>
          </a:p>
          <a:p/>
          <a:p>
            <a:r>
              <a:t>[SAY]</a:t>
            </a:r>
          </a:p>
          <a:p>
            <a:r>
              <a:t>Ostatni element przed warsztatem: jak zarządzać strategią kanałową w czasie? SOSTAC zakończył się na Control — kontroli. Teraz nadajemy tej kontroli konkretny rytm. Cykl przeglądu 90-dniowy działa na trzech poziomach. Miesięczny dashboard: podstawowe KPI dla każdego kanału — CPM, CTR, konwersje, ROAS. To jest rutynowa weryfikacja. Kwartalny przegląd planu: czy alokacja budżetowa wciąż odpowiada celom? Czy jakieś kanały dramatycznie zmieniły efektywność? Czy pojawiły się nowe możliwości — nowe formaty, nowe platformy? Tu podejmujecie decyzje o realokacji. Roczny pełny cykl SOSTAC: wracacie do początku — Situation Analysis, Objectives, Strategy, Tactics, Actions, Control — i przechodzicie przez cały framework od nowa z aktualną wiedzą i danymi. Dlaczego to ważne? Bo rynki cyfrowe zmieniają się szybko. Strategia, którą budujecie dziś, będzie wymagać aktualizacji za rok — nie dlatego, że była zła, ale dlatego, że kontekst się zmienił. Regularny rytm przeglądu to nie biurokracja — to mechanizm uczenia się organizacji.</a:t>
            </a:r>
          </a:p>
          <a:p/>
          <a:p>
            <a:r>
              <a:t>[DO]</a:t>
            </a:r>
          </a:p>
          <a:p>
            <a:r>
              <a:t>Wyświetl slajd. Wskaż kolejno trzy poziomy cyklu od środka do zewnątrz. Zakończ wskazując na center "Control — SOSTAC" i powiedz: "To zamknięcie pętli z bloku pierwszego — pamiętacie etap Control z rana?"</a:t>
            </a:r>
          </a:p>
          <a:p/>
          <a:p>
            <a:r>
              <a:t>[WATCH]</a:t>
            </a:r>
          </a:p>
          <a:p>
            <a:r>
              <a:t>Obserwuj, czy uczestnicy łączą cykl przeglądu z tym, co robili na Warsztacie 1 w SOSTAC. Jeśli wydają się niepewni, przypomnij krótko: "Rano omawialiśmy etap Control SOSTAC — to jest jego operacyjna realizacja w czasie."</a:t>
            </a:r>
          </a:p>
          <a:p/>
          <a:p>
            <a:r>
              <a:t>[WIZUALIZACJA]</a:t>
            </a:r>
          </a:p>
          <a:p>
            <a:r>
              <a:t>Diagram cykliczny z trzema poziomami: wewnętrzny krąg — "Dashboard miesięczny" (kolor neutralny), środkowy krąg — "Przegląd planu kwartalnego" (kolor pomarańczowy — Connect), zewnętrzny krąg — "Pełny cykl SOSTAC roczny" (kolor niebieski). Strzałki cykliczne na każdym poziomie. W centrum koła: "Control — SOSTAC." Dolna belka: "Połączenie z etapem Control z Bloku 1."</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15:55</a:t>
            </a:r>
          </a:p>
          <a:p/>
          <a:p>
            <a:r>
              <a:t>[SAY]</a:t>
            </a:r>
          </a:p>
          <a:p>
            <a:r>
              <a:t>Czas na ostatnie ćwiczenie dnia — Warsztat czwarty.</a:t>
            </a:r>
          </a:p>
          <a:p/>
          <a:p>
            <a:r>
              <a:t>[DO]</a:t>
            </a:r>
          </a:p>
          <a:p>
            <a:r>
              <a:t>Wyświetl slajd. Krótka pauza dla efektu. Przejdź natychmiast do slajdu 74.</a:t>
            </a:r>
          </a:p>
          <a:p/>
          <a:p>
            <a:r>
              <a:t>[WATCH]</a:t>
            </a:r>
          </a:p>
          <a:p>
            <a:r>
              <a:t>Obserwuj poziom energii sali — po długim dniu energia może być niższa. Twój ton i tempo mają znaczenie — mów z energią i entuzjazmem.</a:t>
            </a:r>
          </a:p>
          <a:p/>
          <a:p>
            <a:r>
              <a:t>[WIZUALIZACJA]</a:t>
            </a:r>
          </a:p>
          <a:p>
            <a:r>
              <a:t>Ciemne tło. Wyśrodkowany, duży napis: "Czas na ćwiczenia — Warsztat 4." Minimalna treść. Styl analogiczny do slajdu przejściowego Warsztatu 3.</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16:05</a:t>
            </a:r>
          </a:p>
          <a:p/>
          <a:p>
            <a:r>
              <a:t>[SAY]</a:t>
            </a:r>
          </a:p>
          <a:p>
            <a:r>
              <a:t>Ostatnie ćwiczenie dnia. Wasze zadanie: rozdzielcie budżet 200 000 złotych na kanały cyfrowe dla waszej marki. Mamy 40 minut — do 16:35. Wynik, który chcę zobaczyć: macierz kanałów z konkretną alokacją budżetu i uzasadnieniem każdej decyzji. Nie chodzi o to, żeby "podzielić budżet równomiernie" — chodzi o to, żeby każda złotówka miała strategiczne uzasadnienie wynikające z waszego SOSTAC, RACE i CVP. Narzędzie: tablica Canva Whiteboard — wejdźcie przez QR kod. Lista kanałów do rozważenia jest na slajdzie — SEO i content, Google Ads, Płatne Social na Meta i Instagramie, TikTok, Email Marketing, Marketing Influencerów, Display i Programmatic, optymalizacja strony CRO, i kategoria "Inne" na eksperymenty. Pamiętajcie: pracujecie z tą samą marką, którą wybraliście w Ćwiczeniu 1. Na tablicy jest pre-wypełniony wiersz Email Marketing jako przykład formatu — to punkt startowy, nie sugestia alokacji.</a:t>
            </a:r>
          </a:p>
          <a:p/>
          <a:p>
            <a:r>
              <a:t>[SETUP]</a:t>
            </a:r>
          </a:p>
          <a:p>
            <a:r>
              <a:t>Potwierdź, że tablica Canva Whiteboard jest aktywna i wyświetla macierz budżetową z nagłówkiem "200 000 PLN". Sprawdź, czy wiersz Email Marketing jest pre-wypełniony jako przykład. Upewnij się, że QR kod jest czytelny z tylnych rzędów. Potwierdź, że wszystkie grupy mają własne strefy robocze i mogą zacząć pracę natychmiast po wejściu na tablicę.</a:t>
            </a:r>
          </a:p>
          <a:p/>
          <a:p>
            <a:r>
              <a:t>[DO]</a:t>
            </a:r>
          </a:p>
          <a:p>
            <a:r>
              <a:t>Wyświetl slajd. Wskaż QR kod i poczekaj, aż wszystkie grupy połączą się z tablicą. Sprawdź, że każda grupa widzi swój wiersz startowy Email Marketing. Uruchom timer na 40 minut. W trakcie ćwiczenia chodź między grupami i zadawaj pytania challengujące decyzje budżetowe.</a:t>
            </a:r>
          </a:p>
          <a:p/>
          <a:p>
            <a:r>
              <a:t>[WATCH]</a:t>
            </a:r>
          </a:p>
          <a:p>
            <a:r>
              <a:t>Kluczowe błędy do obserwowania: (1) Grupy alokujące 70% lub więcej na Paid Social bez uzasadnienia strategicznego. (2) Grupy pomijające Email Marketing mimo omówionych benchmarków ROI. (3) Grupy wypełniające tylko kolumny budżetowe i pomijające kolumnę RACE i uzasadnienie. Jeśli widzisz którykolwiek z tych błędów — interweniuj pytaniem, nie korektą.</a:t>
            </a:r>
          </a:p>
          <a:p/>
          <a:p>
            <a:r>
              <a:t>[DEBRIEF]</a:t>
            </a:r>
          </a:p>
          <a:p>
            <a:r>
              <a:t>"Który kanał otrzymał największy budżet i dlaczego — jak to wynika z waszej strategii?" "Który kanał był najtrudniejszy do uzasadnienia i co to mówi o waszej wiedzy o nim?" "Jak zmieniłaby się wasza alokacja, gdybyście mieli inne cele — np. szybki wzrost awareness zamiast konwersji?"</a:t>
            </a:r>
          </a:p>
          <a:p/>
          <a:p>
            <a:r>
              <a:t>[EXTENSION]</a:t>
            </a:r>
          </a:p>
          <a:p>
            <a:r>
              <a:t>"Jak zmieniłaby się alokacja, gdybyście musieli obciąć budżet o 50 000 PLN? Który kanał byłby pierwszy do redukcji i dlaczego?"</a:t>
            </a:r>
          </a:p>
          <a:p/>
          <a:p>
            <a:r>
              <a:t>[WIZUALIZACJA]</a:t>
            </a:r>
          </a:p>
          <a:p>
            <a:r>
              <a:t>Jasne, czytelne tło. Nagłówek: "Warsztat 4 — Wyzwanie Budżetowe." Cztery sekcje: ZADANIE: "Rozdzielcie budżet 200 000 PLN na kanały cyfrowe dla waszej marki." CZAS: "40 minut (do 16:35)." OUTPUT: "Macierz kanałów z alokacją budżetu i uzasadnieniem." NARZĘDZIE: "[QR placeholder] — Canva Whiteboard." Wyróżniony box: "Kontynuujecie z marką wybraną w Ćwiczeniu 1." Lista kanałów do rozważenia jako bullet list: SEO/Content, Google Ads, Płatne Social/Meta, TikTok, Email Marketing, Marketing Influencerów, Display/Programmatic, CRO strony, Inne.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16:10</a:t>
            </a:r>
          </a:p>
          <a:p/>
          <a:p>
            <a:r>
              <a:t>[SAY]</a:t>
            </a:r>
          </a:p>
          <a:p>
            <a:r>
              <a:t>To jest siatka referencyjna — taki sam układ macie na waszej tablicy Canva Whiteboard. Nagłówek: budżet całkowity 200 000 złotych. Pięć kolumn: kanał, etap RACE, budżet w PLN, priorytet i główny KPI. Dziewięć kanałów do rozważenia — plus wiersz "Inne" na eksperymenty. Na dole: suma kontrolna. Kiedy skończycie wypełniać, suma musi się zgadzać z 200 000. Jeśli nie — gdzieś jest błąd arytmetyczny lub zapomnieliście o jakimś kanale. Zaczynajcie.</a:t>
            </a:r>
          </a:p>
          <a:p/>
          <a:p>
            <a:r>
              <a:t>[SETUP]</a:t>
            </a:r>
          </a:p>
          <a:p>
            <a:r>
              <a:t>Sprawdź, że tablica Canva Whiteboard z matrycą budżetową jest otwarta i widoczna na urządzeniach uczestników. Potwierdź, że kolumny matrycy są zgodne z siatką na slajdzie (Kanał / Etap RACE / Budżet PLN / Priorytet / Główny KPI). Upewnij się, że wiersz Email Marketing jest pre-wypełniony na tablicy jako punkt odniesienia.</a:t>
            </a:r>
          </a:p>
          <a:p/>
          <a:p>
            <a:r>
              <a:t>[DO]</a:t>
            </a:r>
          </a:p>
          <a:p>
            <a:r>
              <a:t>Wyświetl slajd jako wizualną referencję dla uczestników. Nie tłumacz długo — tablica jest czytelna. Daj grupom sygnał do pracy.</a:t>
            </a:r>
          </a:p>
          <a:p/>
          <a:p>
            <a:r>
              <a:t>[WATCH]</a:t>
            </a:r>
          </a:p>
          <a:p>
            <a:r>
              <a:t>Obserwuj, czy wszystkie grupy rozumieją układ tabeli. Jeśli ktoś ma pytanie o format — wskaż na slajd jako referencję. Jeśli ktoś pyta, jak wypełnić KPI — zasugeruj: "Wybierzcie jedną miarę, która najlepiej mówi, czy ten kanał działa."</a:t>
            </a:r>
          </a:p>
          <a:p/>
          <a:p>
            <a:r>
              <a:t>[DEBRIEF]</a:t>
            </a:r>
          </a:p>
          <a:p>
            <a:r>
              <a:t>Po zakończeniu ćwiczenia (ok. 16:30): poproś każdą grupę o podanie jednej decyzji, która była najtrudniejsza. Zapytaj: "Który kanał był najbardziej kontrowersyjny w grupie i dlaczego?" Zbierz 2–3 odpowiedzi. Zwróć uwagę na różnice między grupami — jeśli grupy wybrały bardzo różne podziały, to jest cenne: "Nie ma jednej prawidłowej odpowiedzi. Są dobre uzasadnienia i słabe uzasadnienia."</a:t>
            </a:r>
          </a:p>
          <a:p/>
          <a:p>
            <a:r>
              <a:t>[EXTENSION]</a:t>
            </a:r>
          </a:p>
          <a:p>
            <a:r>
              <a:t>Dla grup, które szybko ukończyły podstawową matrycę: "Wróćcie do slajdu RACE (Slajd 27) i sprawdźcie, czy wasza alokacja budżetu proporcjonalnie pokrywa wszystkie cztery etapy — Zasięg, Aktywację, Konwersję i Zaangażowanie. Czy któryś etap jest pominięty? Czy to świadoma decyzja?"</a:t>
            </a:r>
          </a:p>
          <a:p/>
          <a:p>
            <a:r>
              <a:t>[WIZUALIZACJA]</a:t>
            </a:r>
          </a:p>
          <a:p>
            <a:r>
              <a:t>Pusta tabela — siatka referencyjna widoczna dla wszystkich uczestników. Nagłówek tabeli: "Budżet całkowity: 200 000 PLN." Pięć kolumn: Kanał / Etap RACE / Budżet PLN / Priorytet / Główny KPI. Dziewięć wierszy dla kanałów: SEO/Content Marketing, Google Ads (Search), Płatne Social Media (Meta/Instagram), TikTok Ads, Email Marketing (wiersz pre-wypełniony), Marketing Influencerów, Display/Programmatic, Optymalizacja strony (CRO), Inne/Eksperymentalne. Stopka tabeli: "RAZEM: ______ PLN" z pustym polem do wypełnienia przez grupy.</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16:35</a:t>
            </a:r>
          </a:p>
          <a:p/>
          <a:p>
            <a:r>
              <a:t>[SAY]</a:t>
            </a:r>
          </a:p>
          <a:p>
            <a:r>
              <a:t>Witamy z powrotem po ostatnim warsztacie. Właśnie skończyliście najtrudniejszą część dnia — planowanie budżetu kanałowego z prawdziwymi liczbami i prawdziwymi wyborami. To nie było ćwiczenie akademickie — to był prawdziwy trening decyzyjny. Przez ostatnich siedem godzin pracowaliście z czterema wielkimi frameworkami: SOSTAC jako dyscyplina planistyczna, RACE jako mapa egzekucji, Kanwa Propozycji Wartości jako kotwica strategiczna i matryca budżetowa jako narzędzie alokacji. Teraz mam dla was ostatni slajd z hierachią — ale tym razem zobaczycie ją inaczej niż rano. Tym razem zobaczycie ją z własnym doświadczeniem w tle.</a:t>
            </a:r>
          </a:p>
          <a:p/>
          <a:p>
            <a:r>
              <a:t>[DO]</a:t>
            </a:r>
          </a:p>
          <a:p>
            <a:r>
              <a:t>Wyświetl slajd. Daj uczestnikom chwilę na psychologiczne "lądowanie" po warsztacie — dosłownie 15–20 sekund ciszy przed ciągłym mówieniem. Poczekaj, aż większość spojrzy na ekran.</a:t>
            </a:r>
          </a:p>
          <a:p/>
          <a:p>
            <a:r>
              <a:t>[WATCH]</a:t>
            </a:r>
          </a:p>
          <a:p>
            <a:r>
              <a:t>Obserwuj poziom energii w sali po warsztacie 4 — czy uczestnicy są wyczerpani, ożywieni, rozmowni? Dostosuj tempo i ton: jeśli energia niska, wnieś energię do głosu; jeśli wysoka, skieruj ją na refleksję.</a:t>
            </a:r>
          </a:p>
          <a:p/>
          <a:p>
            <a:r>
              <a:t>[WIZUALIZACJA]</a:t>
            </a:r>
          </a:p>
          <a:p>
            <a:r>
              <a:t>Pełnoekranowe tło w tonacji ciepłej (bursztyn/złoto przechodzące w głęboki granat) — wyraźna zmiana kolorystyczna sygnalizująca ostatni rozdział dnia. Duży napis centralny: "Zbierzmy to wszystko razem." Poniżej — cztery małe ikony nawiązujące do każdego bloku: ikona analizy (SOSTAC), ikona mapy (RACE), ikona propozycji wartości (CVP), ikona budżetu (kanały). Lewy dolny róg: dyskretna etykieta czasowa "16:35".</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16:37</a:t>
            </a:r>
          </a:p>
          <a:p/>
          <a:p>
            <a:r>
              <a:t>[SAY]</a:t>
            </a:r>
          </a:p>
          <a:p>
            <a:r>
              <a:t>Pamiętacie ten diagram z samego rana? Wtedy pokazałam wam całą hierachię jako obietnicę — "tyle rzeczy będziemy omawiać dziś." Teraz pokażę wam ją jeszcze raz, ale z adnotacjami. Poziom pierwszy — Strategia Marki — to było Ćwiczenie 3, Kanwa Propozycji Wartości, gdzie definiowaliście bolączki klientów i przewagi waszej marki. Poziom drugi — Strategia Cyfrowa — to był kontekst organizacyjny, który omawialiśmy w bloku pierwszym, zanim zanurzyliśmy się w szczegóły. Poziom trzeci — Strategia Marketingu Cyfrowego — to był cały dzień z waszą wybraną marką: każde ćwiczenie budowało tę warstwę kawałek po kawałku. Poziom czwarty — SOSTAC — to Ćwiczenie 1, Audyt Sytuacyjny: analiza sytuacji, cele, strategia, taktyki, akcje, kontrola. Poziom piąty — RACE — to Ćwiczenie 2, Mapa Ścieżki Klienta: Zasięg, Aktywacja, Konwersja, Zaangażowanie. Teraz ta hierarchia nie jest abstrakcją. Macie ją w palcach. Teraz znacie całą hierarchię — i potraficie ją zastosować.</a:t>
            </a:r>
          </a:p>
          <a:p/>
          <a:p>
            <a:r>
              <a:t>[DO]</a:t>
            </a:r>
          </a:p>
          <a:p>
            <a:r>
              <a:t>Wyświetl slajd z diagramem Variant 3. Użyj wskaźnika lub animacji reveal (jeśli przygotowana), aby wskazywać każdy poziom kolejno od góry do dołu, synchronizując ze skryptem. Daj chwilę przy każdym callout.</a:t>
            </a:r>
          </a:p>
          <a:p/>
          <a:p>
            <a:r>
              <a:t>[WATCH]</a:t>
            </a:r>
          </a:p>
          <a:p>
            <a:r>
              <a:t>Obserwuj, czy uczestnicy kiwają głowami rozpoznając ćwiczenia — to sygnał, że połączenie działa. Jeśli ktoś wygląda na zdezorientowanego przy którymś poziomie, zatrzymaj się i przypomnij krótko, czym była ta sesja.</a:t>
            </a:r>
          </a:p>
          <a:p/>
          <a:p>
            <a:r>
              <a:t>[WIZUALIZACJA]</a:t>
            </a:r>
          </a:p>
          <a:p>
            <a:r>
              <a:t>Diagram hierarchii Variant 3 per hierarchy-diagram-spec.md — wszystkie 5 poziomów w pełnej nasyceniu (100% opacity), adnotacje z callouts po prawej stronie każdego poziomu. Callouts:</a:t>
            </a:r>
          </a:p>
          <a:p>
            <a:r>
              <a:t>- Level 1 — Strategia Marki: → Ćwiczenie 3: Kanwa Propozycji Wartości</a:t>
            </a:r>
          </a:p>
          <a:p>
            <a:r>
              <a:t>- Level 2 — Strategia Cyfrowa: (kontekst organizacyjny — omówiony w bloku 1)</a:t>
            </a:r>
          </a:p>
          <a:p>
            <a:r>
              <a:t>- Level 3 — Strategia Marketingu Cyfrowego: → Cały dzień: wybrana marka</a:t>
            </a:r>
          </a:p>
          <a:p>
            <a:r>
              <a:t>- Level 4 — SOSTAC: → Ćwiczenie 1: Audyt Sytuacyjny</a:t>
            </a:r>
          </a:p>
          <a:p>
            <a:r>
              <a:t>- Level 5 — RACE: → Ćwiczenie 2: Mapa Ścieżki Klienta</a:t>
            </a:r>
          </a:p>
          <a:p>
            <a:r>
              <a:t>Podpis centralny pod diagramem: "Teraz znacie całą hierarchię — i potraficie ją zastosować."</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16:41</a:t>
            </a:r>
          </a:p>
          <a:p/>
          <a:p>
            <a:r>
              <a:t>[SAY]</a:t>
            </a:r>
          </a:p>
          <a:p>
            <a:r>
              <a:t>Pięć rzeczy, które chcę, żebyście zabrali do domu — nie jako slajd, ale jako sposób myślenia. Po pierwsze: SOSTAC to dyscyplina planistyczna. Nie wypełniasz tabeli SOSTAC — ty myślisz przez SOSTAC. Sytuacja, cele, strategia, taktyki, akcje, kontrola. W tej kolejności. Zawsze. Po drugie: RACE to soczewka egzekucyjna. Kiedy planujesz kampanię, pytasz: który etap to adresuje? Zasięg, Aktywacja, Konwersja, Zaangażowanie. Każda złotówka trafia gdzieś na tej ścieżce. Po trzecie: CVP to kotwica strategiczna. Kanwa Propozycji Wartości mówi ci, dla kogo i dlaczego — bez niej budżet jest tylko listą wydatków bez historii. Po czwarte: polski rynek cyfrowy ma własną specyfikę. BLIK ma 68% udziału w e-commerce. Paczkomat obsługuje 81% dostaw. Żabka ma cyfrowy ekosystem dla dwudziestu milionów klientów. Lokalne konteksty robią różnicę — nie kopiuj bez adaptacji. Po piąte: kontrola zamyka pętlę. Dane bez odpowiedzi to tylko koszt. Dane z odpowiedzią i decyzją to przewaga konkurencyjna. Wróćcie do ćwiczenia 1 za kwartał i sprawdźcie, co się zmieniło.</a:t>
            </a:r>
          </a:p>
          <a:p/>
          <a:p>
            <a:r>
              <a:t>[DO]</a:t>
            </a:r>
          </a:p>
          <a:p>
            <a:r>
              <a:t>Wyświetl punkty progresywnie (jeden klik — jeden punkt) lub wszystkie naraz jeśli brak animacji. Przy każdym punkcie nawiąż krótko do ćwiczenia dnia.</a:t>
            </a:r>
          </a:p>
          <a:p/>
          <a:p>
            <a:r>
              <a:t>[WATCH]</a:t>
            </a:r>
          </a:p>
          <a:p>
            <a:r>
              <a:t>Obserwuj, czy uczestnicy robią notatki. Jeśli tak — zwalniaj tempo przy każdym punkcie. Pytanie z sali "czy można dostać slajdy?" to dobry sygnał zaangażowania — odpowiedz, że materiały będą dostępne (patrz slajd 85).</a:t>
            </a:r>
          </a:p>
          <a:p/>
          <a:p>
            <a:r>
              <a:t>[WIZUALIZACJA]</a:t>
            </a:r>
          </a:p>
          <a:p>
            <a:r>
              <a:t>Numerowana lista — pięć dużych punktorów z numerami 1–5 po lewej stronie (kontrastowy kolor). Każdy punkt na osobnym wierszu, duża czytelna czcionka. Opcjonalnie: progressywne pojawianie się punktów (jeden klik = jeden punkt).</a:t>
            </a:r>
          </a:p>
          <a:p/>
          <a:p>
            <a:r>
              <a:t>1. SOSTAC to dyscyplina planistyczna — nie szablon do wypełnienia, lecz sposób myślenia.</a:t>
            </a:r>
          </a:p>
          <a:p>
            <a:r>
              <a:t>2. RACE to soczewka egzekucyjna — każda taktyka kanałowa trafia w jeden etap ścieżki klienta.</a:t>
            </a:r>
          </a:p>
          <a:p>
            <a:r>
              <a:t>3. CVP to kotwica strategiczna — bez niej budżet jest tylko listą wydatków.</a:t>
            </a:r>
          </a:p>
          <a:p>
            <a:r>
              <a:t>4. Polski rynek cyfrowy ma własną specyfikę: BLIK, Paczkomat, Żabka Nano — lokalne ekosystemy liczą się.</a:t>
            </a:r>
          </a:p>
          <a:p>
            <a:r>
              <a:t>5. Kontrola zamyka pętlę — dane bez odpowiedzi to koszt, dane z odpowiedzią to przewaga.</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16:46</a:t>
            </a:r>
          </a:p>
          <a:p/>
          <a:p>
            <a:r>
              <a:t>[SAY]</a:t>
            </a:r>
          </a:p>
          <a:p>
            <a:r>
              <a:t>Czasem najpotężniejsze narzędzie to umiejętność wyjaśnienia złożonej idei w jednym zdaniu. Sprawdzian zrozumienia — czy potrafisz wyjaśnić framework osobie, która nie była dziś na zajęciach? SOSTAC: planujemy, analizujemy sytuację, definiujemy cel, wybieramy strategię, projektujemy taktyki, działamy i mierzymy — i tak w kółko, bo marketing to proces ciągły, a nie projekt do zamknięcia. RACE: docieramy do nowych ludzi — to Zasięg, zamieniamy ich w zainteresowanych — to Aktywacja, prowadzimy do zakupu — to Konwersja, i budujemy lojalność po zakupie — to Zaangażowanie. Kanwa Propozycji Wartości: propozycja wartości jest dobra, gdy nasze produkty dokładnie leczą bolączki i tworzą korzyści, których klienci faktycznie szukają. Nie gdy nam się wydaje, że są dobre — ale gdy klienci potwierdzają, że trafiamy w ich rzeczywistość. Zapamiętajcie te trzy zdania. Albo lepiej — znajdźcie własne.</a:t>
            </a:r>
          </a:p>
          <a:p/>
          <a:p>
            <a:r>
              <a:t>[DO]</a:t>
            </a:r>
          </a:p>
          <a:p>
            <a:r>
              <a:t>Wyświetl slajd. Przeczytaj każde zdanie wolno i wyraźnie. Opcjonalnie: zapytaj uczestników, czy mają swoje wersje — krótka wymiana myśli 1–2 minuty.</a:t>
            </a:r>
          </a:p>
          <a:p/>
          <a:p>
            <a:r>
              <a:t>[WATCH]</a:t>
            </a:r>
          </a:p>
          <a:p>
            <a:r>
              <a:t>Obserwuj, czy uczestnicy potrafią parafrazować. Jeśli ktoś zaproponuje lepsze zdanie — pochwal i zanotuj na tablicy. To sygnał głębokiego rozumienia.</a:t>
            </a:r>
          </a:p>
          <a:p/>
          <a:p>
            <a:r>
              <a:t>[WIZUALIZACJA]</a:t>
            </a:r>
          </a:p>
          <a:p>
            <a:r>
              <a:t>Trzy duże bloki (poziome paski lub karty), każdy w kolorze powiązanym z frameworkiem. Każdy blok zawiera: nazwę frameworku (bold, duży) + jedno zdanie definicji poniżej. Opcjonalnie: ikona lub akronim jako grafikę dekoracyjną.</a:t>
            </a:r>
          </a:p>
          <a:p/>
          <a:p>
            <a:r>
              <a:t>SOSTAC: "Planujemy: analizujemy sytuację, definiujemy cel, wybieramy strategię, projektujemy taktyki, działamy i mierzymy — i tak w kółko."</a:t>
            </a:r>
          </a:p>
          <a:p/>
          <a:p>
            <a:r>
              <a:t>RACE: "Docieramy do nowych ludzi (Zasięg), zamieniamy ich w zainteresowanych (Aktywacja), prowadzimy do zakupu (Konwersja) i budujemy lojalność po zakupie (Zaangażowanie)."</a:t>
            </a:r>
          </a:p>
          <a:p/>
          <a:p>
            <a:r>
              <a:t>CVP (Kanwa Propozycji Wartości): "Propozycja wartości jest dobra, gdy nasze produkty dokładnie leczą bolączki i tworzą korzyści, których klienci faktycznie szukają."</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16:50</a:t>
            </a:r>
          </a:p>
          <a:p/>
          <a:p>
            <a:r>
              <a:t>[SAY]</a:t>
            </a:r>
          </a:p>
          <a:p>
            <a:r>
              <a:t>Koniec zajęć to nie koniec pracy — to jej prawdziwy początek. Macie jedno główne zadanie na przyszły tydzień: przeprowadźcie audyt SOSTAC dla marki, którą znacie z bliska. Może to być wasza firma, wasz pracodawca, marka klienta, albo brand, który obserwujecie od lat. Krok pierwszy: weźcie szablon z ćwiczenia 1 i wypełnijcie każdy element SOSTAC dla tej marki. Nie musicie mieć wszystkich danych — zaznaczcie białe plamy jako luki do zbadania. Krok drugi: zmapujcie co najmniej trzy taktyki tej marki na etapy RACE. Spójrzcie, gdzie jest dziura. Najczęściej marki zaniedbują etap Zaangażowania — posprzedażowy kontakt z klientem. Krok trzeci: sprawdźcie propozycję wartości tej marki przez pryzmat Kanwy. Czy profil klienta jest oparty na danych, czy na założeniach? Czy mapa wartości naprawdę trafia w te bolączki? Trzy kroki. Jeden tydzień. Prawdziwa strategia.</a:t>
            </a:r>
          </a:p>
          <a:p/>
          <a:p>
            <a:r>
              <a:t>[DO]</a:t>
            </a:r>
          </a:p>
          <a:p>
            <a:r>
              <a:t>Wyświetl slajd. Poczekaj, aż uczestnicy zapiszą lub sfotografują zadanie. Zapytaj: "Kto już ma w głowie markę, którą chce przeanalizować?" — podniesienie rąk buduje zaangażowanie.</a:t>
            </a:r>
          </a:p>
          <a:p/>
          <a:p>
            <a:r>
              <a:t>[WATCH]</a:t>
            </a:r>
          </a:p>
          <a:p>
            <a:r>
              <a:t>Obserwuj, czy uczestnicy traktują zadanie jako realne zobowiązanie. Jeśli ktoś mówi "ale ja nie mam swojej marki" — odpowiedz: "Wybierz ulubioną polską markę cyfrową i potraktuj ją jak przypadek do analizy."</a:t>
            </a:r>
          </a:p>
          <a:p/>
          <a:p>
            <a:r>
              <a:t>[WIZUALIZACJA]</a:t>
            </a:r>
          </a:p>
          <a:p>
            <a:r>
              <a:t>Układ z dużym nagłówkiem "Zadanie na przyszły tydzień" i poniżej trzema konkretnymi krokami z ikonami (np. ikona lupy, ikona ołówka, ikona zegara). Główne zadanie wyróżnione pogrubioną czcionką lub kolorem akcentowym.</a:t>
            </a:r>
          </a:p>
          <a:p/>
          <a:p>
            <a:r>
              <a:t>**Główne zadanie**: Przeprowadź audyt SOSTAC dla swojej marki lub organizacji.</a:t>
            </a:r>
          </a:p>
          <a:p/>
          <a:p>
            <a:r>
              <a:t>Krok 1: Wybierz jedną markę — własną firmę, pracodawcę lub brand, który znasz dobrze — i wypełnij audyt sytuacyjny metodą SOSTAC (szablon z ćwiczenia 1).</a:t>
            </a:r>
          </a:p>
          <a:p/>
          <a:p>
            <a:r>
              <a:t>Krok 2: Zmapuj co najmniej trzy taktyki kanałowe tej marki na etapy RACE — i oceń, który etap jest najbardziej zaniedbany.</a:t>
            </a:r>
          </a:p>
          <a:p/>
          <a:p>
            <a:r>
              <a:t>Krok 3: Zdefiniuj lub zweryfikuj propozycję wartości tej marki korzystając z Kanwy — czy profil klienta i mapa wartości są dopasowane?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16:53</a:t>
            </a:r>
          </a:p>
          <a:p/>
          <a:p>
            <a:r>
              <a:t>[SAY]</a:t>
            </a:r>
          </a:p>
          <a:p>
            <a:r>
              <a:t>Na slajdzie macie cztery polskie źródła, które warto śledzić regularnie. Marketing przy Kawie — podcast i blog prowadzony po polsku, z praktycznym podejściem do marketingu dla polskiego rynku. Sprawny Marketing — to kopalnia praktycznych poradników, narzędzi i raportów branżowych. IAB Polska — stowarzyszenie reklamy cyfrowej; ich raport AdEx to roczny benchmark całego polskiego rynku — liczby, których używaliśmy dziś na zajęciach. I Gemius z badaniem Mediapanel — to stamtąd pochodzą dane o zasięgach platform, które pokazywałam na slajdach o RACE. Warto zaglądać do tych źródeł regularnie, bo rynek zmienia się szybko.</a:t>
            </a:r>
          </a:p>
          <a:p/>
          <a:p>
            <a:r>
              <a:t>[DO]</a:t>
            </a:r>
          </a:p>
          <a:p>
            <a:r>
              <a:t>Wyświetl slajd. Zachęć uczestników do sfotografowania lub zapisania URLi. Jeśli czas pozwala — 30 sekund pytań o te zasoby.</a:t>
            </a:r>
          </a:p>
          <a:p/>
          <a:p>
            <a:r>
              <a:t>[WATCH]</a:t>
            </a:r>
          </a:p>
          <a:p>
            <a:r>
              <a:t>Obserwuj, czy uczestnicy notują. Niektórzy mogą znać część zasobów — to naturalne; pochwal znajomość.</a:t>
            </a:r>
          </a:p>
          <a:p/>
          <a:p>
            <a:r>
              <a:t>[WIZUALIZACJA]</a:t>
            </a:r>
          </a:p>
          <a:p>
            <a:r>
              <a:t>Cztery logo lub nazwy zasobów w układzie 2x2 lub poziomej listy z ikonami. Każdy zasób: nazwa + krótki opis (1 linia) + URL. Tło jasne lub neutralne — slajd referencyjny, czytelność priorytetem.</a:t>
            </a:r>
          </a:p>
          <a:p/>
          <a:p>
            <a:r>
              <a:t>- **Marketing przy Kawie** (marketingprzykawie.pl) — podcast i blog o marketingu z polskiej perspektywy</a:t>
            </a:r>
          </a:p>
          <a:p>
            <a:r>
              <a:t>- **Sprawny Marketing** (sprawnymarketing.pl) — praktyczne poradniki, narzędzia, raporty branżowe</a:t>
            </a:r>
          </a:p>
          <a:p>
            <a:r>
              <a:t>- **IAB Polska** (iab.org.pl) — raport AdEx: dane o polskim rynku reklamy cyfrowej (aktualizacja roczna)</a:t>
            </a:r>
          </a:p>
          <a:p>
            <a:r>
              <a:t>- **Gemius** (gemius.pl) — badanie Mediapanel: zasięgi platform i mediów w Polsce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16:55</a:t>
            </a:r>
          </a:p>
          <a:p/>
          <a:p>
            <a:r>
              <a:t>[SAY]</a:t>
            </a:r>
          </a:p>
          <a:p>
            <a:r>
              <a:t>A tu cztery anglojęzyczne źródła klasy światowej. Smart Insights to Dave Chaffey — twórca frameworku RACE — jego strona to centrum wiedzy o strategii cyfrowej. Warto tam być. PR Smith's SOSTAC Guide — to bezpośrednio od autora frameworku, który omawialiśmy przez cały dzień. Jego materiały i przewodniki są dostępne online. Strategyzer — platforma Alexa Osterwaldera, twórcy Kanwy Propozycji Wartości i Business Model Canvas. Tam znajdziecie interaktywne narzędzia i case studies. I DataReportal z raportem Digital 2025 Poland — to stamtąd pochodzą dane o penetracji internetu, użytkownikach platform i zachowaniach cyfrowych w Polsce. Bezpłatny, szczegółowy, aktualizowany co roku w lutym.</a:t>
            </a:r>
          </a:p>
          <a:p/>
          <a:p>
            <a:r>
              <a:t>[DO]</a:t>
            </a:r>
          </a:p>
          <a:p>
            <a:r>
              <a:t>Wyświetl slajd. Szybkie przejście — slajd jest referencyjny, nie wymagający szerokiego komentarza. Poproś o zdjęcia.</a:t>
            </a:r>
          </a:p>
          <a:p/>
          <a:p>
            <a:r>
              <a:t>[WATCH]</a:t>
            </a:r>
          </a:p>
          <a:p>
            <a:r>
              <a:t>Jeśli ktoś pyta "który zasób zaczać najpierw?" — sugeruj Smart Insights dla praktyki RACE i DataReportal dla danych o Polsce.</a:t>
            </a:r>
          </a:p>
          <a:p/>
          <a:p>
            <a:r>
              <a:t>[WIZUALIZACJA]</a:t>
            </a:r>
          </a:p>
          <a:p>
            <a:r>
              <a:t>Cztery zasoby w analogicznym układzie co slajd 81 — zachowanie spójności wizualnej. Każdy zasób: nazwa + autor/organizacja + URL + 1-zdaniowy opis.</a:t>
            </a:r>
          </a:p>
          <a:p/>
          <a:p>
            <a:r>
              <a:t>- **Smart Insights** (smartinsights.com) — Dave Chaffey — RACE Framework, benchmarki, strategie cyfrowe</a:t>
            </a:r>
          </a:p>
          <a:p>
            <a:r>
              <a:t>- **PR Smith's SOSTAC® Guide** — prsmith.org — autorski podręcznik i zasoby do SOSTAC</a:t>
            </a:r>
          </a:p>
          <a:p>
            <a:r>
              <a:t>- **Strategyzer** (strategyzer.com) — Alex Osterwalder — Kanwa Propozycji Wartości i narzędzia strategiczne</a:t>
            </a:r>
          </a:p>
          <a:p>
            <a:r>
              <a:t>- **DataReportal** (datareportal.com) — Digital 2025 Poland — roczny raport o Polsce: użytkownicy, platformy, zachowania</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16:57</a:t>
            </a:r>
          </a:p>
          <a:p/>
          <a:p>
            <a:r>
              <a:t>[SAY]</a:t>
            </a:r>
          </a:p>
          <a:p>
            <a:r>
              <a:t>Ostatnia aktywność dnia — i jedna z ważniejszych. Chcę, żebyście odpowiedzieli na jedno pytanie: co zastosujesz jako pierwsze w najbliższy poniedziałek? Nie "co zapamiętałem" — ale co zrobię. Konkretne działanie. Mała lub duża rzecz — nie oceniam skali. Otwórzcie Canva Whiteboard i znajdźcie strefę "Poniedziałkowe zobowiązanie." Macie trzy minuty na wpisanie jednej karteczki. Jedna myśl — jedno zobowiązanie.</a:t>
            </a:r>
          </a:p>
          <a:p/>
          <a:p>
            <a:r>
              <a:t>[SETUP]</a:t>
            </a:r>
          </a:p>
          <a:p>
            <a:r>
              <a:t>Otwórz Canva Whiteboard z karteczkami refleksyjnymi. Upewnij się, że każdy uczestnik widzi strefę "Poniedziałkowe zobowiązanie". Sprawdź, czy strefa jest wyraźnie oznaczona i oddzielona od przestrzeni roboczych z poprzednich ćwiczeń. Jeśli tablica była używana przez całe zajęcia — odśwież widok lub przybliż do właściwej strefy i udostępnij ten widok przez ekran.</a:t>
            </a:r>
          </a:p>
          <a:p/>
          <a:p>
            <a:r>
              <a:t>[DO]</a:t>
            </a:r>
          </a:p>
          <a:p>
            <a:r>
              <a:t>Uruchom timer na 3 minuty. Chodź po sali i zaglądaj przez ramię (jeśli możliwe). Zachęcaj przez pytania: "Co to będzie dla ciebie?" Gdy czas minie — zatrzymaj i przejdź do debriefingu.</a:t>
            </a:r>
          </a:p>
          <a:p/>
          <a:p>
            <a:r>
              <a:t>[WATCH]</a:t>
            </a:r>
          </a:p>
          <a:p>
            <a:r>
              <a:t>Obserwuj różnorodność odpowiedzi — czy uczestnicy piszą konkretne działania ("przeprowadzę audyt SOSTAC dla X") czy ogólniki ("będę bardziej strategiczny"). Przy ogólnikach zachęć do uszczegółowienia.</a:t>
            </a:r>
          </a:p>
          <a:p/>
          <a:p>
            <a:r>
              <a:t>[DEBRIEF]</a:t>
            </a:r>
          </a:p>
          <a:p>
            <a:r>
              <a:t>Zbierz 2–3 odpowiedzi na głos. Nazwij wzorce w sali: "Widzę, że wiele osób chce zacząć od audytu SOSTAC — to dobry instynkt, bo analiza sytuacyjna jest punktem wyjścia do wszystkiego." Lub: "Kilka osób wspomniało o CVP — to mówi mi, że wasza praca nad propozycją wartości jest jeszcze świeża i chcecie ją dokończyć. Świetnie." Zakończ rundę refleksji krótkim: "Trzymajcie te karteczki — dosłownie lub w pamięci. Za tydzień sprawdźcie, czy zrealizowaliście swoje zobowiązanie."</a:t>
            </a:r>
          </a:p>
          <a:p/>
          <a:p>
            <a:r>
              <a:t>[WIZUALIZACJA]</a:t>
            </a:r>
          </a:p>
          <a:p>
            <a:r>
              <a:t>Centralny element: duża grafika karteczki samoprzylepnej (sticky note) w kolorze żółtym lub pomarańczowym na tle tablicy. Na karteczce: "Co zastosuję jako pierwsze, zaczynając w najbliższy poniedziałek?" Instrukcja poniżej: "Otwórz Canva Whiteboard → strefa 'Poniedziałkowe zobowiązanie' → dodaj jedną karteczkę." Ikona QR code lub link do tablicy (jeśli inny niż wcześniej).</a:t>
            </a:r>
          </a:p>
          <a:p/>
          <a:p>
            <a:r>
              <a:t>**Prompt**: "Dodaj jedną karteczkę: Co zastosujesz jako pierwsze, zaczynając w najbliższy poniedziałek?"</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17:00</a:t>
            </a:r>
          </a:p>
          <a:p/>
          <a:p>
            <a:r>
              <a:t>[SAY]</a:t>
            </a:r>
          </a:p>
          <a:p>
            <a:r>
              <a:t>Mamy czas na pytania. Co was nurtuje? Co chcielibyście, żebym rozwinęła?</a:t>
            </a:r>
          </a:p>
          <a:p/>
          <a:p>
            <a:r>
              <a:t>[DO]</a:t>
            </a:r>
          </a:p>
          <a:p>
            <a:r>
              <a:t>Wyświetl slajd. Odczekaj 3–5 sekund ciszy — daj czas na zebranie myśli. Przyjmuj pytania swobodnie. Jeśli brak pytań po 30 sekundach: "Może inne pytanie: które z czterech ćwiczeń było dla was najtrudniejsze i dlaczego?" — to zwykle uruchamia rozmowę.</a:t>
            </a:r>
          </a:p>
          <a:p/>
          <a:p>
            <a:r>
              <a:t>[WATCH]</a:t>
            </a:r>
          </a:p>
          <a:p>
            <a:r>
              <a:t>Obserwuj zegarek — Q&amp;A kończy się o 17:00. Jeśli pytania się mnożą, zaznacz: "Mam jeszcze jedno zdanie na koniec, więc za chwilę będę musiała zamknąć." Nie przerywaj dobrej dyskusji, ale nie dopuść do przekroczenia czasu.</a:t>
            </a:r>
          </a:p>
          <a:p/>
          <a:p>
            <a:r>
              <a:t>[WIZUALIZACJA]</a:t>
            </a:r>
          </a:p>
          <a:p>
            <a:r>
              <a:t>Minimalistyczny slajd — duża ikona znaku zapytania (lub stylizowany dymek dialogowy Q&amp;A) wyśrodkowana. Poniżej: "Pytania i odpowiedzi" w dużej czcionce. Opcjonalnie w lewym dolnym rogu: dyskretna informacja "do 17:00". Brak listy punktów — slajd jest tłem dla rozmowy, nie informacją do odczytania.</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Cel: 17:00 (zamknięcie)</a:t>
            </a:r>
          </a:p>
          <a:p/>
          <a:p>
            <a:r>
              <a:t>[SAY]</a:t>
            </a:r>
          </a:p>
          <a:p>
            <a:r>
              <a:t>Dziękuję za dzień pełen pracy — waszej pracy. Przez osiem godzin przeszliście przez cztery frameworki, cztery warsztaty i tyle samo podejść do strategii marketingu cyfrowego. To nie jest wiedza, którą dostaliście gotową — to jest wiedza, którą zbudowaliście przez ćwiczenia. Zabierzcie ze sobą audyt z ćwiczenia 1, mapę ścieżki klienta z ćwiczenia 2, kanwę propozycji wartości z ćwiczenia 3 i matrycę budżetową z ćwiczenia 4. To są wasze dokumenty robocze — nie slajdy. Do zobaczenia na kolejnych zajęciach. Powodzenia w pracy ze strategią.</a:t>
            </a:r>
          </a:p>
          <a:p/>
          <a:p>
            <a:r>
              <a:t>[DO]</a:t>
            </a:r>
          </a:p>
          <a:p>
            <a:r>
              <a:t>Wyświetl slajd końcowy. Podaj dane kontaktowe i link do materiałów wypełniając placeholdery przed zajęciami. Zostań przy slajdzie do momentu, gdy ostatni uczestnik opuści salę — jesteś dostępna na rozmowy indywidualne.</a:t>
            </a:r>
          </a:p>
          <a:p/>
          <a:p>
            <a:r>
              <a:t>[WATCH]</a:t>
            </a:r>
          </a:p>
          <a:p>
            <a:r>
              <a:t>Obserwuj, czy uczestnicy podchodzą z pytaniami indywidualnymi. To normalne po takich zajęciach — miej czas na 5–10 minut po oficjalnym zakończeniu.</a:t>
            </a:r>
          </a:p>
          <a:p/>
          <a:p>
            <a:r>
              <a:t>[WIZUALIZACJA]</a:t>
            </a:r>
          </a:p>
          <a:p>
            <a:r>
              <a:t>Slajd zamykający w stylu tytułowego (Slide 1) — spójność wizualna domknięcia. Duży napis centralny: "Dziękuję za dzień pełen pracy!" Poniżej trzy elementy:</a:t>
            </a:r>
          </a:p>
          <a:p>
            <a:r>
              <a:t>1. Placeholder kontaktowy: "[placeholder: imię.nazwisko@uczelnia.pl]"</a:t>
            </a:r>
          </a:p>
          <a:p>
            <a:r>
              <a:t>2. Placeholder na link do materiałów: "[placeholder: link do materiałów kursu]"</a:t>
            </a:r>
          </a:p>
          <a:p>
            <a:r>
              <a:t>3. Zachęta końcowa (cytat lub zdanie w polskim — patrz SAY)</a:t>
            </a:r>
          </a:p>
          <a:p>
            <a:r>
              <a:t>W prawym dolnym rogu: logo instytucji (placeholder). Opcjonalnie: zdjęcie prowadzącego (placeholder).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1</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Tytuł — Strategia Marketingu Cyfrowego</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Otwarcie</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Napis "Strategia Marketingu Cyfrowego" wyśrodkowany na slajdzie, duża czcionka (minimum 60</a:t>
            </a:r>
          </a:p>
          <a:p>
            <a:pPr algn="l"/>
            <a:r>
              <a:rPr b="0" sz="2200">
                <a:solidFill>
                  <a:srgbClr val="1C1C1C"/>
                </a:solidFill>
              </a:rPr>
              <a:t>• Poniżej — mniejszy placeholder na imię i nazwisko prowadzącego oraz datę zajęć.</a:t>
            </a:r>
          </a:p>
          <a:p>
            <a:pPr algn="l"/>
            <a:r>
              <a:rPr b="0" sz="2200">
                <a:solidFill>
                  <a:srgbClr val="1C1C1C"/>
                </a:solidFill>
              </a:rPr>
              <a:t>• W prawym dolnym rogu — placeholder na logo instytucji.</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Dzień dobry. Witamy na zajęciach z Strategii Marketingu Cyfrowego. Dzisiaj przez osiem godzin będziemy razem budować kompletny warsztat strategiczny — od analizy sytuacyjnej do planowania budżetu kanałów cyfrowych. Na koniec dnia każda z…</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09:00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2</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Plan Dnia — Oś Czasu</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Otwarcie</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Pozioma oś czasu obejmująca cały dzień — od 09:00 do 17:00.</a:t>
            </a:r>
          </a:p>
          <a:p>
            <a:pPr algn="l"/>
            <a:r>
              <a:rPr b="0" sz="2200">
                <a:solidFill>
                  <a:srgbClr val="1C1C1C"/>
                </a:solidFill>
              </a:rPr>
              <a:t>• Cztery bloki wykładowe zaznaczone jednym kolorem (neutralny, chłodny), cztery bloki warszt</a:t>
            </a:r>
          </a:p>
          <a:p>
            <a:pPr algn="l"/>
            <a:r>
              <a:rPr b="0" sz="2200">
                <a:solidFill>
                  <a:srgbClr val="1C1C1C"/>
                </a:solidFill>
              </a:rPr>
              <a:t>• Godziny zaznaczone wyraźnie nad osią.</a:t>
            </a:r>
          </a:p>
          <a:p>
            <a:pPr algn="l"/>
            <a:r>
              <a:rPr b="0" sz="2200">
                <a:solidFill>
                  <a:srgbClr val="1C1C1C"/>
                </a:solidFill>
              </a:rPr>
              <a:t>• Dolna część slajdu: krótka legenda kolorów.</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Dzień podzielony jest na cztery bloki wykładowe i cztery sesje warsztatowe. Wykłady zajmują mniej więcej dwie i pół godziny łącznie — reszta dnia to wasze aktywne ćwiczenia. Mamy jedną dłuższą przerwę na lunch o 12:30 i dwie krótsze…</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09:02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3</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Jak Działamy Dziś</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Otwarcie</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Canva Whiteboard — potrzebujesz urządzenia z przeglądarką</a:t>
            </a:r>
          </a:p>
          <a:p>
            <a:pPr algn="l"/>
            <a:r>
              <a:rPr b="0" sz="2200">
                <a:solidFill>
                  <a:srgbClr val="1C1C1C"/>
                </a:solidFill>
              </a:rPr>
              <a:t>• : koncepcje i frameworki, przykłady z rynku, pytania otwarte.  
Punkty pod</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Na każdy blok wykładowy czeka ćwiczenie warsztatowe na tablicy Canva Whiteboard — będziecie pracować w małych grupach. Na koniec dnia każda grupa będzie miała prawie kompletny plan marketingu cyfrowego dla wybranej przez siebie marki.…</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09:08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41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88A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37160"/>
            <a:ext cx="914400" cy="365760"/>
          </a:xfrm>
          <a:prstGeom prst="rect">
            <a:avLst/>
          </a:prstGeom>
          <a:noFill/>
        </p:spPr>
        <p:txBody>
          <a:bodyPr wrap="square">
            <a:spAutoFit/>
          </a:bodyPr>
          <a:lstStyle/>
          <a:p>
            <a:pPr algn="l"/>
            <a:r>
              <a:rPr b="1" i="0" sz="1100">
                <a:solidFill>
                  <a:srgbClr val="8892A4"/>
                </a:solidFill>
              </a:rPr>
              <a:t>Slide 4</a:t>
            </a:r>
          </a:p>
        </p:txBody>
      </p:sp>
      <p:sp>
        <p:nvSpPr>
          <p:cNvPr id="5" name="TextBox 4"/>
          <p:cNvSpPr txBox="1"/>
          <p:nvPr/>
        </p:nvSpPr>
        <p:spPr>
          <a:xfrm>
            <a:off x="201168" y="320040"/>
            <a:ext cx="11786616" cy="1280160"/>
          </a:xfrm>
          <a:prstGeom prst="rect">
            <a:avLst/>
          </a:prstGeom>
          <a:noFill/>
        </p:spPr>
        <p:txBody>
          <a:bodyPr wrap="square">
            <a:spAutoFit/>
          </a:bodyPr>
          <a:lstStyle/>
          <a:p>
            <a:pPr algn="l"/>
            <a:r>
              <a:rPr b="1" i="0" sz="3200">
                <a:solidFill>
                  <a:srgbClr val="FFFFFF"/>
                </a:solidFill>
              </a:rPr>
              <a:t>Ćwiczenie Otwierające — Instrukcja</a:t>
            </a:r>
          </a:p>
        </p:txBody>
      </p:sp>
      <p:sp>
        <p:nvSpPr>
          <p:cNvPr id="6" name="TextBox 5"/>
          <p:cNvSpPr txBox="1"/>
          <p:nvPr/>
        </p:nvSpPr>
        <p:spPr>
          <a:xfrm>
            <a:off x="8897112" y="128016"/>
            <a:ext cx="3108960" cy="310896"/>
          </a:xfrm>
          <a:prstGeom prst="rect">
            <a:avLst/>
          </a:prstGeom>
          <a:noFill/>
        </p:spPr>
        <p:txBody>
          <a:bodyPr wrap="square">
            <a:spAutoFit/>
          </a:bodyPr>
          <a:lstStyle/>
          <a:p>
            <a:pPr algn="r"/>
            <a:r>
              <a:rPr b="0" i="0" sz="900">
                <a:solidFill>
                  <a:srgbClr val="88AAFF"/>
                </a:solidFill>
              </a:rPr>
              <a:t>Otwarcie — Icebreaker</a:t>
            </a:r>
          </a:p>
        </p:txBody>
      </p:sp>
      <p:sp>
        <p:nvSpPr>
          <p:cNvPr id="7" name="TextBox 6"/>
          <p:cNvSpPr txBox="1"/>
          <p:nvPr/>
        </p:nvSpPr>
        <p:spPr>
          <a:xfrm>
            <a:off x="201168" y="1965960"/>
            <a:ext cx="11786616" cy="1280160"/>
          </a:xfrm>
          <a:prstGeom prst="rect">
            <a:avLst/>
          </a:prstGeom>
          <a:noFill/>
        </p:spPr>
        <p:txBody>
          <a:bodyPr wrap="square">
            <a:spAutoFit/>
          </a:bodyPr>
          <a:lstStyle/>
          <a:p>
            <a:pPr algn="ctr"/>
            <a:r>
              <a:rPr b="1" i="0" sz="3600">
                <a:solidFill>
                  <a:srgbClr val="FFFFFF"/>
                </a:solidFill>
              </a:rPr>
              <a:t>Zacznijmy od ćwiczenia otwierającego. Na tablicy Canva Whiteboard macie dwie kolumny: "Marka, której ufam" i "Marka, któ</a:t>
            </a:r>
          </a:p>
        </p:txBody>
      </p:sp>
      <p:sp>
        <p:nvSpPr>
          <p:cNvPr id="8" name="TextBox 7"/>
          <p:cNvSpPr txBox="1"/>
          <p:nvPr/>
        </p:nvSpPr>
        <p:spPr>
          <a:xfrm>
            <a:off x="201168" y="3337560"/>
            <a:ext cx="11786616" cy="548640"/>
          </a:xfrm>
          <a:prstGeom prst="rect">
            <a:avLst/>
          </a:prstGeom>
          <a:noFill/>
        </p:spPr>
        <p:txBody>
          <a:bodyPr wrap="square">
            <a:spAutoFit/>
          </a:bodyPr>
          <a:lstStyle/>
          <a:p>
            <a:pPr algn="ctr"/>
            <a:r>
              <a:rPr b="0" i="0" sz="2000">
                <a:solidFill>
                  <a:srgbClr val="8892A4"/>
                </a:solidFill>
              </a:rPr>
              <a:t>Cel: 09:15</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88AAFF"/>
                </a:solidFill>
              </a:rPr>
              <a:t>Cel: 09:15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41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88A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37160"/>
            <a:ext cx="914400" cy="365760"/>
          </a:xfrm>
          <a:prstGeom prst="rect">
            <a:avLst/>
          </a:prstGeom>
          <a:noFill/>
        </p:spPr>
        <p:txBody>
          <a:bodyPr wrap="square">
            <a:spAutoFit/>
          </a:bodyPr>
          <a:lstStyle/>
          <a:p>
            <a:pPr algn="l"/>
            <a:r>
              <a:rPr b="1" i="0" sz="1100">
                <a:solidFill>
                  <a:srgbClr val="8892A4"/>
                </a:solidFill>
              </a:rPr>
              <a:t>Slide 5</a:t>
            </a:r>
          </a:p>
        </p:txBody>
      </p:sp>
      <p:sp>
        <p:nvSpPr>
          <p:cNvPr id="5" name="TextBox 4"/>
          <p:cNvSpPr txBox="1"/>
          <p:nvPr/>
        </p:nvSpPr>
        <p:spPr>
          <a:xfrm>
            <a:off x="201168" y="320040"/>
            <a:ext cx="11786616" cy="1280160"/>
          </a:xfrm>
          <a:prstGeom prst="rect">
            <a:avLst/>
          </a:prstGeom>
          <a:noFill/>
        </p:spPr>
        <p:txBody>
          <a:bodyPr wrap="square">
            <a:spAutoFit/>
          </a:bodyPr>
          <a:lstStyle/>
          <a:p>
            <a:pPr algn="l"/>
            <a:r>
              <a:rPr b="1" i="0" sz="3200">
                <a:solidFill>
                  <a:srgbClr val="FFFFFF"/>
                </a:solidFill>
              </a:rPr>
              <a:t>Ćwiczenie Otwierające — Debrief</a:t>
            </a:r>
          </a:p>
        </p:txBody>
      </p:sp>
      <p:sp>
        <p:nvSpPr>
          <p:cNvPr id="6" name="TextBox 5"/>
          <p:cNvSpPr txBox="1"/>
          <p:nvPr/>
        </p:nvSpPr>
        <p:spPr>
          <a:xfrm>
            <a:off x="8897112" y="128016"/>
            <a:ext cx="3108960" cy="310896"/>
          </a:xfrm>
          <a:prstGeom prst="rect">
            <a:avLst/>
          </a:prstGeom>
          <a:noFill/>
        </p:spPr>
        <p:txBody>
          <a:bodyPr wrap="square">
            <a:spAutoFit/>
          </a:bodyPr>
          <a:lstStyle/>
          <a:p>
            <a:pPr algn="r"/>
            <a:r>
              <a:rPr b="0" i="0" sz="900">
                <a:solidFill>
                  <a:srgbClr val="88AAFF"/>
                </a:solidFill>
              </a:rPr>
              <a:t>Otwarcie — Icebreaker Debrief</a:t>
            </a:r>
          </a:p>
        </p:txBody>
      </p:sp>
      <p:sp>
        <p:nvSpPr>
          <p:cNvPr id="7" name="TextBox 6"/>
          <p:cNvSpPr txBox="1"/>
          <p:nvPr/>
        </p:nvSpPr>
        <p:spPr>
          <a:xfrm>
            <a:off x="201168" y="1965960"/>
            <a:ext cx="11786616" cy="1280160"/>
          </a:xfrm>
          <a:prstGeom prst="rect">
            <a:avLst/>
          </a:prstGeom>
          <a:noFill/>
        </p:spPr>
        <p:txBody>
          <a:bodyPr wrap="square">
            <a:spAutoFit/>
          </a:bodyPr>
          <a:lstStyle/>
          <a:p>
            <a:pPr algn="ctr"/>
            <a:r>
              <a:rPr b="1" i="0" sz="3600">
                <a:solidFill>
                  <a:srgbClr val="FFFFFF"/>
                </a:solidFill>
              </a:rPr>
              <a:t>Spójrzmy razem na to, co się pojawiło. Widzę kilka wyraźnych wzorców — zanim je omówimy, warto wspomnieć o jednym polski</a:t>
            </a:r>
          </a:p>
        </p:txBody>
      </p:sp>
      <p:sp>
        <p:nvSpPr>
          <p:cNvPr id="8" name="TextBox 7"/>
          <p:cNvSpPr txBox="1"/>
          <p:nvPr/>
        </p:nvSpPr>
        <p:spPr>
          <a:xfrm>
            <a:off x="201168" y="3337560"/>
            <a:ext cx="11786616" cy="548640"/>
          </a:xfrm>
          <a:prstGeom prst="rect">
            <a:avLst/>
          </a:prstGeom>
          <a:noFill/>
        </p:spPr>
        <p:txBody>
          <a:bodyPr wrap="square">
            <a:spAutoFit/>
          </a:bodyPr>
          <a:lstStyle/>
          <a:p>
            <a:pPr algn="ctr"/>
            <a:r>
              <a:rPr b="0" i="0" sz="2000">
                <a:solidFill>
                  <a:srgbClr val="8892A4"/>
                </a:solidFill>
              </a:rPr>
              <a:t>Cel: 09:35</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88AAFF"/>
                </a:solidFill>
              </a:rPr>
              <a:t>Cel: 09:35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6</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Mapa Hierarchii Frameworków</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Otwarcie — Zakotwiczenie konceptualne</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Specyfikacja wizualna: hierarchy-diagram-spec.md Variant 1.</a:t>
            </a:r>
          </a:p>
          <a:p>
            <a:pPr algn="l"/>
            <a:r>
              <a:rPr b="0" sz="2200">
                <a:solidFill>
                  <a:srgbClr val="1C1C1C"/>
                </a:solidFill>
              </a:rPr>
              <a:t>• 40% szerokości slajdu, pełna wysokość z marginesami.</a:t>
            </a:r>
          </a:p>
          <a:p>
            <a:pPr algn="l"/>
            <a:r>
              <a:rPr b="0" sz="2200">
                <a:solidFill>
                  <a:srgbClr val="1C1C1C"/>
                </a:solidFill>
              </a:rPr>
              <a:t>• Wszystkie pudełka w pełnej opacości (100%).</a:t>
            </a:r>
          </a:p>
          <a:p>
            <a:pPr algn="l"/>
            <a:r>
              <a:rPr b="0" sz="2200">
                <a:solidFill>
                  <a:srgbClr val="1C1C1C"/>
                </a:solidFill>
              </a:rPr>
              <a:t>• Podpis pod diagramem: "To jest mapa na cały dzień." (18pt, wyśrodkowany).</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Zanim przejdziemy do pierwszego narzędzia, chcę pokazać wam mapę całego dnia. Będziemy poruszać się przez tę hierarchię — od dołu do góry. Zaczniemy od SOSTAC — narzędzia planowania, które jest najbardziej namacalne i natychmiastowo…</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09:45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7</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Dlaczego SOSTAC?</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Lecture Block 1: SOSTAC</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Dolna część: krótka lista —</a:t>
            </a:r>
          </a:p>
          <a:p>
            <a:pPr algn="l"/>
            <a:r>
              <a:rPr b="0" sz="2200">
                <a:solidFill>
                  <a:srgbClr val="1C1C1C"/>
                </a:solidFill>
              </a:rPr>
              <a:t>• Certyfikowani praktycy na całym świecie</a:t>
            </a:r>
          </a:p>
          <a:p>
            <a:pPr algn="l"/>
            <a:r>
              <a:rPr b="0" sz="2200">
                <a:solidFill>
                  <a:srgbClr val="1C1C1C"/>
                </a:solidFill>
              </a:rPr>
              <a:t>• Najpopularniejszy framework planowania marketingowego</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Pierwszym narzędziem, które dziś poznamy, jest SOSTAC — framework planowania marketingowego stworzony przez PR Smitha w latach 90. i stosowany dziś przez profesjonalistów w ponad pięćdziesięciu krajach. Nazwa to akronim od sześciu etapów…</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09:48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8</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SOSTAC — Przegląd Sześciu Etapów</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Lecture Block 1: SOSTAC</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Każdy segment ma polską nazwę etapu i jego angielski skrót w nawiasie.</a:t>
            </a:r>
          </a:p>
          <a:p>
            <a:pPr algn="l"/>
            <a:r>
              <a:rPr b="0" sz="2200">
                <a:solidFill>
                  <a:srgbClr val="1C1C1C"/>
                </a:solidFill>
              </a:rPr>
              <a:t>• Kolejność zgodnie z ruchem wskazówek zegara od góry: Sytuacja (S), Cele (O), Strategia (S)</a:t>
            </a:r>
          </a:p>
          <a:p>
            <a:pPr algn="l"/>
            <a:r>
              <a:rPr b="0" sz="2200">
                <a:solidFill>
                  <a:srgbClr val="1C1C1C"/>
                </a:solidFill>
              </a:rPr>
              <a:t>• Strzałki między segmentami wskazują kierunek zgodny z ruchem wskazówek zegara, ale z dodat</a:t>
            </a:r>
          </a:p>
          <a:p>
            <a:pPr algn="l"/>
            <a:r>
              <a:rPr b="0" sz="2200">
                <a:solidFill>
                  <a:srgbClr val="1C1C1C"/>
                </a:solidFill>
              </a:rPr>
              <a:t>• Każdy segment wyróżniony innym odcieniem (nie jaskrawe, ale czytelne).</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SOSTAC składa się z sześciu etapów planowania — ale uwaga: to nie jest lista kroków do wykonania po kolei i zapomniana. To pętla. Kontrola — ostatni etap — nie kończy procesu planowania, lecz go zasila. Wyniki z etapu Kontrola wracają…</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09:53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9</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S — Sytuacja (Situation Analysis)</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Lecture Block 1: SOSTAC</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(Customer Analysis), (2) Ikona docelownika —</a:t>
            </a:r>
          </a:p>
          <a:p>
            <a:pPr algn="l"/>
            <a:r>
              <a:rPr b="0" sz="2200">
                <a:solidFill>
                  <a:srgbClr val="1C1C1C"/>
                </a:solidFill>
              </a:rPr>
              <a:t>• (Competitor Analysis), (3) Ikona budynku —</a:t>
            </a:r>
          </a:p>
          <a:p>
            <a:pPr algn="l"/>
            <a:r>
              <a:rPr b="0" sz="2200">
                <a:solidFill>
                  <a:srgbClr val="1C1C1C"/>
                </a:solidFill>
              </a:rPr>
              <a:t>• (Company Analysis), (4) Ikona globu —</a:t>
            </a:r>
          </a:p>
          <a:p>
            <a:pPr algn="l"/>
            <a:r>
              <a:rPr b="0" sz="2200">
                <a:solidFill>
                  <a:srgbClr val="1C1C1C"/>
                </a:solidFill>
              </a:rPr>
              <a:t>• . Nad gridiem: mały napis cytatowy:</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Analiza sytuacyjna to fundament całego planu. PR Smith szacuje, że powinna zajmować połowę całego wysiłku planistycznego. Dlaczego aż połowę? Bo zły plan oparty na dobrej diagnozie można poprawić — dobry plan oparty na złej diagnozie…</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09:58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10</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S — Sytuacja: Narzędzia Cyfrowe</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Lecture Block 1: SOSTAC</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Ruch, współczynnik odrzuceń, konwersje</a:t>
            </a:r>
          </a:p>
          <a:p>
            <a:pPr algn="l"/>
            <a:r>
              <a:rPr b="0" sz="2200">
                <a:solidFill>
                  <a:srgbClr val="1C1C1C"/>
                </a:solidFill>
              </a:rPr>
              <a:t>• Analiza SEO, benchmarking organiczny</a:t>
            </a:r>
          </a:p>
          <a:p>
            <a:pPr algn="l"/>
            <a:r>
              <a:rPr b="0" sz="2200">
                <a:solidFill>
                  <a:srgbClr val="1C1C1C"/>
                </a:solidFill>
              </a:rPr>
              <a:t>• Monitoring wzmianek, sentyment marki</a:t>
            </a:r>
          </a:p>
          <a:p>
            <a:pPr algn="l"/>
            <a:r>
              <a:rPr b="0" sz="2200">
                <a:solidFill>
                  <a:srgbClr val="1C1C1C"/>
                </a:solidFill>
              </a:rPr>
              <a:t>• Satysfakcja, lojalność, głos klienta</a:t>
            </a:r>
          </a:p>
          <a:p>
            <a:pPr algn="l"/>
            <a:r>
              <a:rPr b="0" sz="2200">
                <a:solidFill>
                  <a:srgbClr val="1C1C1C"/>
                </a:solidFill>
              </a:rPr>
              <a:t>• Cyfrowe narzędzia analizy sytuacyjnej</a:t>
            </a:r>
          </a:p>
          <a:p>
            <a:pPr algn="l"/>
            <a:r>
              <a:rPr b="0" sz="2200">
                <a:solidFill>
                  <a:srgbClr val="1C1C1C"/>
                </a:solidFill>
              </a:rPr>
              <a:t>• S — Situation</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Analiza sytuacyjna w środowisku cyfrowym jest bogatsza niż kiedykolwiek wcześniej — bo dane są dostępne w czasie rzeczywistym i w znacznie większej ilości niż w świecie analogowym. Cztery kluczowe obszary narzędzi: Google Analytics lub GA4…</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10:03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11</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O — Cele (Objectives)</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Lecture Block 1: SOSTAC</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Cel na każdy etap RACE</a:t>
            </a:r>
          </a:p>
          <a:p>
            <a:pPr algn="l"/>
            <a:r>
              <a:rPr b="0" sz="2200">
                <a:solidFill>
                  <a:srgbClr val="1C1C1C"/>
                </a:solidFill>
              </a:rPr>
              <a:t>• O — Objectives</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Etap Cele to odpowiedź na pytanie: gdzie chcemy być? Wszystkie cele muszą być SMART — Specific (konkretne), Measurable (mierzalne), Achievable (osiągalne), Realistic (realistyczne), Time-bound (osadzone w czasie). Ale sama zasada SMART to…</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10:06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12</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S — Strategia (Strategy)</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Lecture Block 1: SOSTAC</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 Po prawej: zielona ikona</a:t>
            </a:r>
          </a:p>
          <a:p>
            <a:pPr algn="l"/>
            <a:r>
              <a:rPr b="0" sz="2200">
                <a:solidFill>
                  <a:srgbClr val="1C1C1C"/>
                </a:solidFill>
              </a:rPr>
              <a:t>• . W centrum: neutralne pole z hasłem Nike jako przykładem —</a:t>
            </a:r>
          </a:p>
          <a:p>
            <a:pPr algn="l"/>
            <a:r>
              <a:rPr b="0" sz="2200">
                <a:solidFill>
                  <a:srgbClr val="1C1C1C"/>
                </a:solidFill>
              </a:rPr>
              <a:t>• Poniżej, mniejszą czcionką:</a:t>
            </a:r>
          </a:p>
          <a:p>
            <a:pPr algn="l"/>
            <a:r>
              <a:rPr b="0" sz="2200">
                <a:solidFill>
                  <a:srgbClr val="1C1C1C"/>
                </a:solidFill>
              </a:rPr>
              <a:t>• S — Strategy</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Strategia to nie lista kanałów. To decyzja: co priorytetyzujemy i z czego rezygnujemy. To zdanie jest kluczowe i warto je zapamiętać — bo zdecydowana większość dokumentów, które w firmach noszą nazwę "strategia marketingowa", w…</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10:09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13</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T — Taktyki (Tactics)</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Lecture Block 1: SOSTAC</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Taktyki bez strategii to tylko hałas.</a:t>
            </a:r>
          </a:p>
          <a:p>
            <a:pPr algn="l"/>
            <a:r>
              <a:rPr b="0" sz="2200">
                <a:solidFill>
                  <a:srgbClr val="1C1C1C"/>
                </a:solidFill>
              </a:rPr>
              <a:t>• Owned / Earned / Paid</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Taktyki to konkretne narzędzia, kanały i formaty treści, których używamy do realizacji strategii. To właśnie na tym etapie SOSTAC łączy się z RACE — każda taktyka przypisana jest do konkretnego etapu cyklu klienta. Taktyki zasięgowe takie…</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10:12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14</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A — Działania (Actions)</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Lecture Block 1: SOSTAC</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Men &amp; Women (Talent)</a:t>
            </a:r>
          </a:p>
          <a:p>
            <a:pPr algn="l"/>
            <a:r>
              <a:rPr b="0" sz="2200">
                <a:solidFill>
                  <a:srgbClr val="1C1C1C"/>
                </a:solidFill>
              </a:rPr>
              <a:t>• Kto jest właścicielem każdej taktyki?</a:t>
            </a:r>
          </a:p>
          <a:p>
            <a:pPr algn="l"/>
            <a:r>
              <a:rPr b="0" sz="2200">
                <a:solidFill>
                  <a:srgbClr val="1C1C1C"/>
                </a:solidFill>
              </a:rPr>
              <a:t>• Money (Budżet)</a:t>
            </a:r>
          </a:p>
          <a:p>
            <a:pPr algn="l"/>
            <a:r>
              <a:rPr b="0" sz="2200">
                <a:solidFill>
                  <a:srgbClr val="1C1C1C"/>
                </a:solidFill>
              </a:rPr>
              <a:t>• Ile alokujemy i gdzie?</a:t>
            </a:r>
          </a:p>
          <a:p>
            <a:pPr algn="l"/>
            <a:r>
              <a:rPr b="0" sz="2200">
                <a:solidFill>
                  <a:srgbClr val="1C1C1C"/>
                </a:solidFill>
              </a:rPr>
              <a:t>• Minutes (Czas)</a:t>
            </a:r>
          </a:p>
          <a:p>
            <a:pPr algn="l"/>
            <a:r>
              <a:rPr b="0" sz="2200">
                <a:solidFill>
                  <a:srgbClr val="1C1C1C"/>
                </a:solidFill>
              </a:rPr>
              <a:t>• Harmonogram, kalendarz treści, terminy</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Etap Działania odpowiada na pytania: kto, co, kiedy i za ile? To etap, w którym strategia zamienia się w konkretne zobowiązania i harmonogram. Framework 4M porządkuje te pytania w czterech wymiarach. Men and Women — czyli talent: kto jest…</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10:15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15</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C — Kontrola (Control)</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Lecture Block 1: SOSTAC</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Kontrola → Sytuacja</a:t>
            </a:r>
          </a:p>
          <a:p>
            <a:pPr algn="l"/>
            <a:r>
              <a:rPr b="0" sz="2200">
                <a:solidFill>
                  <a:srgbClr val="1C1C1C"/>
                </a:solidFill>
              </a:rPr>
              <a:t>• KPI per kanał</a:t>
            </a:r>
          </a:p>
          <a:p>
            <a:pPr algn="l"/>
            <a:r>
              <a:rPr b="0" sz="2200">
                <a:solidFill>
                  <a:srgbClr val="1C1C1C"/>
                </a:solidFill>
              </a:rPr>
              <a:t>• KPI per etap RACE</a:t>
            </a:r>
          </a:p>
          <a:p>
            <a:pPr algn="l"/>
            <a:r>
              <a:rPr b="0" sz="2200">
                <a:solidFill>
                  <a:srgbClr val="1C1C1C"/>
                </a:solidFill>
              </a:rPr>
              <a:t>• Dashboard tygodniowy / miesięczny / kwartalny</a:t>
            </a:r>
          </a:p>
          <a:p>
            <a:pPr algn="l"/>
            <a:r>
              <a:rPr b="0" sz="2200">
                <a:solidFill>
                  <a:srgbClr val="1C1C1C"/>
                </a:solidFill>
              </a:rPr>
              <a:t>• Protokół reakcji na odchylenia</a:t>
            </a:r>
          </a:p>
          <a:p>
            <a:pPr algn="l"/>
            <a:r>
              <a:rPr b="0" sz="2200">
                <a:solidFill>
                  <a:srgbClr val="1C1C1C"/>
                </a:solidFill>
              </a:rPr>
              <a:t>• Model 90-dniowy: Planuj → Wykonaj → Mierz → Dostosuj</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Kontrola to nie ostatni krok — to pierwszy krok kolejnego planu. To jedno zdanie wyraża istotę etapu Kontrola w SOSTAC i odróżnia organizacje, które uczą się i adaptują, od tych, które planują raz w roku i wykonują bez refleksji. Kontrola…</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10:18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16</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SOSTAC — Integracja</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Lecture Block 1: SOSTAC</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Liniowe plany się nie sprawdzają.</a:t>
            </a:r>
          </a:p>
          <a:p>
            <a:pPr algn="l"/>
            <a:r>
              <a:rPr b="0" sz="2200">
                <a:solidFill>
                  <a:srgbClr val="1C1C1C"/>
                </a:solidFill>
              </a:rPr>
              <a:t>• Najczęstszy błąd: skok od Sytuacji prosto do Taktyk, z pominięciem Celów i Strategii.</a:t>
            </a:r>
          </a:p>
          <a:p>
            <a:pPr algn="l"/>
            <a:r>
              <a:rPr b="0" sz="2200">
                <a:solidFill>
                  <a:srgbClr val="1C1C1C"/>
                </a:solidFill>
              </a:rPr>
              <a:t>• SOSTAC — plan, który nie jest linią prostą</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Kiedy patrzymy na SOSTAC jako całość, kluczowe przesłanie jest następujące: etapy SOSTAC nie działają w izolacji. Sytuacja wpływa na Cele, ale wyniki Kontroli mogą zmienić rozumienie Sytuacji jeszcze w trakcie cyklu. Strategia określa,…</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10:21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17</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SOSTAC w Praktyce — Żabka</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Lecture Block 1: SOSTAC</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Kolorystyka: każda kolumna w innym odcieniu (zgodnym z paletą Canva dla ćwiczenia 1).</a:t>
            </a:r>
          </a:p>
          <a:p>
            <a:pPr algn="l"/>
            <a:r>
              <a:rPr b="0" sz="2200">
                <a:solidFill>
                  <a:srgbClr val="1C1C1C"/>
                </a:solidFill>
              </a:rPr>
              <a:t>• Logo Żabki lub stylizowana ikona sklepu convenience w nagłówku slajdu.</a:t>
            </a:r>
          </a:p>
          <a:p>
            <a:pPr algn="l"/>
            <a:r>
              <a:rPr b="0" sz="2200">
                <a:solidFill>
                  <a:srgbClr val="1C1C1C"/>
                </a:solidFill>
              </a:rPr>
              <a:t>• Dane z badań widoczne w kolumnie Sytuacja (10 000+ lokalizacji, 700M+ wizyt).</a:t>
            </a:r>
          </a:p>
          <a:p>
            <a:pPr algn="l"/>
            <a:r>
              <a:rPr b="0" sz="2200">
                <a:solidFill>
                  <a:srgbClr val="1C1C1C"/>
                </a:solidFill>
              </a:rPr>
              <a:t>• W kolumnie Kontrola: "NPS 80+ (vs.</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Przejdźmy teraz przez kompletny przykład SOSTAC na bazie Żabki — sieci, którą wszyscy znacie z codziennego życia w Polsce. Sytuacja: Żabka zarządza ponad dziesięcioma tysiącami lokalizacji i obsługuje rocznie ponad siedemset milionów wizyt…</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10:24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18</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SOSTAC w Praktyce — Nike Consumer Direct Acceleration</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Lecture Block 1: SOSTAC</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NIKE Direct: €21,3B (FY2023)</a:t>
            </a:r>
          </a:p>
          <a:p>
            <a:pPr algn="l"/>
            <a:r>
              <a:rPr b="0" sz="2200">
                <a:solidFill>
                  <a:srgbClr val="1C1C1C"/>
                </a:solidFill>
              </a:rPr>
              <a:t>• NikePlus: 160M członków</a:t>
            </a:r>
          </a:p>
          <a:p>
            <a:pPr algn="l"/>
            <a:r>
              <a:rPr b="0" sz="2200">
                <a:solidFill>
                  <a:srgbClr val="1C1C1C"/>
                </a:solidFill>
              </a:rPr>
              <a:t>• Całkowite przychody Nike: $46,3B (FY2025, -9,84% r/r)</a:t>
            </a:r>
          </a:p>
          <a:p>
            <a:pPr algn="l"/>
            <a:r>
              <a:rPr b="0" sz="2200">
                <a:solidFill>
                  <a:srgbClr val="1C1C1C"/>
                </a:solidFill>
              </a:rPr>
              <a:t>• Trade-off Zasięg vs. Konwersja/Zaangażowanie</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Drugi przykład SOSTAC — Nike Consumer Direct Acceleration, czyli strategia, która stała się globalnym case study zarówno sukcesów, jak i lekcji o niezamierzonych konsekwencjach. Sytuacja: w 2019 roku Nike sprzedawało ponad 65% produktów…</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10:28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19</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Najczęstsze Błędy w SOSTAC</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Lecture Block 1: SOSTAC</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i krótką etykietą. Blok 1:</a:t>
            </a:r>
          </a:p>
          <a:p>
            <a:pPr algn="l"/>
            <a:r>
              <a:rPr b="0" sz="2200">
                <a:solidFill>
                  <a:srgbClr val="1C1C1C"/>
                </a:solidFill>
              </a:rPr>
              <a:t>• Najczęstszy błąd: zaczyna się od kanałów, nie od diagnozy.</a:t>
            </a:r>
          </a:p>
          <a:p>
            <a:pPr algn="l"/>
            <a:r>
              <a:rPr b="0" sz="2200">
                <a:solidFill>
                  <a:srgbClr val="1C1C1C"/>
                </a:solidFill>
              </a:rPr>
              <a:t>• Słabe S — Strategia</a:t>
            </a:r>
          </a:p>
          <a:p>
            <a:pPr algn="l"/>
            <a:r>
              <a:rPr b="0" sz="2200">
                <a:solidFill>
                  <a:srgbClr val="1C1C1C"/>
                </a:solidFill>
              </a:rPr>
              <a:t>• Lista kanałów to nie strategia.</a:t>
            </a:r>
          </a:p>
          <a:p>
            <a:pPr algn="l"/>
            <a:r>
              <a:rPr b="0" sz="2200">
                <a:solidFill>
                  <a:srgbClr val="1C1C1C"/>
                </a:solidFill>
              </a:rPr>
              <a:t>• Kontrola jako dodatek</a:t>
            </a:r>
          </a:p>
          <a:p>
            <a:pPr algn="l"/>
            <a:r>
              <a:rPr b="0" sz="2200">
                <a:solidFill>
                  <a:srgbClr val="1C1C1C"/>
                </a:solidFill>
              </a:rPr>
              <a:t>• Mierzenie wyników 'jak będzie czas' to brak Kontroli.</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Zanim przejdziemy do ćwiczenia, podsumujmy cztery błędy, które najczęściej pozbawiają SOSTAC jego wartości. Pierwszy i najpoważniejszy: zaczynanie od taktyk — "Co robimy na Instagramie?" zamiast "Gdzie jesteśmy i gdzie chcemy być?". To jak…</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10:33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37160"/>
            <a:ext cx="914400" cy="365760"/>
          </a:xfrm>
          <a:prstGeom prst="rect">
            <a:avLst/>
          </a:prstGeom>
          <a:noFill/>
        </p:spPr>
        <p:txBody>
          <a:bodyPr wrap="square">
            <a:spAutoFit/>
          </a:bodyPr>
          <a:lstStyle/>
          <a:p>
            <a:pPr algn="l"/>
            <a:r>
              <a:rPr b="1" i="0" sz="1100">
                <a:solidFill>
                  <a:srgbClr val="8892A4"/>
                </a:solidFill>
              </a:rPr>
              <a:t>Slide 20</a:t>
            </a:r>
          </a:p>
        </p:txBody>
      </p:sp>
      <p:sp>
        <p:nvSpPr>
          <p:cNvPr id="5" name="TextBox 4"/>
          <p:cNvSpPr txBox="1"/>
          <p:nvPr/>
        </p:nvSpPr>
        <p:spPr>
          <a:xfrm>
            <a:off x="201168" y="320040"/>
            <a:ext cx="11786616" cy="1280160"/>
          </a:xfrm>
          <a:prstGeom prst="rect">
            <a:avLst/>
          </a:prstGeom>
          <a:noFill/>
        </p:spPr>
        <p:txBody>
          <a:bodyPr wrap="square">
            <a:spAutoFit/>
          </a:bodyPr>
          <a:lstStyle/>
          <a:p>
            <a:pPr algn="l"/>
            <a:r>
              <a:rPr b="1" i="0" sz="3200">
                <a:solidFill>
                  <a:srgbClr val="FFFFFF"/>
                </a:solidFill>
              </a:rPr>
              <a:t>Przejście do Warsztatu 1</a:t>
            </a:r>
          </a:p>
        </p:txBody>
      </p:sp>
      <p:sp>
        <p:nvSpPr>
          <p:cNvPr id="6" name="TextBox 5"/>
          <p:cNvSpPr txBox="1"/>
          <p:nvPr/>
        </p:nvSpPr>
        <p:spPr>
          <a:xfrm>
            <a:off x="8897112" y="128016"/>
            <a:ext cx="3108960" cy="310896"/>
          </a:xfrm>
          <a:prstGeom prst="rect">
            <a:avLst/>
          </a:prstGeom>
          <a:noFill/>
        </p:spPr>
        <p:txBody>
          <a:bodyPr wrap="square">
            <a:spAutoFit/>
          </a:bodyPr>
          <a:lstStyle/>
          <a:p>
            <a:pPr algn="r"/>
            <a:r>
              <a:rPr b="0" i="0" sz="900">
                <a:solidFill>
                  <a:srgbClr val="F5C518"/>
                </a:solidFill>
              </a:rPr>
              <a:t>Workshop 1 — Transition</a:t>
            </a:r>
          </a:p>
        </p:txBody>
      </p:sp>
      <p:sp>
        <p:nvSpPr>
          <p:cNvPr id="7" name="TextBox 6"/>
          <p:cNvSpPr txBox="1"/>
          <p:nvPr/>
        </p:nvSpPr>
        <p:spPr>
          <a:xfrm>
            <a:off x="201168" y="1691640"/>
            <a:ext cx="11786616" cy="1828800"/>
          </a:xfrm>
          <a:prstGeom prst="rect">
            <a:avLst/>
          </a:prstGeom>
          <a:noFill/>
        </p:spPr>
        <p:txBody>
          <a:bodyPr wrap="square">
            <a:spAutoFit/>
          </a:bodyPr>
          <a:lstStyle/>
          <a:p>
            <a:pPr algn="l"/>
            <a:r>
              <a:rPr b="0" i="0" sz="2800">
                <a:solidFill>
                  <a:srgbClr val="F0F4FF"/>
                </a:solidFill>
              </a:rPr>
              <a:t>Dobra — mamy za sobą teorię SOSTAC. Teraz czas, żeby ją zastosować. Przez następne trzydzieści minut każda grupa wykona audyt sytuacyjny dla marki, którą wybrała na ćwiczenie</a:t>
            </a:r>
          </a:p>
        </p:txBody>
      </p:sp>
      <p:sp>
        <p:nvSpPr>
          <p:cNvPr id="8" name="TextBox 7"/>
          <p:cNvSpPr txBox="1"/>
          <p:nvPr/>
        </p:nvSpPr>
        <p:spPr>
          <a:xfrm>
            <a:off x="201168" y="3703320"/>
            <a:ext cx="11786616" cy="2743200"/>
          </a:xfrm>
          <a:prstGeom prst="rect">
            <a:avLst/>
          </a:prstGeom>
          <a:noFill/>
        </p:spPr>
        <p:txBody>
          <a:bodyPr wrap="square">
            <a:spAutoFit/>
          </a:bodyPr>
          <a:lstStyle/>
          <a:p>
            <a:pPr algn="l"/>
            <a:r>
              <a:rPr b="0" sz="2200">
                <a:solidFill>
                  <a:srgbClr val="D0D4DD"/>
                </a:solidFill>
              </a:rPr>
              <a:t>• Czas na ćwiczenia</a:t>
            </a:r>
          </a:p>
          <a:p>
            <a:pPr algn="l"/>
            <a:r>
              <a:rPr b="0" sz="2200">
                <a:solidFill>
                  <a:srgbClr val="D0D4DD"/>
                </a:solidFill>
              </a:rPr>
              <a:t>• Warsztat 1 — Audyt Sytuacyjny SOSTAC</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F5C518"/>
                </a:solidFill>
              </a:rPr>
              <a:t>Cel: 10:36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21</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Warsztat 1 — Instrukcja</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Workshop 1 — Instruction</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Uzupełnijcie planszę SOSTAC dla wybranej marki — skup się głównie na kolumnie Sytuacja.</a:t>
            </a:r>
          </a:p>
          <a:p>
            <a:pPr algn="l"/>
            <a:r>
              <a:rPr b="0" sz="2200">
                <a:solidFill>
                  <a:srgbClr val="1C1C1C"/>
                </a:solidFill>
              </a:rPr>
              <a:t>• 30 minut (do 11:00) | Wynik: uzupełniona plansza SOSTAC z sześcioma sekcjami.</a:t>
            </a:r>
          </a:p>
          <a:p>
            <a:pPr algn="l"/>
            <a:r>
              <a:rPr b="0" sz="2200">
                <a:solidFill>
                  <a:srgbClr val="1C1C1C"/>
                </a:solidFill>
              </a:rPr>
              <a:t>• Canva Whiteboard — wejdźcie przez QR kod.</a:t>
            </a:r>
          </a:p>
          <a:p>
            <a:pPr algn="l"/>
            <a:r>
              <a:rPr b="0" sz="2200">
                <a:solidFill>
                  <a:srgbClr val="1C1C1C"/>
                </a:solidFill>
              </a:rPr>
              <a:t>• Poniżej ramki: lista sugestii —</a:t>
            </a:r>
          </a:p>
          <a:p>
            <a:pPr algn="l"/>
            <a:r>
              <a:rPr b="0" sz="2200">
                <a:solidFill>
                  <a:srgbClr val="1C1C1C"/>
                </a:solidFill>
              </a:rPr>
              <a:t>• Małymi literami:</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Oto instrukcja do Warsztatu pierwszego. Wasze zadanie to uzupełnienie planszy SOSTAC dla wybranej marki — główny nacisk kładziemy na kolumnę Sytuacja, bo to jest fundament całego planu. Pozostałe pięć kolumn wypełniajcie w miarę…</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10:38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22</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Warsztat 1 — Przykład (Żabka Situation Audit)</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Workshop 1 — Example</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Kolumna Sytuacja zawiera cztery karteczki (w kolorze niebieskim zgodnie z paletą ćwiczenia</a:t>
            </a:r>
          </a:p>
          <a:p>
            <a:pPr algn="l"/>
            <a:r>
              <a:rPr b="0" sz="2200">
                <a:solidFill>
                  <a:srgbClr val="1C1C1C"/>
                </a:solidFill>
              </a:rPr>
              <a:t>• sklepów autonomicznych (P)." Pozostałe pięć kolumn (Cele, Strategia, Taktyki, Działania, K</a:t>
            </a:r>
          </a:p>
          <a:p>
            <a:pPr algn="l"/>
            <a:r>
              <a:rPr b="0" sz="2200">
                <a:solidFill>
                  <a:srgbClr val="1C1C1C"/>
                </a:solidFill>
              </a:rPr>
              <a:t>• Legenda kolorów widoczna w rogu: Sytuacja = niebieski, Cele = zielony, Strategia = żółty, </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To jest przykład, jak powinna wyglądać wypełniona kolumna Sytuacja — w tym przypadku dla Żabki. Zauważcie, że karteczki są konkretne, ale zwięzłe — jedna obserwacja, jedno zdanie. To nie jest miejsce na elaboraty — to miejsce na kluczowe…</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10:42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41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88A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37160"/>
            <a:ext cx="914400" cy="365760"/>
          </a:xfrm>
          <a:prstGeom prst="rect">
            <a:avLst/>
          </a:prstGeom>
          <a:noFill/>
        </p:spPr>
        <p:txBody>
          <a:bodyPr wrap="square">
            <a:spAutoFit/>
          </a:bodyPr>
          <a:lstStyle/>
          <a:p>
            <a:pPr algn="l"/>
            <a:r>
              <a:rPr b="1" i="0" sz="1100">
                <a:solidFill>
                  <a:srgbClr val="8892A4"/>
                </a:solidFill>
              </a:rPr>
              <a:t>Slide 23</a:t>
            </a:r>
          </a:p>
        </p:txBody>
      </p:sp>
      <p:sp>
        <p:nvSpPr>
          <p:cNvPr id="5" name="TextBox 4"/>
          <p:cNvSpPr txBox="1"/>
          <p:nvPr/>
        </p:nvSpPr>
        <p:spPr>
          <a:xfrm>
            <a:off x="201168" y="320040"/>
            <a:ext cx="11786616" cy="1280160"/>
          </a:xfrm>
          <a:prstGeom prst="rect">
            <a:avLst/>
          </a:prstGeom>
          <a:noFill/>
        </p:spPr>
        <p:txBody>
          <a:bodyPr wrap="square">
            <a:spAutoFit/>
          </a:bodyPr>
          <a:lstStyle/>
          <a:p>
            <a:pPr algn="l"/>
            <a:r>
              <a:rPr b="1" i="0" sz="3200">
                <a:solidFill>
                  <a:srgbClr val="FFFFFF"/>
                </a:solidFill>
              </a:rPr>
              <a:t>Przerwa — 15 Minut</a:t>
            </a:r>
          </a:p>
        </p:txBody>
      </p:sp>
      <p:sp>
        <p:nvSpPr>
          <p:cNvPr id="6" name="TextBox 5"/>
          <p:cNvSpPr txBox="1"/>
          <p:nvPr/>
        </p:nvSpPr>
        <p:spPr>
          <a:xfrm>
            <a:off x="8897112" y="128016"/>
            <a:ext cx="3108960" cy="310896"/>
          </a:xfrm>
          <a:prstGeom prst="rect">
            <a:avLst/>
          </a:prstGeom>
          <a:noFill/>
        </p:spPr>
        <p:txBody>
          <a:bodyPr wrap="square">
            <a:spAutoFit/>
          </a:bodyPr>
          <a:lstStyle/>
          <a:p>
            <a:pPr algn="r"/>
            <a:r>
              <a:rPr b="0" i="0" sz="900">
                <a:solidFill>
                  <a:srgbClr val="88AAFF"/>
                </a:solidFill>
              </a:rPr>
              <a:t>Przerwa</a:t>
            </a:r>
          </a:p>
        </p:txBody>
      </p:sp>
      <p:sp>
        <p:nvSpPr>
          <p:cNvPr id="7" name="TextBox 6"/>
          <p:cNvSpPr txBox="1"/>
          <p:nvPr/>
        </p:nvSpPr>
        <p:spPr>
          <a:xfrm>
            <a:off x="201168" y="1965960"/>
            <a:ext cx="11786616" cy="1280160"/>
          </a:xfrm>
          <a:prstGeom prst="rect">
            <a:avLst/>
          </a:prstGeom>
          <a:noFill/>
        </p:spPr>
        <p:txBody>
          <a:bodyPr wrap="square">
            <a:spAutoFit/>
          </a:bodyPr>
          <a:lstStyle/>
          <a:p>
            <a:pPr algn="ctr"/>
            <a:r>
              <a:rPr b="1" i="0" sz="3600">
                <a:solidFill>
                  <a:srgbClr val="FFFFFF"/>
                </a:solidFill>
              </a:rPr>
              <a:t>Zasłużona przerwa — macie piętnaście minut. Wróćcie o jedenastej piętnastej.</a:t>
            </a:r>
          </a:p>
        </p:txBody>
      </p:sp>
      <p:sp>
        <p:nvSpPr>
          <p:cNvPr id="8" name="TextBox 7"/>
          <p:cNvSpPr txBox="1"/>
          <p:nvPr/>
        </p:nvSpPr>
        <p:spPr>
          <a:xfrm>
            <a:off x="201168" y="3337560"/>
            <a:ext cx="11786616" cy="548640"/>
          </a:xfrm>
          <a:prstGeom prst="rect">
            <a:avLst/>
          </a:prstGeom>
          <a:noFill/>
        </p:spPr>
        <p:txBody>
          <a:bodyPr wrap="square">
            <a:spAutoFit/>
          </a:bodyPr>
          <a:lstStyle/>
          <a:p>
            <a:pPr algn="ctr"/>
            <a:r>
              <a:rPr b="0" i="0" sz="2000">
                <a:solidFill>
                  <a:srgbClr val="8892A4"/>
                </a:solidFill>
              </a:rPr>
              <a:t>Cel: 11:00</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88AAFF"/>
                </a:solidFill>
              </a:rPr>
              <a:t>Cel: 11:00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24</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Witamy Po Przerwie — Kontekst RACE</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Lecture Block 2: RACE</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SOSTAC = jak planujemy.</a:t>
            </a:r>
          </a:p>
          <a:p>
            <a:pPr algn="l"/>
            <a:r>
              <a:rPr b="0" sz="2200">
                <a:solidFill>
                  <a:srgbClr val="1C1C1C"/>
                </a:solidFill>
              </a:rPr>
              <a:t>• RACE = jak egzekwujemy plan na ścieżce klienta.</a:t>
            </a:r>
          </a:p>
          <a:p>
            <a:pPr algn="l"/>
            <a:r>
              <a:rPr b="0" sz="2200">
                <a:solidFill>
                  <a:srgbClr val="1C1C1C"/>
                </a:solidFill>
              </a:rPr>
              <a:t>• SOSTAC → RACE</a:t>
            </a:r>
          </a:p>
          <a:p>
            <a:pPr algn="l"/>
            <a:r>
              <a:rPr b="0" sz="2200">
                <a:solidFill>
                  <a:srgbClr val="1C1C1C"/>
                </a:solidFill>
              </a:rPr>
              <a:t>• Pamiętacie kolumnę Taktyki? Tu właśnie RACE wchodzi do gry.</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Witajcie z powrotem. Przed przerwą zbudowaliście szkielet planu marketingowego dla waszej marki, korzystając z SOSTAC. Teraz poznamy narzędzie, które pozwala wam wypełnić kolumnę Taktyki w SOSTAC treścią — czyli RACE. RACE to framework…</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11:15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25</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RACE — Przegląd: Cykl, Nie Lejek</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Lecture Block 2: RACE</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Zaangażowani klienci = nowy Zasięg</a:t>
            </a:r>
          </a:p>
          <a:p>
            <a:pPr algn="l"/>
            <a:r>
              <a:rPr b="0" sz="2200">
                <a:solidFill>
                  <a:srgbClr val="1C1C1C"/>
                </a:solidFill>
              </a:rPr>
              <a:t>• RACE — to cykl, nie lejek.</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Pierwsza i najważniejsza rzecz, którą musicie zapamiętać o RACE: to nie jest lejek. Tradycyjny lejek marketingowy jest liniowy i jednostronny — klient przechodzi przez świadomość, zainteresowanie, zakup i znika. RACE zakłada coś innego:…</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11:18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26</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R — Zasięg (Reach)</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FFFFFF"/>
                </a:solidFill>
              </a:rPr>
              <a:t>Lecture Block 2: RACE</a:t>
            </a:r>
          </a:p>
        </p:txBody>
      </p:sp>
      <p:sp>
        <p:nvSpPr>
          <p:cNvPr id="6" name="Rectangle 5"/>
          <p:cNvSpPr/>
          <p:nvPr/>
        </p:nvSpPr>
        <p:spPr>
          <a:xfrm>
            <a:off x="0" y="960120"/>
            <a:ext cx="64008" cy="589788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Ruch organiczny = 53% całego ruchu na stronach</a:t>
            </a:r>
          </a:p>
          <a:p>
            <a:pPr algn="l"/>
            <a:r>
              <a:rPr b="0" sz="2200">
                <a:solidFill>
                  <a:srgbClr val="1C1C1C"/>
                </a:solidFill>
              </a:rPr>
              <a:t>• YouTube: 24,4 mln Polaków miesięcznie | TikTok: 13,8 mln użytkowników, 53 min/dzień</a:t>
            </a:r>
          </a:p>
        </p:txBody>
      </p:sp>
      <p:sp>
        <p:nvSpPr>
          <p:cNvPr id="8" name="Rectangle 7"/>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Pierwszy etap RACE to Zasięg — po angielsku Reach. Zasięg odpowiada na pytanie: jak budujemy widoczność i świadomość marki, zanim klient nas w ogóle rozważy? To jest praca, która dzieje się zanim klient trafi na naszą stronę, przed…</a:t>
            </a:r>
          </a:p>
        </p:txBody>
      </p:sp>
      <p:sp>
        <p:nvSpPr>
          <p:cNvPr id="10" name="TextBox 9"/>
          <p:cNvSpPr txBox="1"/>
          <p:nvPr/>
        </p:nvSpPr>
        <p:spPr>
          <a:xfrm>
            <a:off x="10268712" y="6510528"/>
            <a:ext cx="1737360" cy="292608"/>
          </a:xfrm>
          <a:prstGeom prst="rect">
            <a:avLst/>
          </a:prstGeom>
          <a:noFill/>
        </p:spPr>
        <p:txBody>
          <a:bodyPr wrap="square">
            <a:spAutoFit/>
          </a:bodyPr>
          <a:lstStyle/>
          <a:p>
            <a:pPr algn="r"/>
            <a:r>
              <a:rPr b="1" i="0" sz="1200">
                <a:solidFill>
                  <a:srgbClr val="0070C0"/>
                </a:solidFill>
              </a:rPr>
              <a:t>Cel: 11:23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27</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Zasięg — Porównanie Platform w Polsce</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FFFFFF"/>
                </a:solidFill>
              </a:rPr>
              <a:t>Lecture Block 2: RACE</a:t>
            </a:r>
          </a:p>
        </p:txBody>
      </p:sp>
      <p:sp>
        <p:nvSpPr>
          <p:cNvPr id="6" name="Rectangle 5"/>
          <p:cNvSpPr/>
          <p:nvPr/>
        </p:nvSpPr>
        <p:spPr>
          <a:xfrm>
            <a:off x="0" y="960120"/>
            <a:ext cx="64008" cy="589788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Który kanał wybierasz dla Zasięgu?</a:t>
            </a:r>
          </a:p>
          <a:p>
            <a:pPr algn="l"/>
            <a:r>
              <a:rPr b="0" sz="2200">
                <a:solidFill>
                  <a:srgbClr val="1C1C1C"/>
                </a:solidFill>
              </a:rPr>
              <a:t>• YouTube = największy zasięg</a:t>
            </a:r>
          </a:p>
          <a:p>
            <a:pPr algn="l"/>
            <a:r>
              <a:rPr b="0" sz="2200">
                <a:solidFill>
                  <a:srgbClr val="1C1C1C"/>
                </a:solidFill>
              </a:rPr>
              <a:t>• TikTok = najwyższe zaangażowanie czasowe</a:t>
            </a:r>
          </a:p>
        </p:txBody>
      </p:sp>
      <p:sp>
        <p:nvSpPr>
          <p:cNvPr id="8" name="Rectangle 7"/>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Przyjrzyjmy się polskiemu rynkowi platform bliżej — bo wybór kanału zasięgowego w Polsce to decyzja strategiczna, a dane wskazują na wyraźne różnice. YouTube ma największy surowy zasięg w Polsce — 24,4 miliona użytkowników miesięcznie, co…</a:t>
            </a:r>
          </a:p>
        </p:txBody>
      </p:sp>
      <p:sp>
        <p:nvSpPr>
          <p:cNvPr id="10" name="TextBox 9"/>
          <p:cNvSpPr txBox="1"/>
          <p:nvPr/>
        </p:nvSpPr>
        <p:spPr>
          <a:xfrm>
            <a:off x="10268712" y="6510528"/>
            <a:ext cx="1737360" cy="292608"/>
          </a:xfrm>
          <a:prstGeom prst="rect">
            <a:avLst/>
          </a:prstGeom>
          <a:noFill/>
        </p:spPr>
        <p:txBody>
          <a:bodyPr wrap="square">
            <a:spAutoFit/>
          </a:bodyPr>
          <a:lstStyle/>
          <a:p>
            <a:pPr algn="r"/>
            <a:r>
              <a:rPr b="1" i="0" sz="1200">
                <a:solidFill>
                  <a:srgbClr val="0070C0"/>
                </a:solidFill>
              </a:rPr>
              <a:t>Cel: 11:27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28</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A — Aktywacja (Act)</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FFFFFF"/>
                </a:solidFill>
              </a:rPr>
              <a:t>Lecture Block 2: RACE</a:t>
            </a:r>
          </a:p>
        </p:txBody>
      </p:sp>
      <p:sp>
        <p:nvSpPr>
          <p:cNvPr id="6" name="Rectangle 5"/>
          <p:cNvSpPr/>
          <p:nvPr/>
        </p:nvSpPr>
        <p:spPr>
          <a:xfrm>
            <a:off x="0" y="960120"/>
            <a:ext cx="64008" cy="589788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Duże "A" w kole zielonym w lewym górnym rogu z podpisem "Aktywacja (Act)".</a:t>
            </a:r>
          </a:p>
          <a:p>
            <a:pPr algn="l"/>
            <a:r>
              <a:rPr b="0" sz="2200">
                <a:solidFill>
                  <a:srgbClr val="1C1C1C"/>
                </a:solidFill>
              </a:rPr>
              <a:t>• Lewa: kanały z zielonymi ikonami — Content Marketing, Email Nurture, Landing Pages, Intera</a:t>
            </a:r>
          </a:p>
          <a:p>
            <a:pPr algn="l"/>
            <a:r>
              <a:rPr b="0" sz="2200">
                <a:solidFill>
                  <a:srgbClr val="1C1C1C"/>
                </a:solidFill>
              </a:rPr>
              <a:t>• Prawa: KPI — czas spędzony na stronie, liczba stron na sesję, współczynnik klikalności w e</a:t>
            </a:r>
          </a:p>
          <a:p>
            <a:pPr algn="l"/>
            <a:r>
              <a:rPr b="0" sz="2200">
                <a:solidFill>
                  <a:srgbClr val="1C1C1C"/>
                </a:solidFill>
              </a:rPr>
              <a:t>• Dół slajdu: pasek statystyki na zielonym tle: "93% marketerów mówi, że personalizacja popr</a:t>
            </a:r>
          </a:p>
        </p:txBody>
      </p:sp>
      <p:sp>
        <p:nvSpPr>
          <p:cNvPr id="8" name="Rectangle 7"/>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Drugi etap RACE to Aktywacja — po angielsku Act lub Interact. Aktywacja pyta: co robi odwiedzający naszą stronę zanim dokona zakupu? Jak skłaniamy kogoś, kto nas odkrył, do głębszej interakcji? Aktywacja to etap między "słyszałem o tej…</a:t>
            </a:r>
          </a:p>
        </p:txBody>
      </p:sp>
      <p:sp>
        <p:nvSpPr>
          <p:cNvPr id="10" name="TextBox 9"/>
          <p:cNvSpPr txBox="1"/>
          <p:nvPr/>
        </p:nvSpPr>
        <p:spPr>
          <a:xfrm>
            <a:off x="10268712" y="6510528"/>
            <a:ext cx="1737360" cy="292608"/>
          </a:xfrm>
          <a:prstGeom prst="rect">
            <a:avLst/>
          </a:prstGeom>
          <a:noFill/>
        </p:spPr>
        <p:txBody>
          <a:bodyPr wrap="square">
            <a:spAutoFit/>
          </a:bodyPr>
          <a:lstStyle/>
          <a:p>
            <a:pPr algn="r"/>
            <a:r>
              <a:rPr b="1" i="0" sz="1200">
                <a:solidFill>
                  <a:srgbClr val="70AD47"/>
                </a:solidFill>
              </a:rPr>
              <a:t>Cel: 11:31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29</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Aktywacja — Przykład IKEA: AR Usuwa Barierę</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FFFFFF"/>
                </a:solidFill>
              </a:rPr>
              <a:t>Lecture Block 2: RACE</a:t>
            </a:r>
          </a:p>
        </p:txBody>
      </p:sp>
      <p:sp>
        <p:nvSpPr>
          <p:cNvPr id="6" name="Rectangle 5"/>
          <p:cNvSpPr/>
          <p:nvPr/>
        </p:nvSpPr>
        <p:spPr>
          <a:xfrm>
            <a:off x="0" y="960120"/>
            <a:ext cx="64008" cy="589788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Lewa strona: uproszczona grafika lub ikona przedstawiająca aplikację AR z widokiem mebla w</a:t>
            </a:r>
          </a:p>
          <a:p>
            <a:pPr algn="l"/>
            <a:r>
              <a:rPr b="0" sz="2200">
                <a:solidFill>
                  <a:srgbClr val="1C1C1C"/>
                </a:solidFill>
              </a:rPr>
              <a:t>• Prawa strona: dwa bloki tekstowe.</a:t>
            </a:r>
          </a:p>
          <a:p>
            <a:pPr algn="l"/>
            <a:r>
              <a:rPr b="0" sz="2200">
                <a:solidFill>
                  <a:srgbClr val="1C1C1C"/>
                </a:solidFill>
              </a:rPr>
              <a:t>• Blok górny: "Problem Aktywacji IKEA: 4,6 miliarda wizyt rocznie — ale trudno wyobrazić sob</a:t>
            </a:r>
          </a:p>
          <a:p>
            <a:pPr algn="l"/>
            <a:r>
              <a:rPr b="0" sz="2200">
                <a:solidFill>
                  <a:srgbClr val="1C1C1C"/>
                </a:solidFill>
              </a:rPr>
              <a:t>• | E-commerce ~7% przychodów (szacunkowe).</a:t>
            </a:r>
          </a:p>
        </p:txBody>
      </p:sp>
      <p:sp>
        <p:nvSpPr>
          <p:cNvPr id="8" name="Rectangle 7"/>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Najlepszym przykładem inwestycji na poziomie Aktywacji jest IKEA. IKEA to największy sprzedawca mebli na świecie — 504 sklepy i 4,6 miliarda wizyt na stronie internetowej rocznie. Brzmi jak ogromny Zasięg, prawda? Problem polegał na tym,…</a:t>
            </a:r>
          </a:p>
        </p:txBody>
      </p:sp>
      <p:sp>
        <p:nvSpPr>
          <p:cNvPr id="10" name="TextBox 9"/>
          <p:cNvSpPr txBox="1"/>
          <p:nvPr/>
        </p:nvSpPr>
        <p:spPr>
          <a:xfrm>
            <a:off x="10268712" y="6510528"/>
            <a:ext cx="1737360" cy="292608"/>
          </a:xfrm>
          <a:prstGeom prst="rect">
            <a:avLst/>
          </a:prstGeom>
          <a:noFill/>
        </p:spPr>
        <p:txBody>
          <a:bodyPr wrap="square">
            <a:spAutoFit/>
          </a:bodyPr>
          <a:lstStyle/>
          <a:p>
            <a:pPr algn="r"/>
            <a:r>
              <a:rPr b="1" i="0" sz="1200">
                <a:solidFill>
                  <a:srgbClr val="70AD47"/>
                </a:solidFill>
              </a:rPr>
              <a:t>Cel: 11:35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30</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C — Konwersja (Convert)</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FFFFFF"/>
                </a:solidFill>
              </a:rPr>
              <a:t>Lecture Block 2: RACE</a:t>
            </a:r>
          </a:p>
        </p:txBody>
      </p:sp>
      <p:sp>
        <p:nvSpPr>
          <p:cNvPr id="6" name="Rectangle 5"/>
          <p:cNvSpPr/>
          <p:nvPr/>
        </p:nvSpPr>
        <p:spPr>
          <a:xfrm>
            <a:off x="0" y="960120"/>
            <a:ext cx="64008" cy="589788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77% wizyt w e-commerce = urządzenia mobilne (Shopify/Statista 2025)</a:t>
            </a:r>
          </a:p>
          <a:p>
            <a:pPr algn="l"/>
            <a:r>
              <a:rPr b="0" sz="2200">
                <a:solidFill>
                  <a:srgbClr val="1C1C1C"/>
                </a:solidFill>
              </a:rPr>
              <a:t>• BLIK: 68% polskich zakupów online (+5pp r/r)</a:t>
            </a:r>
          </a:p>
          <a:p>
            <a:pPr algn="l"/>
            <a:r>
              <a:rPr b="0" sz="2200">
                <a:solidFill>
                  <a:srgbClr val="1C1C1C"/>
                </a:solidFill>
              </a:rPr>
              <a:t>• 81% Polaków woli paczkomaty do odbioru przesyłek</a:t>
            </a:r>
          </a:p>
        </p:txBody>
      </p:sp>
      <p:sp>
        <p:nvSpPr>
          <p:cNvPr id="8" name="Rectangle 7"/>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Trzeci etap RACE to Konwersja — Convert. Konwersja to moment, w którym zainteresowanie zamienia się w transakcję. To etap, na którym większość firm skupia najwięcej uwagi — bo wyniki są tu najłatwiej mierzalne. Ale bez pracy na poziomie…</a:t>
            </a:r>
          </a:p>
        </p:txBody>
      </p:sp>
      <p:sp>
        <p:nvSpPr>
          <p:cNvPr id="10" name="TextBox 9"/>
          <p:cNvSpPr txBox="1"/>
          <p:nvPr/>
        </p:nvSpPr>
        <p:spPr>
          <a:xfrm>
            <a:off x="10268712" y="6510528"/>
            <a:ext cx="1737360" cy="292608"/>
          </a:xfrm>
          <a:prstGeom prst="rect">
            <a:avLst/>
          </a:prstGeom>
          <a:noFill/>
        </p:spPr>
        <p:txBody>
          <a:bodyPr wrap="square">
            <a:spAutoFit/>
          </a:bodyPr>
          <a:lstStyle/>
          <a:p>
            <a:pPr algn="r"/>
            <a:r>
              <a:rPr b="1" i="0" sz="1200">
                <a:solidFill>
                  <a:srgbClr val="ED7D31"/>
                </a:solidFill>
              </a:rPr>
              <a:t>Cel: 11:40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31</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Konwersja — Przykład Zalando: Darmowe Zwroty jako CVP</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FFFFFF"/>
                </a:solidFill>
              </a:rPr>
              <a:t>Lecture Block 2: RACE</a:t>
            </a:r>
          </a:p>
        </p:txBody>
      </p:sp>
      <p:sp>
        <p:nvSpPr>
          <p:cNvPr id="6" name="Rectangle 5"/>
          <p:cNvSpPr/>
          <p:nvPr/>
        </p:nvSpPr>
        <p:spPr>
          <a:xfrm>
            <a:off x="0" y="960120"/>
            <a:ext cx="64008" cy="589788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Zalando — darmowe zwroty od 2008 roku: nie promocja, lecz decyzja produktowa.</a:t>
            </a:r>
          </a:p>
          <a:p>
            <a:pPr algn="l"/>
            <a:r>
              <a:rPr b="0" sz="2200">
                <a:solidFill>
                  <a:srgbClr val="1C1C1C"/>
                </a:solidFill>
              </a:rPr>
              <a:t>• Kluczowy insight wytłuszczony na dole:</a:t>
            </a:r>
          </a:p>
        </p:txBody>
      </p:sp>
      <p:sp>
        <p:nvSpPr>
          <p:cNvPr id="8" name="Rectangle 7"/>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Zalando to jeden z najlepszych przykładów myślenia strategicznego o etapie Konwersji. Zalando — 10,6 miliarda euro przychodów w 2024 roku, 51 milionów aktywnych użytkowników w 25 krajach europejskich — zbudowało swoją pozycję rynkową w…</a:t>
            </a:r>
          </a:p>
        </p:txBody>
      </p:sp>
      <p:sp>
        <p:nvSpPr>
          <p:cNvPr id="10" name="TextBox 9"/>
          <p:cNvSpPr txBox="1"/>
          <p:nvPr/>
        </p:nvSpPr>
        <p:spPr>
          <a:xfrm>
            <a:off x="10268712" y="6510528"/>
            <a:ext cx="1737360" cy="292608"/>
          </a:xfrm>
          <a:prstGeom prst="rect">
            <a:avLst/>
          </a:prstGeom>
          <a:noFill/>
        </p:spPr>
        <p:txBody>
          <a:bodyPr wrap="square">
            <a:spAutoFit/>
          </a:bodyPr>
          <a:lstStyle/>
          <a:p>
            <a:pPr algn="r"/>
            <a:r>
              <a:rPr b="1" i="0" sz="1200">
                <a:solidFill>
                  <a:srgbClr val="ED7D31"/>
                </a:solidFill>
              </a:rPr>
              <a:t>Cel: 11:44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7B2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32</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E — Zaangażowanie (Engage)</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FFFFFF"/>
                </a:solidFill>
              </a:rPr>
              <a:t>Lecture Block 2: RACE</a:t>
            </a:r>
          </a:p>
        </p:txBody>
      </p:sp>
      <p:sp>
        <p:nvSpPr>
          <p:cNvPr id="6" name="Rectangle 5"/>
          <p:cNvSpPr/>
          <p:nvPr/>
        </p:nvSpPr>
        <p:spPr>
          <a:xfrm>
            <a:off x="0" y="960120"/>
            <a:ext cx="64008" cy="5897880"/>
          </a:xfrm>
          <a:prstGeom prst="rect">
            <a:avLst/>
          </a:prstGeom>
          <a:solidFill>
            <a:srgbClr val="7B2F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Email Automation (retencja), Program lojalnościowy, Budowanie społeczności, Treśc</a:t>
            </a:r>
          </a:p>
          <a:p>
            <a:pPr algn="l"/>
            <a:r>
              <a:rPr b="0" sz="2200">
                <a:solidFill>
                  <a:srgbClr val="1C1C1C"/>
                </a:solidFill>
              </a:rPr>
              <a:t>• Customer Lifetime Value (CLV), Net Promoter Score (NPS), wskaźnik powtórnych zaku</a:t>
            </a:r>
          </a:p>
        </p:txBody>
      </p:sp>
      <p:sp>
        <p:nvSpPr>
          <p:cNvPr id="8" name="Rectangle 7"/>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Czwarty i ostatni etap RACE to Zaangażowanie — Engage. To etap, który większość firm traktuje jak "miły dodatek" do budżetu marketingowego — i to jest jeden z najkosztowniejszych błędów strategicznych. Zaangażowanie odpowiada na pytanie:…</a:t>
            </a:r>
          </a:p>
        </p:txBody>
      </p:sp>
      <p:sp>
        <p:nvSpPr>
          <p:cNvPr id="10" name="TextBox 9"/>
          <p:cNvSpPr txBox="1"/>
          <p:nvPr/>
        </p:nvSpPr>
        <p:spPr>
          <a:xfrm>
            <a:off x="10268712" y="6510528"/>
            <a:ext cx="1737360" cy="292608"/>
          </a:xfrm>
          <a:prstGeom prst="rect">
            <a:avLst/>
          </a:prstGeom>
          <a:noFill/>
        </p:spPr>
        <p:txBody>
          <a:bodyPr wrap="square">
            <a:spAutoFit/>
          </a:bodyPr>
          <a:lstStyle/>
          <a:p>
            <a:pPr algn="r"/>
            <a:r>
              <a:rPr b="1" i="0" sz="1200">
                <a:solidFill>
                  <a:srgbClr val="7B2FBE"/>
                </a:solidFill>
              </a:rPr>
              <a:t>Cel: 11:48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33</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Zaangażowanie — Przykład Spotify Wrapped: Engage Tworzy Zasięg</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FFFFFF"/>
                </a:solidFill>
              </a:rPr>
              <a:t>Lecture Block 2: RACE</a:t>
            </a:r>
          </a:p>
        </p:txBody>
      </p:sp>
      <p:sp>
        <p:nvSpPr>
          <p:cNvPr id="6" name="Rectangle 5"/>
          <p:cNvSpPr/>
          <p:nvPr/>
        </p:nvSpPr>
        <p:spPr>
          <a:xfrm>
            <a:off x="0" y="960120"/>
            <a:ext cx="64008" cy="589788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Spotify Wrapped</a:t>
            </a:r>
          </a:p>
          <a:p>
            <a:pPr algn="l"/>
            <a:r>
              <a:rPr b="0" sz="2200">
                <a:solidFill>
                  <a:srgbClr val="1C1C1C"/>
                </a:solidFill>
              </a:rPr>
              <a:t>• Spotify Wrapped: 12 miesięcy słuchania → 1 wydarzenie tożsamościowe.</a:t>
            </a:r>
          </a:p>
          <a:p>
            <a:pPr algn="l"/>
            <a:r>
              <a:rPr b="0" sz="2200">
                <a:solidFill>
                  <a:srgbClr val="1C1C1C"/>
                </a:solidFill>
              </a:rPr>
              <a:t>• Mechanizm: personalizacja danych słuchacza jako treść do udostępnienia publicznie.</a:t>
            </a:r>
          </a:p>
          <a:p>
            <a:pPr algn="l"/>
            <a:r>
              <a:rPr b="0" sz="2200">
                <a:solidFill>
                  <a:srgbClr val="1C1C1C"/>
                </a:solidFill>
              </a:rPr>
              <a:t>• Strzałka poniżej prowadząca do napisu:</a:t>
            </a:r>
          </a:p>
        </p:txBody>
      </p:sp>
      <p:sp>
        <p:nvSpPr>
          <p:cNvPr id="8" name="Rectangle 7"/>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Spotify Wrapped to przykład etapu Zaangażowanie w absolutnie najczystszej formie — i jednocześnie najbardziej elegancki przykład, jak Zaangażowanie przekształca się w nowy Zasięg. Spotify działa na rynku, na którym wszystkie platformy…</a:t>
            </a:r>
          </a:p>
        </p:txBody>
      </p:sp>
      <p:sp>
        <p:nvSpPr>
          <p:cNvPr id="10" name="TextBox 9"/>
          <p:cNvSpPr txBox="1"/>
          <p:nvPr/>
        </p:nvSpPr>
        <p:spPr>
          <a:xfrm>
            <a:off x="10268712" y="6510528"/>
            <a:ext cx="1737360" cy="292608"/>
          </a:xfrm>
          <a:prstGeom prst="rect">
            <a:avLst/>
          </a:prstGeom>
          <a:noFill/>
        </p:spPr>
        <p:txBody>
          <a:bodyPr wrap="square">
            <a:spAutoFit/>
          </a:bodyPr>
          <a:lstStyle/>
          <a:p>
            <a:pPr algn="r"/>
            <a:r>
              <a:rPr b="1" i="0" sz="1200">
                <a:solidFill>
                  <a:srgbClr val="0070C0"/>
                </a:solidFill>
              </a:rPr>
              <a:t>Cel: 11:52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34</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Integracja SOSTAC i RACE</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Lecture Block 2: RACE</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Implikacja dla RACE</a:t>
            </a:r>
          </a:p>
          <a:p>
            <a:pPr algn="l"/>
            <a:r>
              <a:rPr b="0" sz="2200">
                <a:solidFill>
                  <a:srgbClr val="1C1C1C"/>
                </a:solidFill>
              </a:rPr>
              <a:t>• Audyt bieżącej wydajności na każdym z czterech etapów RACE</a:t>
            </a:r>
          </a:p>
          <a:p>
            <a:pPr algn="l"/>
            <a:r>
              <a:rPr b="0" sz="2200">
                <a:solidFill>
                  <a:srgbClr val="1C1C1C"/>
                </a:solidFill>
              </a:rPr>
              <a:t>• Wyznacz co najmniej jeden KPI na każdy etap RACE</a:t>
            </a:r>
          </a:p>
          <a:p>
            <a:pPr algn="l"/>
            <a:r>
              <a:rPr b="0" sz="2200">
                <a:solidFill>
                  <a:srgbClr val="1C1C1C"/>
                </a:solidFill>
              </a:rPr>
              <a:t>• Zdecyduj, które etapy RACE priorytetyzujesz i jak się różnicujesz</a:t>
            </a:r>
          </a:p>
          <a:p>
            <a:pPr algn="l"/>
            <a:r>
              <a:rPr b="0" sz="2200">
                <a:solidFill>
                  <a:srgbClr val="1C1C1C"/>
                </a:solidFill>
              </a:rPr>
              <a:t>• Przypisz konkretne kanały i treści do każdego etapu RACE</a:t>
            </a:r>
          </a:p>
          <a:p>
            <a:pPr algn="l"/>
            <a:r>
              <a:rPr b="0" sz="2200">
                <a:solidFill>
                  <a:srgbClr val="1C1C1C"/>
                </a:solidFill>
              </a:rPr>
              <a:t>• Wyznacz właścicieli i budżety dla taktyk każdego etapu RACE</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Dotarliśmy do najważniejszego slajdu łączącego oba frameworki, które poznaliśmy dziś rano. SOSTAC to framework planowania — odpowiada na pytanie "jak zbudować plan?". RACE to mapa egzekucji — odpowiada na pytanie "jak realizować ten plan…</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11:56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35</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Dashboard KPI RACE — Szablon Referencyjny</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Lecture Block 2: RACE</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RACE KPI Dashboard — szablon referencyjny</a:t>
            </a:r>
          </a:p>
          <a:p>
            <a:pPr algn="l"/>
            <a:r>
              <a:rPr b="0" sz="2200">
                <a:solidFill>
                  <a:srgbClr val="1C1C1C"/>
                </a:solidFill>
              </a:rPr>
              <a:t>• Zabierz ten slajd — to Twój punkt wyjścia do budowania dashboardu KPI.</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Ten slajd to szablon do zabrania ze sobą — po to tu jest. Podsumowuje dla każdego z czterech etapów RACE przykładowe KPI i narzędzia pomiaru. To nie jest wyczerpująca lista — to punkt wyjścia. Każda organizacja, każda marka, każdy produkt…</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12:00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37160"/>
            <a:ext cx="914400" cy="365760"/>
          </a:xfrm>
          <a:prstGeom prst="rect">
            <a:avLst/>
          </a:prstGeom>
          <a:noFill/>
        </p:spPr>
        <p:txBody>
          <a:bodyPr wrap="square">
            <a:spAutoFit/>
          </a:bodyPr>
          <a:lstStyle/>
          <a:p>
            <a:pPr algn="l"/>
            <a:r>
              <a:rPr b="1" i="0" sz="1100">
                <a:solidFill>
                  <a:srgbClr val="8892A4"/>
                </a:solidFill>
              </a:rPr>
              <a:t>Slide 36</a:t>
            </a:r>
          </a:p>
        </p:txBody>
      </p:sp>
      <p:sp>
        <p:nvSpPr>
          <p:cNvPr id="5" name="TextBox 4"/>
          <p:cNvSpPr txBox="1"/>
          <p:nvPr/>
        </p:nvSpPr>
        <p:spPr>
          <a:xfrm>
            <a:off x="201168" y="320040"/>
            <a:ext cx="11786616" cy="1280160"/>
          </a:xfrm>
          <a:prstGeom prst="rect">
            <a:avLst/>
          </a:prstGeom>
          <a:noFill/>
        </p:spPr>
        <p:txBody>
          <a:bodyPr wrap="square">
            <a:spAutoFit/>
          </a:bodyPr>
          <a:lstStyle/>
          <a:p>
            <a:pPr algn="l"/>
            <a:r>
              <a:rPr b="1" i="0" sz="3200">
                <a:solidFill>
                  <a:srgbClr val="FFFFFF"/>
                </a:solidFill>
              </a:rPr>
              <a:t>Przejście do Warsztatu 2</a:t>
            </a:r>
          </a:p>
        </p:txBody>
      </p:sp>
      <p:sp>
        <p:nvSpPr>
          <p:cNvPr id="6" name="TextBox 5"/>
          <p:cNvSpPr txBox="1"/>
          <p:nvPr/>
        </p:nvSpPr>
        <p:spPr>
          <a:xfrm>
            <a:off x="8897112" y="128016"/>
            <a:ext cx="3108960" cy="310896"/>
          </a:xfrm>
          <a:prstGeom prst="rect">
            <a:avLst/>
          </a:prstGeom>
          <a:noFill/>
        </p:spPr>
        <p:txBody>
          <a:bodyPr wrap="square">
            <a:spAutoFit/>
          </a:bodyPr>
          <a:lstStyle/>
          <a:p>
            <a:pPr algn="r"/>
            <a:r>
              <a:rPr b="0" i="0" sz="900">
                <a:solidFill>
                  <a:srgbClr val="F5C518"/>
                </a:solidFill>
              </a:rPr>
              <a:t>Workshop 2 — Transition</a:t>
            </a:r>
          </a:p>
        </p:txBody>
      </p:sp>
      <p:sp>
        <p:nvSpPr>
          <p:cNvPr id="7" name="TextBox 6"/>
          <p:cNvSpPr txBox="1"/>
          <p:nvPr/>
        </p:nvSpPr>
        <p:spPr>
          <a:xfrm>
            <a:off x="201168" y="1691640"/>
            <a:ext cx="11786616" cy="1828800"/>
          </a:xfrm>
          <a:prstGeom prst="rect">
            <a:avLst/>
          </a:prstGeom>
          <a:noFill/>
        </p:spPr>
        <p:txBody>
          <a:bodyPr wrap="square">
            <a:spAutoFit/>
          </a:bodyPr>
          <a:lstStyle/>
          <a:p>
            <a:pPr algn="l"/>
            <a:r>
              <a:rPr b="0" i="0" sz="2800">
                <a:solidFill>
                  <a:srgbClr val="F0F4FF"/>
                </a:solidFill>
              </a:rPr>
              <a:t>Mamy za sobą cały framework RACE. Teraz czas, żeby go zastosować do marki, którą wybraliście w Ćwiczeniu 1. Przez czterdzieści minut zmapujecie ścieżkę klienta dla waszej marki</a:t>
            </a:r>
          </a:p>
        </p:txBody>
      </p:sp>
      <p:sp>
        <p:nvSpPr>
          <p:cNvPr id="8" name="TextBox 7"/>
          <p:cNvSpPr txBox="1"/>
          <p:nvPr/>
        </p:nvSpPr>
        <p:spPr>
          <a:xfrm>
            <a:off x="201168" y="3703320"/>
            <a:ext cx="11786616" cy="2743200"/>
          </a:xfrm>
          <a:prstGeom prst="rect">
            <a:avLst/>
          </a:prstGeom>
          <a:noFill/>
        </p:spPr>
        <p:txBody>
          <a:bodyPr wrap="square">
            <a:spAutoFit/>
          </a:bodyPr>
          <a:lstStyle/>
          <a:p>
            <a:pPr algn="l"/>
            <a:r>
              <a:rPr b="0" sz="2200">
                <a:solidFill>
                  <a:srgbClr val="D0D4DD"/>
                </a:solidFill>
              </a:rPr>
              <a:t>• Czas na ćwiczenia</a:t>
            </a:r>
          </a:p>
          <a:p>
            <a:pPr algn="l"/>
            <a:r>
              <a:rPr b="0" sz="2200">
                <a:solidFill>
                  <a:srgbClr val="D0D4DD"/>
                </a:solidFill>
              </a:rPr>
              <a:t>• Warsztat 2 — Mapowanie Ścieżki Klienta RACE</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F5C518"/>
                </a:solidFill>
              </a:rPr>
              <a:t>Cel: 12:03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37</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Warsztat 2 — Instrukcja</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Workshop 2 — Instruction</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Blok 2 — CZAS / OUTPUT (ikona zegara):</a:t>
            </a:r>
          </a:p>
          <a:p>
            <a:pPr algn="l"/>
            <a:r>
              <a:rPr b="0" sz="2200">
                <a:solidFill>
                  <a:srgbClr val="1C1C1C"/>
                </a:solidFill>
              </a:rPr>
              <a:t>• Blok 3 — NARZĘDZIE (ikona tabletu + placeholder QR kodu):</a:t>
            </a:r>
          </a:p>
          <a:p>
            <a:pPr algn="l"/>
            <a:r>
              <a:rPr b="0" sz="2200">
                <a:solidFill>
                  <a:srgbClr val="1C1C1C"/>
                </a:solidFill>
              </a:rPr>
              <a:t>• Blok 4 — PRZYPOMNIENIE (ramka wyróżniająca w kontrastowym kolorze):</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Instrukcja do Warsztatu drugiego. Wasze zadanie: zmapujcie ścieżkę klienta dla waszej marki przez cztery etapy RACE. Dla każdego etapu dodajcie na tablicy Canva: po pierwsze — kanały, przez które klient kontaktuje się z marką na tym…</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12:05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38</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Warsztat 2 — Przykład (Żappka RACE Journey Map)</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Workshop 2 — Example</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Punkty tarcia:</a:t>
            </a:r>
          </a:p>
          <a:p>
            <a:pPr algn="l"/>
            <a:r>
              <a:rPr b="0" sz="2200">
                <a:solidFill>
                  <a:srgbClr val="1C1C1C"/>
                </a:solidFill>
              </a:rPr>
              <a:t>• Aktywacja — Kanały:</a:t>
            </a:r>
          </a:p>
          <a:p>
            <a:pPr algn="l"/>
            <a:r>
              <a:rPr b="0" sz="2200">
                <a:solidFill>
                  <a:srgbClr val="1C1C1C"/>
                </a:solidFill>
              </a:rPr>
              <a:t>• Punkty tarcia:</a:t>
            </a:r>
          </a:p>
          <a:p>
            <a:pPr algn="l"/>
            <a:r>
              <a:rPr b="0" sz="2200">
                <a:solidFill>
                  <a:srgbClr val="1C1C1C"/>
                </a:solidFill>
              </a:rPr>
              <a:t>• Konwersja — Kanały:</a:t>
            </a:r>
          </a:p>
          <a:p>
            <a:pPr algn="l"/>
            <a:r>
              <a:rPr b="0" sz="2200">
                <a:solidFill>
                  <a:srgbClr val="1C1C1C"/>
                </a:solidFill>
              </a:rPr>
              <a:t>• Punkty tarcia:</a:t>
            </a:r>
          </a:p>
          <a:p>
            <a:pPr algn="l"/>
            <a:r>
              <a:rPr b="0" sz="2200">
                <a:solidFill>
                  <a:srgbClr val="1C1C1C"/>
                </a:solidFill>
              </a:rPr>
              <a:t>• Zaangażowanie — Kanały:</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To jest przykład jak powinna wyglądać wypełniona plansza RACE — w tym przypadku dla Żappki, aplikacji lojalnościowej Żabki, i persony Ani, 32-latki z Warszawy, która robi zakupy dwa razy w tygodniu. Zwróćcie uwagę, że każdy swim lane ma…</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12:10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41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88A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37160"/>
            <a:ext cx="914400" cy="365760"/>
          </a:xfrm>
          <a:prstGeom prst="rect">
            <a:avLst/>
          </a:prstGeom>
          <a:noFill/>
        </p:spPr>
        <p:txBody>
          <a:bodyPr wrap="square">
            <a:spAutoFit/>
          </a:bodyPr>
          <a:lstStyle/>
          <a:p>
            <a:pPr algn="l"/>
            <a:r>
              <a:rPr b="1" i="0" sz="1100">
                <a:solidFill>
                  <a:srgbClr val="8892A4"/>
                </a:solidFill>
              </a:rPr>
              <a:t>Slide 39</a:t>
            </a:r>
          </a:p>
        </p:txBody>
      </p:sp>
      <p:sp>
        <p:nvSpPr>
          <p:cNvPr id="5" name="TextBox 4"/>
          <p:cNvSpPr txBox="1"/>
          <p:nvPr/>
        </p:nvSpPr>
        <p:spPr>
          <a:xfrm>
            <a:off x="201168" y="320040"/>
            <a:ext cx="11786616" cy="1280160"/>
          </a:xfrm>
          <a:prstGeom prst="rect">
            <a:avLst/>
          </a:prstGeom>
          <a:noFill/>
        </p:spPr>
        <p:txBody>
          <a:bodyPr wrap="square">
            <a:spAutoFit/>
          </a:bodyPr>
          <a:lstStyle/>
          <a:p>
            <a:pPr algn="l"/>
            <a:r>
              <a:rPr b="1" i="0" sz="3200">
                <a:solidFill>
                  <a:srgbClr val="FFFFFF"/>
                </a:solidFill>
              </a:rPr>
              <a:t>Przerwa Obiadowa</a:t>
            </a:r>
          </a:p>
        </p:txBody>
      </p:sp>
      <p:sp>
        <p:nvSpPr>
          <p:cNvPr id="6" name="TextBox 5"/>
          <p:cNvSpPr txBox="1"/>
          <p:nvPr/>
        </p:nvSpPr>
        <p:spPr>
          <a:xfrm>
            <a:off x="8897112" y="128016"/>
            <a:ext cx="3108960" cy="310896"/>
          </a:xfrm>
          <a:prstGeom prst="rect">
            <a:avLst/>
          </a:prstGeom>
          <a:noFill/>
        </p:spPr>
        <p:txBody>
          <a:bodyPr wrap="square">
            <a:spAutoFit/>
          </a:bodyPr>
          <a:lstStyle/>
          <a:p>
            <a:pPr algn="r"/>
            <a:r>
              <a:rPr b="0" i="0" sz="900">
                <a:solidFill>
                  <a:srgbClr val="88AAFF"/>
                </a:solidFill>
              </a:rPr>
              <a:t>Przerwa obiadowa</a:t>
            </a:r>
          </a:p>
        </p:txBody>
      </p:sp>
      <p:sp>
        <p:nvSpPr>
          <p:cNvPr id="7" name="TextBox 6"/>
          <p:cNvSpPr txBox="1"/>
          <p:nvPr/>
        </p:nvSpPr>
        <p:spPr>
          <a:xfrm>
            <a:off x="201168" y="1965960"/>
            <a:ext cx="11786616" cy="1280160"/>
          </a:xfrm>
          <a:prstGeom prst="rect">
            <a:avLst/>
          </a:prstGeom>
          <a:noFill/>
        </p:spPr>
        <p:txBody>
          <a:bodyPr wrap="square">
            <a:spAutoFit/>
          </a:bodyPr>
          <a:lstStyle/>
          <a:p>
            <a:pPr algn="ctr"/>
            <a:r>
              <a:rPr b="1" i="0" sz="3600">
                <a:solidFill>
                  <a:srgbClr val="FFFFFF"/>
                </a:solidFill>
              </a:rPr>
              <a:t>Czas na zasłużoną przerwę obiadową — macie godzinę. Wrócimy dokładnie o 13:30. Zanim wyjdziecie, jedna prośba: przez chw</a:t>
            </a:r>
          </a:p>
        </p:txBody>
      </p:sp>
      <p:sp>
        <p:nvSpPr>
          <p:cNvPr id="8" name="TextBox 7"/>
          <p:cNvSpPr txBox="1"/>
          <p:nvPr/>
        </p:nvSpPr>
        <p:spPr>
          <a:xfrm>
            <a:off x="201168" y="3337560"/>
            <a:ext cx="11786616" cy="548640"/>
          </a:xfrm>
          <a:prstGeom prst="rect">
            <a:avLst/>
          </a:prstGeom>
          <a:noFill/>
        </p:spPr>
        <p:txBody>
          <a:bodyPr wrap="square">
            <a:spAutoFit/>
          </a:bodyPr>
          <a:lstStyle/>
          <a:p>
            <a:pPr algn="ctr"/>
            <a:r>
              <a:rPr b="0" i="0" sz="2000">
                <a:solidFill>
                  <a:srgbClr val="8892A4"/>
                </a:solidFill>
              </a:rPr>
              <a:t>Cel: 12:30</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88AAFF"/>
                </a:solidFill>
              </a:rPr>
              <a:t>Cel: 12:30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37160"/>
            <a:ext cx="914400" cy="365760"/>
          </a:xfrm>
          <a:prstGeom prst="rect">
            <a:avLst/>
          </a:prstGeom>
          <a:noFill/>
        </p:spPr>
        <p:txBody>
          <a:bodyPr wrap="square">
            <a:spAutoFit/>
          </a:bodyPr>
          <a:lstStyle/>
          <a:p>
            <a:pPr algn="l"/>
            <a:r>
              <a:rPr b="1" i="0" sz="1100">
                <a:solidFill>
                  <a:srgbClr val="8892A4"/>
                </a:solidFill>
              </a:rPr>
              <a:t>Slide 40</a:t>
            </a:r>
          </a:p>
        </p:txBody>
      </p:sp>
      <p:sp>
        <p:nvSpPr>
          <p:cNvPr id="5" name="TextBox 4"/>
          <p:cNvSpPr txBox="1"/>
          <p:nvPr/>
        </p:nvSpPr>
        <p:spPr>
          <a:xfrm>
            <a:off x="201168" y="320040"/>
            <a:ext cx="11786616" cy="1280160"/>
          </a:xfrm>
          <a:prstGeom prst="rect">
            <a:avLst/>
          </a:prstGeom>
          <a:noFill/>
        </p:spPr>
        <p:txBody>
          <a:bodyPr wrap="square">
            <a:spAutoFit/>
          </a:bodyPr>
          <a:lstStyle/>
          <a:p>
            <a:pPr algn="l"/>
            <a:r>
              <a:rPr b="1" i="0" sz="3200">
                <a:solidFill>
                  <a:srgbClr val="FFFFFF"/>
                </a:solidFill>
              </a:rPr>
              <a:t>Re-energizer — Instrukcja</a:t>
            </a:r>
          </a:p>
        </p:txBody>
      </p:sp>
      <p:sp>
        <p:nvSpPr>
          <p:cNvPr id="6" name="TextBox 5"/>
          <p:cNvSpPr txBox="1"/>
          <p:nvPr/>
        </p:nvSpPr>
        <p:spPr>
          <a:xfrm>
            <a:off x="8897112" y="128016"/>
            <a:ext cx="3108960" cy="310896"/>
          </a:xfrm>
          <a:prstGeom prst="rect">
            <a:avLst/>
          </a:prstGeom>
          <a:noFill/>
        </p:spPr>
        <p:txBody>
          <a:bodyPr wrap="square">
            <a:spAutoFit/>
          </a:bodyPr>
          <a:lstStyle/>
          <a:p>
            <a:pPr algn="r"/>
            <a:r>
              <a:rPr b="0" i="0" sz="900">
                <a:solidFill>
                  <a:srgbClr val="F5C518"/>
                </a:solidFill>
              </a:rPr>
              <a:t>Re-energizer</a:t>
            </a:r>
          </a:p>
        </p:txBody>
      </p:sp>
      <p:sp>
        <p:nvSpPr>
          <p:cNvPr id="7" name="TextBox 6"/>
          <p:cNvSpPr txBox="1"/>
          <p:nvPr/>
        </p:nvSpPr>
        <p:spPr>
          <a:xfrm>
            <a:off x="201168" y="1691640"/>
            <a:ext cx="11786616" cy="1828800"/>
          </a:xfrm>
          <a:prstGeom prst="rect">
            <a:avLst/>
          </a:prstGeom>
          <a:noFill/>
        </p:spPr>
        <p:txBody>
          <a:bodyPr wrap="square">
            <a:spAutoFit/>
          </a:bodyPr>
          <a:lstStyle/>
          <a:p>
            <a:pPr algn="l"/>
            <a:r>
              <a:rPr b="0" i="0" sz="2800">
                <a:solidFill>
                  <a:srgbClr val="F0F4FF"/>
                </a:solidFill>
              </a:rPr>
              <a:t>Witajcie z powrotem. Żeby rozgrzać umysły po lunchu, zacznijmy od szybkiej rundy oceniania. Zaraz pokażę wam pięć prawdziwych kampanii marketingowych polskich marek — jedną po</a:t>
            </a:r>
          </a:p>
        </p:txBody>
      </p:sp>
      <p:sp>
        <p:nvSpPr>
          <p:cNvPr id="8" name="TextBox 7"/>
          <p:cNvSpPr txBox="1"/>
          <p:nvPr/>
        </p:nvSpPr>
        <p:spPr>
          <a:xfrm>
            <a:off x="201168" y="3703320"/>
            <a:ext cx="11786616" cy="2743200"/>
          </a:xfrm>
          <a:prstGeom prst="rect">
            <a:avLst/>
          </a:prstGeom>
          <a:noFill/>
        </p:spPr>
        <p:txBody>
          <a:bodyPr wrap="square">
            <a:spAutoFit/>
          </a:bodyPr>
          <a:lstStyle/>
          <a:p>
            <a:pPr algn="l"/>
            <a:r>
              <a:rPr b="0" sz="2200">
                <a:solidFill>
                  <a:srgbClr val="D0D4DD"/>
                </a:solidFill>
              </a:rPr>
              <a:t>• Dobra czy zła kampania?</a:t>
            </a:r>
          </a:p>
          <a:p>
            <a:pPr algn="l"/>
            <a:r>
              <a:rPr b="0" sz="2200">
                <a:solidFill>
                  <a:srgbClr val="D0D4DD"/>
                </a:solidFill>
              </a:rPr>
              <a:t>• 1. Zobaczysz kampanię. 2. Macie 30 sekund. 3. Podnieście rękę: dobra czy zła?</a:t>
            </a:r>
          </a:p>
          <a:p>
            <a:pPr algn="l"/>
            <a:r>
              <a:rPr b="0" sz="2200">
                <a:solidFill>
                  <a:srgbClr val="D0D4DD"/>
                </a:solidFill>
              </a:rPr>
              <a:t>• 5 kampanii. Quickfire.</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F5C518"/>
                </a:solidFill>
              </a:rPr>
              <a:t>Cel: 13:30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37160"/>
            <a:ext cx="914400" cy="365760"/>
          </a:xfrm>
          <a:prstGeom prst="rect">
            <a:avLst/>
          </a:prstGeom>
          <a:noFill/>
        </p:spPr>
        <p:txBody>
          <a:bodyPr wrap="square">
            <a:spAutoFit/>
          </a:bodyPr>
          <a:lstStyle/>
          <a:p>
            <a:pPr algn="l"/>
            <a:r>
              <a:rPr b="1" i="0" sz="1100">
                <a:solidFill>
                  <a:srgbClr val="8892A4"/>
                </a:solidFill>
              </a:rPr>
              <a:t>Slide 41</a:t>
            </a:r>
          </a:p>
        </p:txBody>
      </p:sp>
      <p:sp>
        <p:nvSpPr>
          <p:cNvPr id="5" name="TextBox 4"/>
          <p:cNvSpPr txBox="1"/>
          <p:nvPr/>
        </p:nvSpPr>
        <p:spPr>
          <a:xfrm>
            <a:off x="201168" y="320040"/>
            <a:ext cx="11786616" cy="1280160"/>
          </a:xfrm>
          <a:prstGeom prst="rect">
            <a:avLst/>
          </a:prstGeom>
          <a:noFill/>
        </p:spPr>
        <p:txBody>
          <a:bodyPr wrap="square">
            <a:spAutoFit/>
          </a:bodyPr>
          <a:lstStyle/>
          <a:p>
            <a:pPr algn="l"/>
            <a:r>
              <a:rPr b="1" i="0" sz="3200">
                <a:solidFill>
                  <a:srgbClr val="FFFFFF"/>
                </a:solidFill>
              </a:rPr>
              <a:t>Kampania 1 — CD Projekt Red TikTok</a:t>
            </a:r>
          </a:p>
        </p:txBody>
      </p:sp>
      <p:sp>
        <p:nvSpPr>
          <p:cNvPr id="6" name="TextBox 5"/>
          <p:cNvSpPr txBox="1"/>
          <p:nvPr/>
        </p:nvSpPr>
        <p:spPr>
          <a:xfrm>
            <a:off x="8897112" y="128016"/>
            <a:ext cx="3108960" cy="310896"/>
          </a:xfrm>
          <a:prstGeom prst="rect">
            <a:avLst/>
          </a:prstGeom>
          <a:noFill/>
        </p:spPr>
        <p:txBody>
          <a:bodyPr wrap="square">
            <a:spAutoFit/>
          </a:bodyPr>
          <a:lstStyle/>
          <a:p>
            <a:pPr algn="r"/>
            <a:r>
              <a:rPr b="0" i="0" sz="900">
                <a:solidFill>
                  <a:srgbClr val="F5C518"/>
                </a:solidFill>
              </a:rPr>
              <a:t>Re-energizer</a:t>
            </a:r>
          </a:p>
        </p:txBody>
      </p:sp>
      <p:sp>
        <p:nvSpPr>
          <p:cNvPr id="7" name="TextBox 6"/>
          <p:cNvSpPr txBox="1"/>
          <p:nvPr/>
        </p:nvSpPr>
        <p:spPr>
          <a:xfrm>
            <a:off x="201168" y="1691640"/>
            <a:ext cx="11786616" cy="1828800"/>
          </a:xfrm>
          <a:prstGeom prst="rect">
            <a:avLst/>
          </a:prstGeom>
          <a:noFill/>
        </p:spPr>
        <p:txBody>
          <a:bodyPr wrap="square">
            <a:spAutoFit/>
          </a:bodyPr>
          <a:lstStyle/>
          <a:p>
            <a:pPr algn="l"/>
            <a:r>
              <a:rPr b="0" i="0" sz="2800">
                <a:solidFill>
                  <a:srgbClr val="F0F4FF"/>
                </a:solidFill>
              </a:rPr>
              <a:t>CD Projekt Red — polskie studio twórców Wiedźmina i Cyberpunka — i ich post na TikToku w kampanii Phantom Liberty. Trzydzieści sekund. Dobra czy</a:t>
            </a:r>
          </a:p>
        </p:txBody>
      </p:sp>
      <p:sp>
        <p:nvSpPr>
          <p:cNvPr id="8" name="TextBox 7"/>
          <p:cNvSpPr txBox="1"/>
          <p:nvPr/>
        </p:nvSpPr>
        <p:spPr>
          <a:xfrm>
            <a:off x="201168" y="3703320"/>
            <a:ext cx="11786616" cy="2743200"/>
          </a:xfrm>
          <a:prstGeom prst="rect">
            <a:avLst/>
          </a:prstGeom>
          <a:noFill/>
        </p:spPr>
        <p:txBody>
          <a:bodyPr wrap="square">
            <a:spAutoFit/>
          </a:bodyPr>
          <a:lstStyle/>
          <a:p>
            <a:pPr algn="l"/>
            <a:r>
              <a:rPr b="0" sz="2200">
                <a:solidFill>
                  <a:srgbClr val="D0D4DD"/>
                </a:solidFill>
              </a:rPr>
              <a:t>• Jeden duży placeholder na zrzut ekranu lub opis kampanii — post społecznościowy CD Projekt</a:t>
            </a:r>
          </a:p>
          <a:p>
            <a:pPr algn="l"/>
            <a:r>
              <a:rPr b="0" sz="2200">
                <a:solidFill>
                  <a:srgbClr val="D0D4DD"/>
                </a:solidFill>
              </a:rPr>
              <a:t>• Konto: @cdprojektred.</a:t>
            </a:r>
          </a:p>
          <a:p>
            <a:pPr algn="l"/>
            <a:r>
              <a:rPr b="0" sz="2200">
                <a:solidFill>
                  <a:srgbClr val="D0D4DD"/>
                </a:solidFill>
              </a:rPr>
              <a:t>• Post pokazuje zawartość angażującą społeczność graczy (np.</a:t>
            </a:r>
          </a:p>
          <a:p>
            <a:pPr algn="l"/>
            <a:r>
              <a:rPr b="0" sz="2200">
                <a:solidFill>
                  <a:srgbClr val="D0D4DD"/>
                </a:solidFill>
              </a:rPr>
              <a:t>• behind-the-scenes, odpowiedź na komentarz fana, meme nawiązujący do fabuły gry).</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F5C518"/>
                </a:solidFill>
              </a:rPr>
              <a:t>Cel: 13:32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37160"/>
            <a:ext cx="914400" cy="365760"/>
          </a:xfrm>
          <a:prstGeom prst="rect">
            <a:avLst/>
          </a:prstGeom>
          <a:noFill/>
        </p:spPr>
        <p:txBody>
          <a:bodyPr wrap="square">
            <a:spAutoFit/>
          </a:bodyPr>
          <a:lstStyle/>
          <a:p>
            <a:pPr algn="l"/>
            <a:r>
              <a:rPr b="1" i="0" sz="1100">
                <a:solidFill>
                  <a:srgbClr val="8892A4"/>
                </a:solidFill>
              </a:rPr>
              <a:t>Slide 42</a:t>
            </a:r>
          </a:p>
        </p:txBody>
      </p:sp>
      <p:sp>
        <p:nvSpPr>
          <p:cNvPr id="5" name="TextBox 4"/>
          <p:cNvSpPr txBox="1"/>
          <p:nvPr/>
        </p:nvSpPr>
        <p:spPr>
          <a:xfrm>
            <a:off x="201168" y="320040"/>
            <a:ext cx="11786616" cy="1280160"/>
          </a:xfrm>
          <a:prstGeom prst="rect">
            <a:avLst/>
          </a:prstGeom>
          <a:noFill/>
        </p:spPr>
        <p:txBody>
          <a:bodyPr wrap="square">
            <a:spAutoFit/>
          </a:bodyPr>
          <a:lstStyle/>
          <a:p>
            <a:pPr algn="l"/>
            <a:r>
              <a:rPr b="1" i="0" sz="3200">
                <a:solidFill>
                  <a:srgbClr val="FFFFFF"/>
                </a:solidFill>
              </a:rPr>
              <a:t>Kampania 2 — mBank Email</a:t>
            </a:r>
          </a:p>
        </p:txBody>
      </p:sp>
      <p:sp>
        <p:nvSpPr>
          <p:cNvPr id="6" name="TextBox 5"/>
          <p:cNvSpPr txBox="1"/>
          <p:nvPr/>
        </p:nvSpPr>
        <p:spPr>
          <a:xfrm>
            <a:off x="8897112" y="128016"/>
            <a:ext cx="3108960" cy="310896"/>
          </a:xfrm>
          <a:prstGeom prst="rect">
            <a:avLst/>
          </a:prstGeom>
          <a:noFill/>
        </p:spPr>
        <p:txBody>
          <a:bodyPr wrap="square">
            <a:spAutoFit/>
          </a:bodyPr>
          <a:lstStyle/>
          <a:p>
            <a:pPr algn="r"/>
            <a:r>
              <a:rPr b="0" i="0" sz="900">
                <a:solidFill>
                  <a:srgbClr val="F5C518"/>
                </a:solidFill>
              </a:rPr>
              <a:t>Re-energizer</a:t>
            </a:r>
          </a:p>
        </p:txBody>
      </p:sp>
      <p:sp>
        <p:nvSpPr>
          <p:cNvPr id="7" name="TextBox 6"/>
          <p:cNvSpPr txBox="1"/>
          <p:nvPr/>
        </p:nvSpPr>
        <p:spPr>
          <a:xfrm>
            <a:off x="201168" y="1691640"/>
            <a:ext cx="11786616" cy="1828800"/>
          </a:xfrm>
          <a:prstGeom prst="rect">
            <a:avLst/>
          </a:prstGeom>
          <a:noFill/>
        </p:spPr>
        <p:txBody>
          <a:bodyPr wrap="square">
            <a:spAutoFit/>
          </a:bodyPr>
          <a:lstStyle/>
          <a:p>
            <a:pPr algn="l"/>
            <a:r>
              <a:rPr b="0" i="0" sz="2800">
                <a:solidFill>
                  <a:srgbClr val="F0F4FF"/>
                </a:solidFill>
              </a:rPr>
              <a:t>Tym razem email — od mBanku, polskiego pioniera bankowości cyfrowej. Post retencyjny z elementem grywalizacji. Trzydzieści sekund. Dobra czy</a:t>
            </a:r>
          </a:p>
        </p:txBody>
      </p:sp>
      <p:sp>
        <p:nvSpPr>
          <p:cNvPr id="8" name="TextBox 7"/>
          <p:cNvSpPr txBox="1"/>
          <p:nvPr/>
        </p:nvSpPr>
        <p:spPr>
          <a:xfrm>
            <a:off x="201168" y="3703320"/>
            <a:ext cx="11786616" cy="2743200"/>
          </a:xfrm>
          <a:prstGeom prst="rect">
            <a:avLst/>
          </a:prstGeom>
          <a:noFill/>
        </p:spPr>
        <p:txBody>
          <a:bodyPr wrap="square">
            <a:spAutoFit/>
          </a:bodyPr>
          <a:lstStyle/>
          <a:p>
            <a:pPr algn="l"/>
            <a:r>
              <a:rPr b="0" sz="2200">
                <a:solidFill>
                  <a:srgbClr val="D0D4DD"/>
                </a:solidFill>
              </a:rPr>
              <a:t>• Jeden duży placeholder na zrzut ekranu emaila mBanku — kampania retencyjno-angażująca z el</a:t>
            </a:r>
          </a:p>
          <a:p>
            <a:pPr algn="l"/>
            <a:r>
              <a:rPr b="0" sz="2200">
                <a:solidFill>
                  <a:srgbClr val="D0D4DD"/>
                </a:solidFill>
              </a:rPr>
              <a:t>• Email pokazuje spersonalizowane wezwanie do działania, pasek postępu lub element zdobywani</a:t>
            </a:r>
          </a:p>
          <a:p>
            <a:pPr algn="l"/>
            <a:r>
              <a:rPr b="0" sz="2200">
                <a:solidFill>
                  <a:srgbClr val="D0D4DD"/>
                </a:solidFill>
              </a:rPr>
              <a:t>• Minimalna narracja na slajdzie.</a:t>
            </a:r>
          </a:p>
          <a:p>
            <a:pPr algn="l"/>
            <a:r>
              <a:rPr b="0" sz="2200">
                <a:solidFill>
                  <a:srgbClr val="D0D4DD"/>
                </a:solidFill>
              </a:rPr>
              <a:t>• Na dole: "Dobra czy zła kampania?</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F5C518"/>
                </a:solidFill>
              </a:rPr>
              <a:t>Cel: 13:36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37160"/>
            <a:ext cx="914400" cy="365760"/>
          </a:xfrm>
          <a:prstGeom prst="rect">
            <a:avLst/>
          </a:prstGeom>
          <a:noFill/>
        </p:spPr>
        <p:txBody>
          <a:bodyPr wrap="square">
            <a:spAutoFit/>
          </a:bodyPr>
          <a:lstStyle/>
          <a:p>
            <a:pPr algn="l"/>
            <a:r>
              <a:rPr b="1" i="0" sz="1100">
                <a:solidFill>
                  <a:srgbClr val="8892A4"/>
                </a:solidFill>
              </a:rPr>
              <a:t>Slide 43</a:t>
            </a:r>
          </a:p>
        </p:txBody>
      </p:sp>
      <p:sp>
        <p:nvSpPr>
          <p:cNvPr id="5" name="TextBox 4"/>
          <p:cNvSpPr txBox="1"/>
          <p:nvPr/>
        </p:nvSpPr>
        <p:spPr>
          <a:xfrm>
            <a:off x="201168" y="320040"/>
            <a:ext cx="11786616" cy="1280160"/>
          </a:xfrm>
          <a:prstGeom prst="rect">
            <a:avLst/>
          </a:prstGeom>
          <a:noFill/>
        </p:spPr>
        <p:txBody>
          <a:bodyPr wrap="square">
            <a:spAutoFit/>
          </a:bodyPr>
          <a:lstStyle/>
          <a:p>
            <a:pPr algn="l"/>
            <a:r>
              <a:rPr b="1" i="0" sz="3200">
                <a:solidFill>
                  <a:srgbClr val="FFFFFF"/>
                </a:solidFill>
              </a:rPr>
              <a:t>Kampania 3 — Żabka Landing Page</a:t>
            </a:r>
          </a:p>
        </p:txBody>
      </p:sp>
      <p:sp>
        <p:nvSpPr>
          <p:cNvPr id="6" name="TextBox 5"/>
          <p:cNvSpPr txBox="1"/>
          <p:nvPr/>
        </p:nvSpPr>
        <p:spPr>
          <a:xfrm>
            <a:off x="8897112" y="128016"/>
            <a:ext cx="3108960" cy="310896"/>
          </a:xfrm>
          <a:prstGeom prst="rect">
            <a:avLst/>
          </a:prstGeom>
          <a:noFill/>
        </p:spPr>
        <p:txBody>
          <a:bodyPr wrap="square">
            <a:spAutoFit/>
          </a:bodyPr>
          <a:lstStyle/>
          <a:p>
            <a:pPr algn="r"/>
            <a:r>
              <a:rPr b="0" i="0" sz="900">
                <a:solidFill>
                  <a:srgbClr val="F5C518"/>
                </a:solidFill>
              </a:rPr>
              <a:t>Re-energizer</a:t>
            </a:r>
          </a:p>
        </p:txBody>
      </p:sp>
      <p:sp>
        <p:nvSpPr>
          <p:cNvPr id="7" name="TextBox 6"/>
          <p:cNvSpPr txBox="1"/>
          <p:nvPr/>
        </p:nvSpPr>
        <p:spPr>
          <a:xfrm>
            <a:off x="201168" y="1691640"/>
            <a:ext cx="11786616" cy="1828800"/>
          </a:xfrm>
          <a:prstGeom prst="rect">
            <a:avLst/>
          </a:prstGeom>
          <a:noFill/>
        </p:spPr>
        <p:txBody>
          <a:bodyPr wrap="square">
            <a:spAutoFit/>
          </a:bodyPr>
          <a:lstStyle/>
          <a:p>
            <a:pPr algn="l"/>
            <a:r>
              <a:rPr b="0" i="0" sz="2800">
                <a:solidFill>
                  <a:srgbClr val="F0F4FF"/>
                </a:solidFill>
              </a:rPr>
              <a:t>Żabka i jej strona docelowa do kampanii Żappki. Landing page, który ma przekonać do pobrania aplikacji. Trzydzieści sekund. Dobra czy</a:t>
            </a:r>
          </a:p>
        </p:txBody>
      </p:sp>
      <p:sp>
        <p:nvSpPr>
          <p:cNvPr id="8" name="TextBox 7"/>
          <p:cNvSpPr txBox="1"/>
          <p:nvPr/>
        </p:nvSpPr>
        <p:spPr>
          <a:xfrm>
            <a:off x="201168" y="3703320"/>
            <a:ext cx="11786616" cy="2743200"/>
          </a:xfrm>
          <a:prstGeom prst="rect">
            <a:avLst/>
          </a:prstGeom>
          <a:noFill/>
        </p:spPr>
        <p:txBody>
          <a:bodyPr wrap="square">
            <a:spAutoFit/>
          </a:bodyPr>
          <a:lstStyle/>
          <a:p>
            <a:pPr algn="l"/>
            <a:r>
              <a:rPr b="0" sz="2200">
                <a:solidFill>
                  <a:srgbClr val="D0D4DD"/>
                </a:solidFill>
              </a:rPr>
              <a:t>• Jeden duży placeholder na zrzut ekranu strony docelowej Żabki promującej aplikację Żappka.</a:t>
            </a:r>
          </a:p>
          <a:p>
            <a:pPr algn="l"/>
            <a:r>
              <a:rPr b="0" sz="2200">
                <a:solidFill>
                  <a:srgbClr val="D0D4DD"/>
                </a:solidFill>
              </a:rPr>
              <a:t>• Strona pokazuje ofertę promocyjną, CTA do pobrania aplikacji, elementy wizualne spójne z i</a:t>
            </a:r>
          </a:p>
          <a:p>
            <a:pPr algn="l"/>
            <a:r>
              <a:rPr b="0" sz="2200">
                <a:solidFill>
                  <a:srgbClr val="D0D4DD"/>
                </a:solidFill>
              </a:rPr>
              <a:t>• Na dole: "Dobra czy zła kampania?</a:t>
            </a:r>
          </a:p>
          <a:p>
            <a:pPr algn="l"/>
            <a:r>
              <a:rPr b="0" sz="2200">
                <a:solidFill>
                  <a:srgbClr val="D0D4DD"/>
                </a:solidFill>
              </a:rPr>
              <a:t>• Macie 30 sekund." Małe logo przeglądarki lub aplikacji w rogu.</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F5C518"/>
                </a:solidFill>
              </a:rPr>
              <a:t>Cel: 13:40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37160"/>
            <a:ext cx="914400" cy="365760"/>
          </a:xfrm>
          <a:prstGeom prst="rect">
            <a:avLst/>
          </a:prstGeom>
          <a:noFill/>
        </p:spPr>
        <p:txBody>
          <a:bodyPr wrap="square">
            <a:spAutoFit/>
          </a:bodyPr>
          <a:lstStyle/>
          <a:p>
            <a:pPr algn="l"/>
            <a:r>
              <a:rPr b="1" i="0" sz="1100">
                <a:solidFill>
                  <a:srgbClr val="8892A4"/>
                </a:solidFill>
              </a:rPr>
              <a:t>Slide 44</a:t>
            </a:r>
          </a:p>
        </p:txBody>
      </p:sp>
      <p:sp>
        <p:nvSpPr>
          <p:cNvPr id="5" name="TextBox 4"/>
          <p:cNvSpPr txBox="1"/>
          <p:nvPr/>
        </p:nvSpPr>
        <p:spPr>
          <a:xfrm>
            <a:off x="201168" y="320040"/>
            <a:ext cx="11786616" cy="1280160"/>
          </a:xfrm>
          <a:prstGeom prst="rect">
            <a:avLst/>
          </a:prstGeom>
          <a:noFill/>
        </p:spPr>
        <p:txBody>
          <a:bodyPr wrap="square">
            <a:spAutoFit/>
          </a:bodyPr>
          <a:lstStyle/>
          <a:p>
            <a:pPr algn="l"/>
            <a:r>
              <a:rPr b="1" i="0" sz="3200">
                <a:solidFill>
                  <a:srgbClr val="FFFFFF"/>
                </a:solidFill>
              </a:rPr>
              <a:t>Kampania 4 — InPost Post Influencerski</a:t>
            </a:r>
          </a:p>
        </p:txBody>
      </p:sp>
      <p:sp>
        <p:nvSpPr>
          <p:cNvPr id="6" name="TextBox 5"/>
          <p:cNvSpPr txBox="1"/>
          <p:nvPr/>
        </p:nvSpPr>
        <p:spPr>
          <a:xfrm>
            <a:off x="8897112" y="128016"/>
            <a:ext cx="3108960" cy="310896"/>
          </a:xfrm>
          <a:prstGeom prst="rect">
            <a:avLst/>
          </a:prstGeom>
          <a:noFill/>
        </p:spPr>
        <p:txBody>
          <a:bodyPr wrap="square">
            <a:spAutoFit/>
          </a:bodyPr>
          <a:lstStyle/>
          <a:p>
            <a:pPr algn="r"/>
            <a:r>
              <a:rPr b="0" i="0" sz="900">
                <a:solidFill>
                  <a:srgbClr val="F5C518"/>
                </a:solidFill>
              </a:rPr>
              <a:t>Re-energizer</a:t>
            </a:r>
          </a:p>
        </p:txBody>
      </p:sp>
      <p:sp>
        <p:nvSpPr>
          <p:cNvPr id="7" name="TextBox 6"/>
          <p:cNvSpPr txBox="1"/>
          <p:nvPr/>
        </p:nvSpPr>
        <p:spPr>
          <a:xfrm>
            <a:off x="201168" y="1691640"/>
            <a:ext cx="11786616" cy="1828800"/>
          </a:xfrm>
          <a:prstGeom prst="rect">
            <a:avLst/>
          </a:prstGeom>
          <a:noFill/>
        </p:spPr>
        <p:txBody>
          <a:bodyPr wrap="square">
            <a:spAutoFit/>
          </a:bodyPr>
          <a:lstStyle/>
          <a:p>
            <a:pPr algn="l"/>
            <a:r>
              <a:rPr b="0" i="0" sz="2800">
                <a:solidFill>
                  <a:srgbClr val="F0F4FF"/>
                </a:solidFill>
              </a:rPr>
              <a:t>InPost i ich post influencerski — messaging skupiony na wygodzie Paczkomatu. Trzydzieści sekund. Dobra czy</a:t>
            </a:r>
          </a:p>
        </p:txBody>
      </p:sp>
      <p:sp>
        <p:nvSpPr>
          <p:cNvPr id="8" name="TextBox 7"/>
          <p:cNvSpPr txBox="1"/>
          <p:nvPr/>
        </p:nvSpPr>
        <p:spPr>
          <a:xfrm>
            <a:off x="201168" y="3703320"/>
            <a:ext cx="11786616" cy="2743200"/>
          </a:xfrm>
          <a:prstGeom prst="rect">
            <a:avLst/>
          </a:prstGeom>
          <a:noFill/>
        </p:spPr>
        <p:txBody>
          <a:bodyPr wrap="square">
            <a:spAutoFit/>
          </a:bodyPr>
          <a:lstStyle/>
          <a:p>
            <a:pPr algn="l"/>
            <a:r>
              <a:rPr b="0" sz="2200">
                <a:solidFill>
                  <a:srgbClr val="D0D4DD"/>
                </a:solidFill>
              </a:rPr>
              <a:t>• paczka kiedy chcę, gdzie chcę</a:t>
            </a:r>
          </a:p>
          <a:p>
            <a:pPr algn="l"/>
            <a:r>
              <a:rPr b="0" sz="2200">
                <a:solidFill>
                  <a:srgbClr val="D0D4DD"/>
                </a:solidFill>
              </a:rPr>
              <a:t>• Dobra czy zła kampania? Macie 30 sekund.</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F5C518"/>
                </a:solidFill>
              </a:rPr>
              <a:t>Cel: 13:44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37160"/>
            <a:ext cx="914400" cy="365760"/>
          </a:xfrm>
          <a:prstGeom prst="rect">
            <a:avLst/>
          </a:prstGeom>
          <a:noFill/>
        </p:spPr>
        <p:txBody>
          <a:bodyPr wrap="square">
            <a:spAutoFit/>
          </a:bodyPr>
          <a:lstStyle/>
          <a:p>
            <a:pPr algn="l"/>
            <a:r>
              <a:rPr b="1" i="0" sz="1100">
                <a:solidFill>
                  <a:srgbClr val="8892A4"/>
                </a:solidFill>
              </a:rPr>
              <a:t>Slide 45</a:t>
            </a:r>
          </a:p>
        </p:txBody>
      </p:sp>
      <p:sp>
        <p:nvSpPr>
          <p:cNvPr id="5" name="TextBox 4"/>
          <p:cNvSpPr txBox="1"/>
          <p:nvPr/>
        </p:nvSpPr>
        <p:spPr>
          <a:xfrm>
            <a:off x="201168" y="320040"/>
            <a:ext cx="11786616" cy="1280160"/>
          </a:xfrm>
          <a:prstGeom prst="rect">
            <a:avLst/>
          </a:prstGeom>
          <a:noFill/>
        </p:spPr>
        <p:txBody>
          <a:bodyPr wrap="square">
            <a:spAutoFit/>
          </a:bodyPr>
          <a:lstStyle/>
          <a:p>
            <a:pPr algn="l"/>
            <a:r>
              <a:rPr b="1" i="0" sz="3200">
                <a:solidFill>
                  <a:srgbClr val="FFFFFF"/>
                </a:solidFill>
              </a:rPr>
              <a:t>Kampania 5 — Allegro SEO Listing</a:t>
            </a:r>
          </a:p>
        </p:txBody>
      </p:sp>
      <p:sp>
        <p:nvSpPr>
          <p:cNvPr id="6" name="TextBox 5"/>
          <p:cNvSpPr txBox="1"/>
          <p:nvPr/>
        </p:nvSpPr>
        <p:spPr>
          <a:xfrm>
            <a:off x="8897112" y="128016"/>
            <a:ext cx="3108960" cy="310896"/>
          </a:xfrm>
          <a:prstGeom prst="rect">
            <a:avLst/>
          </a:prstGeom>
          <a:noFill/>
        </p:spPr>
        <p:txBody>
          <a:bodyPr wrap="square">
            <a:spAutoFit/>
          </a:bodyPr>
          <a:lstStyle/>
          <a:p>
            <a:pPr algn="r"/>
            <a:r>
              <a:rPr b="0" i="0" sz="900">
                <a:solidFill>
                  <a:srgbClr val="F5C518"/>
                </a:solidFill>
              </a:rPr>
              <a:t>Re-energizer</a:t>
            </a:r>
          </a:p>
        </p:txBody>
      </p:sp>
      <p:sp>
        <p:nvSpPr>
          <p:cNvPr id="7" name="TextBox 6"/>
          <p:cNvSpPr txBox="1"/>
          <p:nvPr/>
        </p:nvSpPr>
        <p:spPr>
          <a:xfrm>
            <a:off x="201168" y="1691640"/>
            <a:ext cx="11786616" cy="1828800"/>
          </a:xfrm>
          <a:prstGeom prst="rect">
            <a:avLst/>
          </a:prstGeom>
          <a:noFill/>
        </p:spPr>
        <p:txBody>
          <a:bodyPr wrap="square">
            <a:spAutoFit/>
          </a:bodyPr>
          <a:lstStyle/>
          <a:p>
            <a:pPr algn="l"/>
            <a:r>
              <a:rPr b="0" i="0" sz="2800">
                <a:solidFill>
                  <a:srgbClr val="F0F4FF"/>
                </a:solidFill>
              </a:rPr>
              <a:t>I na koniec — Allegro i ich pozycja w organicznych wynikach wyszukiwania dla konkurencyjnej kategorii. To nie reklama — to SEO. Trzydzieści sekund. Dobra czy zła</a:t>
            </a:r>
          </a:p>
        </p:txBody>
      </p:sp>
      <p:sp>
        <p:nvSpPr>
          <p:cNvPr id="8" name="TextBox 7"/>
          <p:cNvSpPr txBox="1"/>
          <p:nvPr/>
        </p:nvSpPr>
        <p:spPr>
          <a:xfrm>
            <a:off x="201168" y="3703320"/>
            <a:ext cx="11786616" cy="2743200"/>
          </a:xfrm>
          <a:prstGeom prst="rect">
            <a:avLst/>
          </a:prstGeom>
          <a:noFill/>
        </p:spPr>
        <p:txBody>
          <a:bodyPr wrap="square">
            <a:spAutoFit/>
          </a:bodyPr>
          <a:lstStyle/>
          <a:p>
            <a:pPr algn="l"/>
            <a:r>
              <a:rPr b="0" sz="2200">
                <a:solidFill>
                  <a:srgbClr val="D0D4DD"/>
                </a:solidFill>
              </a:rPr>
              <a:t>• laptopy do 3000 zł</a:t>
            </a:r>
          </a:p>
          <a:p>
            <a:pPr algn="l"/>
            <a:r>
              <a:rPr b="0" sz="2200">
                <a:solidFill>
                  <a:srgbClr val="D0D4DD"/>
                </a:solidFill>
              </a:rPr>
              <a:t>• sneakers damskie</a:t>
            </a:r>
          </a:p>
          <a:p>
            <a:pPr algn="l"/>
            <a:r>
              <a:rPr b="0" sz="2200">
                <a:solidFill>
                  <a:srgbClr val="D0D4DD"/>
                </a:solidFill>
              </a:rPr>
              <a:t>• Dobra czy zła kampania? Macie 30 sekund.</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F5C518"/>
                </a:solidFill>
              </a:rPr>
              <a:t>Cel: 13:48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46</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Diagram Hierarchii — Wariant 2 (Fundament Strategiczny)</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Kotwica strukturalna — przejście</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Dwa górne poziomy (Strategia Marki i Strategia Cyfrowa) wyświetlone w pełnym kolorze i peł</a:t>
            </a:r>
          </a:p>
          <a:p>
            <a:pPr algn="l"/>
            <a:r>
              <a:rPr b="0" sz="2200">
                <a:solidFill>
                  <a:srgbClr val="1C1C1C"/>
                </a:solidFill>
              </a:rPr>
              <a:t>• Strzałki między poziomami 1 i 2: pełna przezroczystość.</a:t>
            </a:r>
          </a:p>
          <a:p>
            <a:pPr algn="l"/>
            <a:r>
              <a:rPr b="0" sz="2200">
                <a:solidFill>
                  <a:srgbClr val="1C1C1C"/>
                </a:solidFill>
              </a:rPr>
              <a:t>• Strzałki między poziomami 2–3, 3–4, 4–5: wyblakłe do 30%.</a:t>
            </a:r>
          </a:p>
          <a:p>
            <a:pPr algn="l"/>
            <a:r>
              <a:rPr b="0" sz="2200">
                <a:solidFill>
                  <a:srgbClr val="1C1C1C"/>
                </a:solidFill>
              </a:rPr>
              <a:t>• Podpis pod diagramem: "Zbudowaliśmy plan (SOSTAC) i mapę egzekucji (RACE).</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Uczyliśmy się SOSTAC i RACE jako pierwszych, bo to najbardziej namacalne narzędzia — ale w praktyce zawodowej definiujesz strategię marki zanim wypełnisz SOSTAC. Celowo odwróciliśmy tę kolejność: zaczęliśmy od konkretnych frameworków…</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13:50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47</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Trzy Poziomy — Porównanie</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Blok 3 — Strategia Marki + CVP</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Strategia Cyfrowa</a:t>
            </a:r>
          </a:p>
          <a:p>
            <a:pPr algn="l"/>
            <a:r>
              <a:rPr b="0" sz="2200">
                <a:solidFill>
                  <a:srgbClr val="1C1C1C"/>
                </a:solidFill>
              </a:rPr>
              <a:t>• Strategia Marketingu Cyfrowego</a:t>
            </a:r>
          </a:p>
          <a:p>
            <a:pPr algn="l"/>
            <a:r>
              <a:rPr b="0" sz="2200">
                <a:solidFill>
                  <a:srgbClr val="1C1C1C"/>
                </a:solidFill>
              </a:rPr>
              <a:t>• Strategia Marki.</a:t>
            </a:r>
          </a:p>
          <a:p>
            <a:pPr algn="l"/>
            <a:r>
              <a:rPr b="0" sz="2200">
                <a:solidFill>
                  <a:srgbClr val="1C1C1C"/>
                </a:solidFill>
              </a:rPr>
              <a:t>• Jak technologia transformuje organizację?</a:t>
            </a:r>
          </a:p>
          <a:p>
            <a:pPr algn="l"/>
            <a:r>
              <a:rPr b="0" sz="2200">
                <a:solidFill>
                  <a:srgbClr val="1C1C1C"/>
                </a:solidFill>
              </a:rPr>
              <a:t>• Jak pozyskujemy, konwertujemy i utrzymujemy klientów cyfrowo?</a:t>
            </a:r>
          </a:p>
          <a:p>
            <a:pPr algn="l"/>
            <a:r>
              <a:rPr b="0" sz="2200">
                <a:solidFill>
                  <a:srgbClr val="1C1C1C"/>
                </a:solidFill>
              </a:rPr>
              <a:t>• Kim jesteśmy i co reprezentujemy?</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Zanim zagłębimy się w Strategię Marki, musimy ustawić trzy pojęcia względem siebie — bo w praktyce są często mylone, nawet przez doświadczonych marketerów. Strategia Cyfrowa to pytanie na poziomie całej organizacji: jak technologia cyfrowa…</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13:53</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48</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Komponenty Strategii Marki</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Blok 3 — Strategia Marki + CVP</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Pięć elementów rozłożonych w centralnym diagramie — układ gwiazdowy lub kołowy z "Strategi</a:t>
            </a:r>
          </a:p>
          <a:p>
            <a:pPr algn="l"/>
            <a:r>
              <a:rPr b="0" sz="2200">
                <a:solidFill>
                  <a:srgbClr val="1C1C1C"/>
                </a:solidFill>
              </a:rPr>
              <a:t>• Każdy satelita ma jednozdaniowy opis.</a:t>
            </a:r>
          </a:p>
          <a:p>
            <a:pPr algn="l"/>
            <a:r>
              <a:rPr b="0" sz="2200">
                <a:solidFill>
                  <a:srgbClr val="1C1C1C"/>
                </a:solidFill>
              </a:rPr>
              <a:t>• Minimalna czcionka 30pt.</a:t>
            </a:r>
          </a:p>
          <a:p>
            <a:pPr algn="l"/>
            <a:r>
              <a:rPr b="0" sz="2200">
                <a:solidFill>
                  <a:srgbClr val="1C1C1C"/>
                </a:solidFill>
              </a:rPr>
              <a:t>• Na dole slajdu: kursywą — "Strategia marki to nie logo.</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Strategia marki to nie logo i nie kolorystyka. To system wzajemnie powiązanych decyzji, które definiują, kim marka jest i jak komunikuje się ze światem. Pięć kluczowych komponentów: po pierwsze — Cel, czyli "dlaczego istniejemy poza…</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13:57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49</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Brand Purpose — "Zacznij od Dlaczego"</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Blok 3 — Strategia Marki + CVP</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Złotego Kręgu</a:t>
            </a:r>
          </a:p>
          <a:p>
            <a:pPr algn="l"/>
            <a:r>
              <a:rPr b="0" sz="2200">
                <a:solidFill>
                  <a:srgbClr val="1C1C1C"/>
                </a:solidFill>
              </a:rPr>
              <a:t>• (How) w środkowym pierścieniu,</a:t>
            </a:r>
          </a:p>
          <a:p>
            <a:pPr algn="l"/>
            <a:r>
              <a:rPr b="0" sz="2200">
                <a:solidFill>
                  <a:srgbClr val="1C1C1C"/>
                </a:solidFill>
              </a:rPr>
              <a:t>• (What) w zewnętrznym. Nagłówek:</a:t>
            </a:r>
          </a:p>
          <a:p>
            <a:pPr algn="l"/>
            <a:r>
              <a:rPr b="0" sz="2200">
                <a:solidFill>
                  <a:srgbClr val="1C1C1C"/>
                </a:solidFill>
              </a:rPr>
              <a:t>• Po prawej stronie: case study Allegro — krótki opis kampanii</a:t>
            </a:r>
          </a:p>
          <a:p>
            <a:pPr algn="l"/>
            <a:r>
              <a:rPr b="0" sz="2200">
                <a:solidFill>
                  <a:srgbClr val="1C1C1C"/>
                </a:solidFill>
              </a:rPr>
              <a:t>• z ikoną YouTube i cytatem:</a:t>
            </a:r>
          </a:p>
          <a:p>
            <a:pPr algn="l"/>
            <a:r>
              <a:rPr b="0" sz="2200">
                <a:solidFill>
                  <a:srgbClr val="1C1C1C"/>
                </a:solidFill>
              </a:rPr>
              <a:t>• W dolnej części: statystyka 18:</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Simon Sinek spopularyzował koncepcję "Zacznij od Dlaczego" — i choć brzmi prosto, w praktyce jest jednym z najtrudniejszych zadań strategicznych dla każdej marki. Dlaczego to nie "żeby zarabiać pieniądze" — to cel biznesowy, nie cel marki.…</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14:01</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50</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Pozycjonowanie Marki</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Blok 3 — Strategia Marki + CVP</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Po prawej: uproszczona mapa percepcyjna (Perceptual Map) — dwie osie (np.</a:t>
            </a:r>
          </a:p>
          <a:p>
            <a:pPr algn="l"/>
            <a:r>
              <a:rPr b="0" sz="2200">
                <a:solidFill>
                  <a:srgbClr val="1C1C1C"/>
                </a:solidFill>
              </a:rPr>
              <a:t>• Zasięg: niszowy → masowy</a:t>
            </a:r>
          </a:p>
          <a:p>
            <a:pPr algn="l"/>
            <a:r>
              <a:rPr b="0" sz="2200">
                <a:solidFill>
                  <a:srgbClr val="1C1C1C"/>
                </a:solidFill>
              </a:rPr>
              <a:t>• Pozycjonowanie: dla KOGO i w CZYM.</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Pozycjonowanie to nie USP. USP pyta: "czym się różnimy?" — i skupia się na produkcie. Pozycjonowanie pyta: "dla kogo jesteśmy numerem jeden i w czym?" — i skupia się na kliencie. To fundamentalna różnica. Klasyczny wzór oświadczenia…</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14:05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51</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Tożsamość i Osobowość Marki</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Blok 3 — Strategia Marki + CVP</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System Tożsamości</a:t>
            </a:r>
          </a:p>
          <a:p>
            <a:pPr algn="l"/>
            <a:r>
              <a:rPr b="0" sz="2200">
                <a:solidFill>
                  <a:srgbClr val="1C1C1C"/>
                </a:solidFill>
              </a:rPr>
              <a:t>• chaotyczny humor, mascot-driven, self-aware</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Tożsamość marki to spójny system wizualny i werbalny, który sprawia, że marka jest rozpoznawalna na każdym punkcie kontaktu z klientem. To nie tylko logo — to zestaw zasad, który decyduje jak marka wygląda, jak mówi i jak się zachowuje.…</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14:09</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52</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Model Kapitału Marki Aakera</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Blok 3 — Strategia Marki + CVP</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Lojalność wobec marki,</a:t>
            </a:r>
          </a:p>
          <a:p>
            <a:pPr algn="l"/>
            <a:r>
              <a:rPr b="0" sz="2200">
                <a:solidFill>
                  <a:srgbClr val="1C1C1C"/>
                </a:solidFill>
              </a:rPr>
              <a:t>• Świadomość marki,</a:t>
            </a:r>
          </a:p>
          <a:p>
            <a:pPr algn="l"/>
            <a:r>
              <a:rPr b="0" sz="2200">
                <a:solidFill>
                  <a:srgbClr val="1C1C1C"/>
                </a:solidFill>
              </a:rPr>
              <a:t>• Postrzegana jakość,</a:t>
            </a:r>
          </a:p>
          <a:p>
            <a:pPr algn="l"/>
            <a:r>
              <a:rPr b="0" sz="2200">
                <a:solidFill>
                  <a:srgbClr val="1C1C1C"/>
                </a:solidFill>
              </a:rPr>
              <a:t>• Skojarzenia z marką,</a:t>
            </a:r>
          </a:p>
          <a:p>
            <a:pPr algn="l"/>
            <a:r>
              <a:rPr b="0" sz="2200">
                <a:solidFill>
                  <a:srgbClr val="1C1C1C"/>
                </a:solidFill>
              </a:rPr>
              <a:t>• Inne zasoby własnościowe</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David Aaker, profesor marketingu z Berkeley, zaproponował model, który do dziś jest jednym z najbardziej użytecznych narzędzi do mierzenia siły marki. Kapital marki — Brand Equity — to wartość, jaką nazwa marki dodaje do produktu lub…</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14:13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53</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Piramida Marki</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Blok 3 — Strategia Marki + CVP</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Podeszwy Air Max, technologia Flyknit</a:t>
            </a:r>
          </a:p>
          <a:p>
            <a:pPr algn="l"/>
            <a:r>
              <a:rPr b="0" sz="2200">
                <a:solidFill>
                  <a:srgbClr val="1C1C1C"/>
                </a:solidFill>
              </a:rPr>
              <a:t>• Wydajność atletyczna, komfort</a:t>
            </a:r>
          </a:p>
          <a:p>
            <a:pPr algn="l"/>
            <a:r>
              <a:rPr b="0" sz="2200">
                <a:solidFill>
                  <a:srgbClr val="1C1C1C"/>
                </a:solidFill>
              </a:rPr>
              <a:t>• Czuję się jak prawdziwy sportowiec</a:t>
            </a:r>
          </a:p>
          <a:p>
            <a:pPr algn="l"/>
            <a:r>
              <a:rPr b="0" sz="2200">
                <a:solidFill>
                  <a:srgbClr val="1C1C1C"/>
                </a:solidFill>
              </a:rPr>
              <a:t>• Determinacja, przezwyciężanie siebie, autentyzm</a:t>
            </a:r>
          </a:p>
          <a:p>
            <a:pPr algn="l"/>
            <a:r>
              <a:rPr b="0" sz="2200">
                <a:solidFill>
                  <a:srgbClr val="1C1C1C"/>
                </a:solidFill>
              </a:rPr>
              <a:t>• Od atrybutów do esencji.</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Piramida marki to narzędzie, które pokazuje, jak marka buduje znaczenie — od poziomu produktu do poziomu tożsamości. Na dole piramidy są atrybuty: konkretne cechy produktu, które można opisać techniczne. W środku są korzyści — najpierw…</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14:17</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54</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CVP — Definicja i CVP vs. USP</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Blok 3 — Strategia Marki + CVP</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Środkowa część: tabela porównawcza CVP vs. USP, dwie kolumny:</a:t>
            </a:r>
          </a:p>
          <a:p>
            <a:pPr algn="l"/>
            <a:r>
              <a:rPr b="0" sz="2200">
                <a:solidFill>
                  <a:srgbClr val="1C1C1C"/>
                </a:solidFill>
              </a:rPr>
              <a:t>• Wiersze: (1) Pytanie:</a:t>
            </a:r>
          </a:p>
          <a:p>
            <a:pPr algn="l"/>
            <a:r>
              <a:rPr b="0" sz="2200">
                <a:solidFill>
                  <a:srgbClr val="1C1C1C"/>
                </a:solidFill>
              </a:rPr>
              <a:t>• Dlaczego klient powinien nas wybrać?</a:t>
            </a:r>
          </a:p>
          <a:p>
            <a:pPr algn="l"/>
            <a:r>
              <a:rPr b="0" sz="2200">
                <a:solidFill>
                  <a:srgbClr val="1C1C1C"/>
                </a:solidFill>
              </a:rPr>
              <a:t>• Marka / produkt</a:t>
            </a:r>
          </a:p>
          <a:p>
            <a:pPr algn="l"/>
            <a:r>
              <a:rPr b="0" sz="2200">
                <a:solidFill>
                  <a:srgbClr val="1C1C1C"/>
                </a:solidFill>
              </a:rPr>
              <a:t>• Klient i jego potrzeby</a:t>
            </a:r>
          </a:p>
          <a:p>
            <a:pPr algn="l"/>
            <a:r>
              <a:rPr b="0" sz="2200">
                <a:solidFill>
                  <a:srgbClr val="1C1C1C"/>
                </a:solidFill>
              </a:rPr>
              <a:t>• My jesteśmy najlepsi w…</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CVP to nie hasło reklamowe. To odpowiedź na jedno konkretne pytanie klienta: "Dlaczego właśnie Wy, a nie ktoś inny?" Ta odpowiedź musi być konkretna, musi mówić o kliencie — nie o produkcie. Różnica między CVP a USP jest subtelna, ale…</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14:17</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55</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Kanwa Propozycji Wartości — Przegląd</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Blok 3 — Strategia Marki + CVP</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Klasyczny diagram Kanwy Propozycji Wartości (Alexander Osterwalder) — koło po prawej stron</a:t>
            </a:r>
          </a:p>
          <a:p>
            <a:pPr algn="l"/>
            <a:r>
              <a:rPr b="0" sz="2200">
                <a:solidFill>
                  <a:srgbClr val="1C1C1C"/>
                </a:solidFill>
              </a:rPr>
              <a:t>• Koło Profilu Klienta podzielone na trzy strefy: Zadania Klienta (żółty), Bóle (czerwony), </a:t>
            </a:r>
          </a:p>
          <a:p>
            <a:pPr algn="l"/>
            <a:r>
              <a:rPr b="0" sz="2200">
                <a:solidFill>
                  <a:srgbClr val="1C1C1C"/>
                </a:solidFill>
              </a:rPr>
              <a:t>• Kwadrat Mapy Wartości podzielony na trzy strefy: Produkty i Usługi (szary), Uśmierzacze Bó</a:t>
            </a:r>
          </a:p>
          <a:p>
            <a:pPr algn="l"/>
            <a:r>
              <a:rPr b="0" sz="2200">
                <a:solidFill>
                  <a:srgbClr val="1C1C1C"/>
                </a:solidFill>
              </a:rPr>
              <a:t>• Strzałka łącząca koło i kwadrat z etykietą "FIT." Polskie etykiety stref widoczne w każdym</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Kanwa Propozycji Wartości — opracowana przez Alexandra Osterwaldera — to narzędzie, które przekształca intuicję o kliencie w ustrukturyzowaną analizę. Składa się z dwóch elementów. Profil Klienta po prawej: trzy strefy — Zadania Klienta,…</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14:20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56</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Przykłady CVP</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Blok 3 — Strategia Marki + CVP</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Pięć kart ułożonych w kolumnie lub siatce.</a:t>
            </a:r>
          </a:p>
          <a:p>
            <a:pPr algn="l"/>
            <a:r>
              <a:rPr b="0" sz="2200">
                <a:solidFill>
                  <a:srgbClr val="1C1C1C"/>
                </a:solidFill>
              </a:rPr>
              <a:t>• Każda karta zawiera logo marki (placeholder) i jedną do dwóch linii tekstu CVP.</a:t>
            </a:r>
          </a:p>
          <a:p>
            <a:pPr algn="l"/>
            <a:r>
              <a:rPr b="0" sz="2200">
                <a:solidFill>
                  <a:srgbClr val="1C1C1C"/>
                </a:solidFill>
              </a:rPr>
              <a:t>• Format każdej: "Dla [target] / Którzy [problem] / Nasz produkt [rozwiązanie] / Bo [kluczow</a:t>
            </a:r>
          </a:p>
          <a:p>
            <a:pPr algn="l"/>
            <a:r>
              <a:rPr b="0" sz="2200">
                <a:solidFill>
                  <a:srgbClr val="1C1C1C"/>
                </a:solidFill>
              </a:rPr>
              <a:t>• Minimalna czcionka 30pt dla CVP na kartach.</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Zobaczmy, jak wygląda mocna CVP w praktyce — na pięciu przykładach z różnych branż i kontekstów. InPost: "Dla polskiego kupującego online, który nienawidzi czekać na kuriera — Paczkomat gwarantuje odbiór paczki w siedem minut od domu, o…</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14:23</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57</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CVP jako Kompas Decyzji Marketingowych</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Blok 3 — Strategia Marki + CVP</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Cztery strzałki wychodzące na zewnątrz, każda z etykietą: (1) Strategia Treści —</a:t>
            </a:r>
          </a:p>
          <a:p>
            <a:pPr algn="l"/>
            <a:r>
              <a:rPr b="0" sz="2200">
                <a:solidFill>
                  <a:srgbClr val="1C1C1C"/>
                </a:solidFill>
              </a:rPr>
              <a:t>• ; (2) Wybór Kanałów —</a:t>
            </a:r>
          </a:p>
          <a:p>
            <a:pPr algn="l"/>
            <a:r>
              <a:rPr b="0" sz="2200">
                <a:solidFill>
                  <a:srgbClr val="1C1C1C"/>
                </a:solidFill>
              </a:rPr>
              <a:t>• ; (3) Hierarchia Przekazu —</a:t>
            </a:r>
          </a:p>
          <a:p>
            <a:pPr algn="l"/>
            <a:r>
              <a:rPr b="0" sz="2200">
                <a:solidFill>
                  <a:srgbClr val="1C1C1C"/>
                </a:solidFill>
              </a:rPr>
              <a:t>• ; (4) Priorytet Budżetu —</a:t>
            </a:r>
          </a:p>
          <a:p>
            <a:pPr algn="l"/>
            <a:r>
              <a:rPr b="0" sz="2200">
                <a:solidFill>
                  <a:srgbClr val="1C1C1C"/>
                </a:solidFill>
              </a:rPr>
              <a:t>• Podpis w stylu kursywy na dole:</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Silna CVP nie jest celem samym w sobie — jest kompasem dla wszystkich dalszych decyzji marketingowych. Kiedy masz silną CVP, pytania stają się prostsze: czy ten kanał dociera do naszego klienta? Czy ta treść odpowiada na jego ból lub…</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14:25</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90EE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37160"/>
            <a:ext cx="914400" cy="365760"/>
          </a:xfrm>
          <a:prstGeom prst="rect">
            <a:avLst/>
          </a:prstGeom>
          <a:noFill/>
        </p:spPr>
        <p:txBody>
          <a:bodyPr wrap="square">
            <a:spAutoFit/>
          </a:bodyPr>
          <a:lstStyle/>
          <a:p>
            <a:pPr algn="l"/>
            <a:r>
              <a:rPr b="1" i="0" sz="1100">
                <a:solidFill>
                  <a:srgbClr val="8892A4"/>
                </a:solidFill>
              </a:rPr>
              <a:t>Slide 58</a:t>
            </a:r>
          </a:p>
        </p:txBody>
      </p:sp>
      <p:sp>
        <p:nvSpPr>
          <p:cNvPr id="5" name="TextBox 4"/>
          <p:cNvSpPr txBox="1"/>
          <p:nvPr/>
        </p:nvSpPr>
        <p:spPr>
          <a:xfrm>
            <a:off x="201168" y="320040"/>
            <a:ext cx="11786616" cy="1280160"/>
          </a:xfrm>
          <a:prstGeom prst="rect">
            <a:avLst/>
          </a:prstGeom>
          <a:noFill/>
        </p:spPr>
        <p:txBody>
          <a:bodyPr wrap="square">
            <a:spAutoFit/>
          </a:bodyPr>
          <a:lstStyle/>
          <a:p>
            <a:pPr algn="l"/>
            <a:r>
              <a:rPr b="1" i="0" sz="3200">
                <a:solidFill>
                  <a:srgbClr val="FFFFFF"/>
                </a:solidFill>
              </a:rPr>
              <a:t>Przejście do Warsztatu 3</a:t>
            </a:r>
          </a:p>
        </p:txBody>
      </p:sp>
      <p:sp>
        <p:nvSpPr>
          <p:cNvPr id="6" name="TextBox 5"/>
          <p:cNvSpPr txBox="1"/>
          <p:nvPr/>
        </p:nvSpPr>
        <p:spPr>
          <a:xfrm>
            <a:off x="8897112" y="128016"/>
            <a:ext cx="3108960" cy="310896"/>
          </a:xfrm>
          <a:prstGeom prst="rect">
            <a:avLst/>
          </a:prstGeom>
          <a:noFill/>
        </p:spPr>
        <p:txBody>
          <a:bodyPr wrap="square">
            <a:spAutoFit/>
          </a:bodyPr>
          <a:lstStyle/>
          <a:p>
            <a:pPr algn="r"/>
            <a:r>
              <a:rPr b="0" i="0" sz="900">
                <a:solidFill>
                  <a:srgbClr val="90EE90"/>
                </a:solidFill>
              </a:rPr>
              <a:t>Warsztat 3 — Przejście</a:t>
            </a:r>
          </a:p>
        </p:txBody>
      </p:sp>
      <p:sp>
        <p:nvSpPr>
          <p:cNvPr id="7" name="Rectangle 6"/>
          <p:cNvSpPr/>
          <p:nvPr/>
        </p:nvSpPr>
        <p:spPr>
          <a:xfrm>
            <a:off x="201168" y="1691640"/>
            <a:ext cx="11786616" cy="1371600"/>
          </a:xfrm>
          <a:prstGeom prst="rect">
            <a:avLst/>
          </a:prstGeom>
          <a:solidFill>
            <a:srgbClr val="0F2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1751990"/>
            <a:ext cx="1371600" cy="347472"/>
          </a:xfrm>
          <a:prstGeom prst="rect">
            <a:avLst/>
          </a:prstGeom>
          <a:noFill/>
        </p:spPr>
        <p:txBody>
          <a:bodyPr wrap="square">
            <a:spAutoFit/>
          </a:bodyPr>
          <a:lstStyle/>
          <a:p>
            <a:pPr algn="l"/>
            <a:r>
              <a:rPr b="1" i="0" sz="1200">
                <a:solidFill>
                  <a:srgbClr val="90EE90"/>
                </a:solidFill>
              </a:rPr>
              <a:t>ZADANIE</a:t>
            </a:r>
          </a:p>
        </p:txBody>
      </p:sp>
      <p:sp>
        <p:nvSpPr>
          <p:cNvPr id="9" name="TextBox 8"/>
          <p:cNvSpPr txBox="1"/>
          <p:nvPr/>
        </p:nvSpPr>
        <p:spPr>
          <a:xfrm>
            <a:off x="402336" y="2103120"/>
            <a:ext cx="11384280" cy="868680"/>
          </a:xfrm>
          <a:prstGeom prst="rect">
            <a:avLst/>
          </a:prstGeom>
          <a:noFill/>
        </p:spPr>
        <p:txBody>
          <a:bodyPr wrap="square">
            <a:spAutoFit/>
          </a:bodyPr>
          <a:lstStyle/>
          <a:p>
            <a:pPr algn="l"/>
            <a:r>
              <a:rPr b="0" i="0" sz="1600">
                <a:solidFill>
                  <a:srgbClr val="F0F4FF"/>
                </a:solidFill>
              </a:rPr>
              <a:t>Czas na ćwiczenia. Warsztat 3 — Kanwa Propozycji Wartości. Teraz wy przejdziecie przez tę samą analizę, którą przed chwilą opisywaliśmy na przykładach. Zaraz pokażę wam instrukcje i przypomnienie: pracujecie z tą samą marką, którą wybraliście w Ćwiczeniu 1.</a:t>
            </a:r>
          </a:p>
        </p:txBody>
      </p:sp>
      <p:sp>
        <p:nvSpPr>
          <p:cNvPr id="10" name="TextBox 9"/>
          <p:cNvSpPr txBox="1"/>
          <p:nvPr/>
        </p:nvSpPr>
        <p:spPr>
          <a:xfrm>
            <a:off x="201168" y="3200400"/>
            <a:ext cx="11786616" cy="347472"/>
          </a:xfrm>
          <a:prstGeom prst="rect">
            <a:avLst/>
          </a:prstGeom>
          <a:noFill/>
        </p:spPr>
        <p:txBody>
          <a:bodyPr wrap="square">
            <a:spAutoFit/>
          </a:bodyPr>
          <a:lstStyle/>
          <a:p>
            <a:pPr algn="l"/>
            <a:r>
              <a:rPr b="1" i="0" sz="1200">
                <a:solidFill>
                  <a:srgbClr val="90EE90"/>
                </a:solidFill>
              </a:rPr>
              <a:t>PYTANIA DEBRIEFINGOWE</a:t>
            </a:r>
          </a:p>
        </p:txBody>
      </p:sp>
      <p:sp>
        <p:nvSpPr>
          <p:cNvPr id="11" name="TextBox 10"/>
          <p:cNvSpPr txBox="1"/>
          <p:nvPr/>
        </p:nvSpPr>
        <p:spPr>
          <a:xfrm>
            <a:off x="201168" y="3584448"/>
            <a:ext cx="11786616" cy="2862072"/>
          </a:xfrm>
          <a:prstGeom prst="rect">
            <a:avLst/>
          </a:prstGeom>
          <a:noFill/>
        </p:spPr>
        <p:txBody>
          <a:bodyPr wrap="square">
            <a:spAutoFit/>
          </a:bodyPr>
          <a:lstStyle/>
          <a:p>
            <a:pPr algn="l"/>
            <a:r>
              <a:rPr b="0" sz="1600">
                <a:solidFill>
                  <a:srgbClr val="D0D4DD"/>
                </a:solidFill>
              </a:rPr>
              <a:t>• Czy zaczęliście wypełniać Mapę Wartości, zanim skończyliście Profil Klienta? Jak to wpłynęło na jakość waszej analizy?</a:t>
            </a:r>
          </a:p>
          <a:p>
            <a:pPr algn="l"/>
            <a:r>
              <a:rPr b="0" sz="1600">
                <a:solidFill>
                  <a:srgbClr val="D0D4DD"/>
                </a:solidFill>
              </a:rPr>
              <a:t>• Który z identyfikowanych bólów klienta jest najbardziej nieoczekiwany — czyli taki, o którym marka prawdopodobnie nie myśli regularnie?</a:t>
            </a:r>
          </a:p>
          <a:p>
            <a:pPr algn="l"/>
            <a:r>
              <a:rPr b="0" sz="1600">
                <a:solidFill>
                  <a:srgbClr val="D0D4DD"/>
                </a:solidFill>
              </a:rPr>
              <a:t>• Jak przetłumaczylibyście wnioski z waszej Kanwy na jedno zdanie CVP — zdanie, które klient sam mógłby wypowiedzieć?</a:t>
            </a:r>
          </a:p>
        </p:txBody>
      </p:sp>
      <p:sp>
        <p:nvSpPr>
          <p:cNvPr id="12" name="TextBox 11"/>
          <p:cNvSpPr txBox="1"/>
          <p:nvPr/>
        </p:nvSpPr>
        <p:spPr>
          <a:xfrm>
            <a:off x="10268712" y="6510528"/>
            <a:ext cx="1737360" cy="292608"/>
          </a:xfrm>
          <a:prstGeom prst="rect">
            <a:avLst/>
          </a:prstGeom>
          <a:noFill/>
        </p:spPr>
        <p:txBody>
          <a:bodyPr wrap="square">
            <a:spAutoFit/>
          </a:bodyPr>
          <a:lstStyle/>
          <a:p>
            <a:pPr algn="r"/>
            <a:r>
              <a:rPr b="1" i="0" sz="1200">
                <a:solidFill>
                  <a:srgbClr val="90EE90"/>
                </a:solidFill>
              </a:rPr>
              <a:t>Cel: 14:25</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90EE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37160"/>
            <a:ext cx="914400" cy="365760"/>
          </a:xfrm>
          <a:prstGeom prst="rect">
            <a:avLst/>
          </a:prstGeom>
          <a:noFill/>
        </p:spPr>
        <p:txBody>
          <a:bodyPr wrap="square">
            <a:spAutoFit/>
          </a:bodyPr>
          <a:lstStyle/>
          <a:p>
            <a:pPr algn="l"/>
            <a:r>
              <a:rPr b="1" i="0" sz="1100">
                <a:solidFill>
                  <a:srgbClr val="8892A4"/>
                </a:solidFill>
              </a:rPr>
              <a:t>Slide 59</a:t>
            </a:r>
          </a:p>
        </p:txBody>
      </p:sp>
      <p:sp>
        <p:nvSpPr>
          <p:cNvPr id="5" name="TextBox 4"/>
          <p:cNvSpPr txBox="1"/>
          <p:nvPr/>
        </p:nvSpPr>
        <p:spPr>
          <a:xfrm>
            <a:off x="201168" y="320040"/>
            <a:ext cx="11786616" cy="1280160"/>
          </a:xfrm>
          <a:prstGeom prst="rect">
            <a:avLst/>
          </a:prstGeom>
          <a:noFill/>
        </p:spPr>
        <p:txBody>
          <a:bodyPr wrap="square">
            <a:spAutoFit/>
          </a:bodyPr>
          <a:lstStyle/>
          <a:p>
            <a:pPr algn="l"/>
            <a:r>
              <a:rPr b="1" i="0" sz="3200">
                <a:solidFill>
                  <a:srgbClr val="FFFFFF"/>
                </a:solidFill>
              </a:rPr>
              <a:t>Warsztat 3 — Instrukcja</a:t>
            </a:r>
          </a:p>
        </p:txBody>
      </p:sp>
      <p:sp>
        <p:nvSpPr>
          <p:cNvPr id="6" name="TextBox 5"/>
          <p:cNvSpPr txBox="1"/>
          <p:nvPr/>
        </p:nvSpPr>
        <p:spPr>
          <a:xfrm>
            <a:off x="8897112" y="128016"/>
            <a:ext cx="3108960" cy="310896"/>
          </a:xfrm>
          <a:prstGeom prst="rect">
            <a:avLst/>
          </a:prstGeom>
          <a:noFill/>
        </p:spPr>
        <p:txBody>
          <a:bodyPr wrap="square">
            <a:spAutoFit/>
          </a:bodyPr>
          <a:lstStyle/>
          <a:p>
            <a:pPr algn="r"/>
            <a:r>
              <a:rPr b="0" i="0" sz="900">
                <a:solidFill>
                  <a:srgbClr val="90EE90"/>
                </a:solidFill>
              </a:rPr>
              <a:t>Warsztat 3 — Instrukcja</a:t>
            </a:r>
          </a:p>
        </p:txBody>
      </p:sp>
      <p:sp>
        <p:nvSpPr>
          <p:cNvPr id="7" name="Rectangle 6"/>
          <p:cNvSpPr/>
          <p:nvPr/>
        </p:nvSpPr>
        <p:spPr>
          <a:xfrm>
            <a:off x="201168" y="1691640"/>
            <a:ext cx="11786616" cy="1371600"/>
          </a:xfrm>
          <a:prstGeom prst="rect">
            <a:avLst/>
          </a:prstGeom>
          <a:solidFill>
            <a:srgbClr val="0F2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1751990"/>
            <a:ext cx="1371600" cy="347472"/>
          </a:xfrm>
          <a:prstGeom prst="rect">
            <a:avLst/>
          </a:prstGeom>
          <a:noFill/>
        </p:spPr>
        <p:txBody>
          <a:bodyPr wrap="square">
            <a:spAutoFit/>
          </a:bodyPr>
          <a:lstStyle/>
          <a:p>
            <a:pPr algn="l"/>
            <a:r>
              <a:rPr b="1" i="0" sz="1200">
                <a:solidFill>
                  <a:srgbClr val="90EE90"/>
                </a:solidFill>
              </a:rPr>
              <a:t>ZADANIE</a:t>
            </a:r>
          </a:p>
        </p:txBody>
      </p:sp>
      <p:sp>
        <p:nvSpPr>
          <p:cNvPr id="9" name="TextBox 8"/>
          <p:cNvSpPr txBox="1"/>
          <p:nvPr/>
        </p:nvSpPr>
        <p:spPr>
          <a:xfrm>
            <a:off x="402336" y="2103120"/>
            <a:ext cx="11384280" cy="868680"/>
          </a:xfrm>
          <a:prstGeom prst="rect">
            <a:avLst/>
          </a:prstGeom>
          <a:noFill/>
        </p:spPr>
        <p:txBody>
          <a:bodyPr wrap="square">
            <a:spAutoFit/>
          </a:bodyPr>
          <a:lstStyle/>
          <a:p>
            <a:pPr algn="l"/>
            <a:r>
              <a:rPr b="0" i="0" sz="1600">
                <a:solidFill>
                  <a:srgbClr val="F0F4FF"/>
                </a:solidFill>
              </a:rPr>
              <a:t>Instrukcja do Warsztatu trzeciego. Wasze zadanie: uzupełnijcie Kanwę Propozycji Wartości dla waszej marki. Macie pięćdziesiąt minut — do 15:15. Oczekiwany wynik: wypełniona Kanwa dla jednego wybranego segmentu klienta oraz jeden werbalizowany CVP, który ten segment zrozumie i zaakceptuje.…</a:t>
            </a:r>
          </a:p>
        </p:txBody>
      </p:sp>
      <p:sp>
        <p:nvSpPr>
          <p:cNvPr id="10" name="TextBox 9"/>
          <p:cNvSpPr txBox="1"/>
          <p:nvPr/>
        </p:nvSpPr>
        <p:spPr>
          <a:xfrm>
            <a:off x="201168" y="3200400"/>
            <a:ext cx="11786616" cy="347472"/>
          </a:xfrm>
          <a:prstGeom prst="rect">
            <a:avLst/>
          </a:prstGeom>
          <a:noFill/>
        </p:spPr>
        <p:txBody>
          <a:bodyPr wrap="square">
            <a:spAutoFit/>
          </a:bodyPr>
          <a:lstStyle/>
          <a:p>
            <a:pPr algn="l"/>
            <a:r>
              <a:rPr b="1" i="0" sz="1200">
                <a:solidFill>
                  <a:srgbClr val="90EE90"/>
                </a:solidFill>
              </a:rPr>
              <a:t>PYTANIA DEBRIEFINGOWE</a:t>
            </a:r>
          </a:p>
        </p:txBody>
      </p:sp>
      <p:sp>
        <p:nvSpPr>
          <p:cNvPr id="11" name="TextBox 10"/>
          <p:cNvSpPr txBox="1"/>
          <p:nvPr/>
        </p:nvSpPr>
        <p:spPr>
          <a:xfrm>
            <a:off x="201168" y="3584448"/>
            <a:ext cx="11786616" cy="2862072"/>
          </a:xfrm>
          <a:prstGeom prst="rect">
            <a:avLst/>
          </a:prstGeom>
          <a:noFill/>
        </p:spPr>
        <p:txBody>
          <a:bodyPr wrap="square">
            <a:spAutoFit/>
          </a:bodyPr>
          <a:lstStyle/>
          <a:p>
            <a:pPr algn="l"/>
            <a:r>
              <a:rPr b="0" sz="1600">
                <a:solidFill>
                  <a:srgbClr val="D0D4DD"/>
                </a:solidFill>
              </a:rPr>
              <a:t>• Czy zaczęliście wypełniać Mapę Wartości, zanim skończyliście Profil Klienta? Jak to wpłynęło na jakość waszej analizy?</a:t>
            </a:r>
          </a:p>
          <a:p>
            <a:pPr algn="l"/>
            <a:r>
              <a:rPr b="0" sz="1600">
                <a:solidFill>
                  <a:srgbClr val="D0D4DD"/>
                </a:solidFill>
              </a:rPr>
              <a:t>• Który z identyfikowanych bólów klienta jest najbardziej nieoczekiwany — czyli taki, o którym marka prawdopodobnie nie myśli regularnie?</a:t>
            </a:r>
          </a:p>
          <a:p>
            <a:pPr algn="l"/>
            <a:r>
              <a:rPr b="0" sz="1600">
                <a:solidFill>
                  <a:srgbClr val="D0D4DD"/>
                </a:solidFill>
              </a:rPr>
              <a:t>• Jak przetłumaczylibyście wnioski z waszej Kanwy na jedno zdanie CVP — zdanie, które klient sam mógłby wypowiedzieć?</a:t>
            </a:r>
          </a:p>
        </p:txBody>
      </p:sp>
      <p:sp>
        <p:nvSpPr>
          <p:cNvPr id="12" name="TextBox 11"/>
          <p:cNvSpPr txBox="1"/>
          <p:nvPr/>
        </p:nvSpPr>
        <p:spPr>
          <a:xfrm>
            <a:off x="10268712" y="6510528"/>
            <a:ext cx="1737360" cy="292608"/>
          </a:xfrm>
          <a:prstGeom prst="rect">
            <a:avLst/>
          </a:prstGeom>
          <a:noFill/>
        </p:spPr>
        <p:txBody>
          <a:bodyPr wrap="square">
            <a:spAutoFit/>
          </a:bodyPr>
          <a:lstStyle/>
          <a:p>
            <a:pPr algn="r"/>
            <a:r>
              <a:rPr b="1" i="0" sz="1200">
                <a:solidFill>
                  <a:srgbClr val="90EE90"/>
                </a:solidFill>
              </a:rPr>
              <a:t>Cel: 14:27</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90EE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37160"/>
            <a:ext cx="914400" cy="365760"/>
          </a:xfrm>
          <a:prstGeom prst="rect">
            <a:avLst/>
          </a:prstGeom>
          <a:noFill/>
        </p:spPr>
        <p:txBody>
          <a:bodyPr wrap="square">
            <a:spAutoFit/>
          </a:bodyPr>
          <a:lstStyle/>
          <a:p>
            <a:pPr algn="l"/>
            <a:r>
              <a:rPr b="1" i="0" sz="1100">
                <a:solidFill>
                  <a:srgbClr val="8892A4"/>
                </a:solidFill>
              </a:rPr>
              <a:t>Slide 60</a:t>
            </a:r>
          </a:p>
        </p:txBody>
      </p:sp>
      <p:sp>
        <p:nvSpPr>
          <p:cNvPr id="5" name="TextBox 4"/>
          <p:cNvSpPr txBox="1"/>
          <p:nvPr/>
        </p:nvSpPr>
        <p:spPr>
          <a:xfrm>
            <a:off x="201168" y="320040"/>
            <a:ext cx="11786616" cy="1280160"/>
          </a:xfrm>
          <a:prstGeom prst="rect">
            <a:avLst/>
          </a:prstGeom>
          <a:noFill/>
        </p:spPr>
        <p:txBody>
          <a:bodyPr wrap="square">
            <a:spAutoFit/>
          </a:bodyPr>
          <a:lstStyle/>
          <a:p>
            <a:pPr algn="l"/>
            <a:r>
              <a:rPr b="1" i="0" sz="3200">
                <a:solidFill>
                  <a:srgbClr val="FFFFFF"/>
                </a:solidFill>
              </a:rPr>
              <a:t>Warsztat 3 — Przykład (InPost Kanwa Propozycji Wartości)</a:t>
            </a:r>
          </a:p>
        </p:txBody>
      </p:sp>
      <p:sp>
        <p:nvSpPr>
          <p:cNvPr id="6" name="TextBox 5"/>
          <p:cNvSpPr txBox="1"/>
          <p:nvPr/>
        </p:nvSpPr>
        <p:spPr>
          <a:xfrm>
            <a:off x="8897112" y="128016"/>
            <a:ext cx="3108960" cy="310896"/>
          </a:xfrm>
          <a:prstGeom prst="rect">
            <a:avLst/>
          </a:prstGeom>
          <a:noFill/>
        </p:spPr>
        <p:txBody>
          <a:bodyPr wrap="square">
            <a:spAutoFit/>
          </a:bodyPr>
          <a:lstStyle/>
          <a:p>
            <a:pPr algn="r"/>
            <a:r>
              <a:rPr b="0" i="0" sz="900">
                <a:solidFill>
                  <a:srgbClr val="90EE90"/>
                </a:solidFill>
              </a:rPr>
              <a:t>Warsztat 3 — Przykład</a:t>
            </a:r>
          </a:p>
        </p:txBody>
      </p:sp>
      <p:sp>
        <p:nvSpPr>
          <p:cNvPr id="7" name="Rectangle 6"/>
          <p:cNvSpPr/>
          <p:nvPr/>
        </p:nvSpPr>
        <p:spPr>
          <a:xfrm>
            <a:off x="201168" y="1691640"/>
            <a:ext cx="11786616" cy="1371600"/>
          </a:xfrm>
          <a:prstGeom prst="rect">
            <a:avLst/>
          </a:prstGeom>
          <a:solidFill>
            <a:srgbClr val="0F2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1751990"/>
            <a:ext cx="1371600" cy="347472"/>
          </a:xfrm>
          <a:prstGeom prst="rect">
            <a:avLst/>
          </a:prstGeom>
          <a:noFill/>
        </p:spPr>
        <p:txBody>
          <a:bodyPr wrap="square">
            <a:spAutoFit/>
          </a:bodyPr>
          <a:lstStyle/>
          <a:p>
            <a:pPr algn="l"/>
            <a:r>
              <a:rPr b="1" i="0" sz="1200">
                <a:solidFill>
                  <a:srgbClr val="90EE90"/>
                </a:solidFill>
              </a:rPr>
              <a:t>ZADANIE</a:t>
            </a:r>
          </a:p>
        </p:txBody>
      </p:sp>
      <p:sp>
        <p:nvSpPr>
          <p:cNvPr id="9" name="TextBox 8"/>
          <p:cNvSpPr txBox="1"/>
          <p:nvPr/>
        </p:nvSpPr>
        <p:spPr>
          <a:xfrm>
            <a:off x="402336" y="2103120"/>
            <a:ext cx="11384280" cy="868680"/>
          </a:xfrm>
          <a:prstGeom prst="rect">
            <a:avLst/>
          </a:prstGeom>
          <a:noFill/>
        </p:spPr>
        <p:txBody>
          <a:bodyPr wrap="square">
            <a:spAutoFit/>
          </a:bodyPr>
          <a:lstStyle/>
          <a:p>
            <a:pPr algn="l"/>
            <a:r>
              <a:rPr b="0" i="0" sz="1600">
                <a:solidFill>
                  <a:srgbClr val="F0F4FF"/>
                </a:solidFill>
              </a:rPr>
              <a:t>To jest punkt orientacyjny — jak powinien wyglądać wypełniony Profil Klienta dla InPost. Persona Marka, 31-letniego warszawiaka, który kupuje online kilka razy w miesiącu i rzadko jest w domu w godzinach dostawy. Zwróćcie uwagę, że Zadania, Bóle i Korzyści są napisane z perspektywy klienta — jego…</a:t>
            </a:r>
          </a:p>
        </p:txBody>
      </p:sp>
      <p:sp>
        <p:nvSpPr>
          <p:cNvPr id="10" name="TextBox 9"/>
          <p:cNvSpPr txBox="1"/>
          <p:nvPr/>
        </p:nvSpPr>
        <p:spPr>
          <a:xfrm>
            <a:off x="201168" y="3200400"/>
            <a:ext cx="11786616" cy="347472"/>
          </a:xfrm>
          <a:prstGeom prst="rect">
            <a:avLst/>
          </a:prstGeom>
          <a:noFill/>
        </p:spPr>
        <p:txBody>
          <a:bodyPr wrap="square">
            <a:spAutoFit/>
          </a:bodyPr>
          <a:lstStyle/>
          <a:p>
            <a:pPr algn="l"/>
            <a:r>
              <a:rPr b="1" i="0" sz="1200">
                <a:solidFill>
                  <a:srgbClr val="90EE90"/>
                </a:solidFill>
              </a:rPr>
              <a:t>PYTANIA DEBRIEFINGOWE</a:t>
            </a:r>
          </a:p>
        </p:txBody>
      </p:sp>
      <p:sp>
        <p:nvSpPr>
          <p:cNvPr id="11" name="TextBox 10"/>
          <p:cNvSpPr txBox="1"/>
          <p:nvPr/>
        </p:nvSpPr>
        <p:spPr>
          <a:xfrm>
            <a:off x="201168" y="3584448"/>
            <a:ext cx="11786616" cy="2862072"/>
          </a:xfrm>
          <a:prstGeom prst="rect">
            <a:avLst/>
          </a:prstGeom>
          <a:noFill/>
        </p:spPr>
        <p:txBody>
          <a:bodyPr wrap="square">
            <a:spAutoFit/>
          </a:bodyPr>
          <a:lstStyle/>
          <a:p>
            <a:pPr algn="l"/>
            <a:r>
              <a:rPr b="0" sz="1600">
                <a:solidFill>
                  <a:srgbClr val="D0D4DD"/>
                </a:solidFill>
              </a:rPr>
              <a:t>• Czy zaczęliście wypełniać Mapę Wartości, zanim skończyliście Profil Klienta? Jak to wpłynęło na jakość waszej analizy?</a:t>
            </a:r>
          </a:p>
          <a:p>
            <a:pPr algn="l"/>
            <a:r>
              <a:rPr b="0" sz="1600">
                <a:solidFill>
                  <a:srgbClr val="D0D4DD"/>
                </a:solidFill>
              </a:rPr>
              <a:t>• Który z identyfikowanych bólów klienta jest najbardziej nieoczekiwany — czyli taki, o którym marka prawdopodobnie nie myśli regularnie?</a:t>
            </a:r>
          </a:p>
          <a:p>
            <a:pPr algn="l"/>
            <a:r>
              <a:rPr b="0" sz="1600">
                <a:solidFill>
                  <a:srgbClr val="D0D4DD"/>
                </a:solidFill>
              </a:rPr>
              <a:t>• Jak przetłumaczylibyście wnioski z waszej Kanwy na jedno zdanie CVP — zdanie, które klient sam mógłby wypowiedzieć?</a:t>
            </a:r>
          </a:p>
        </p:txBody>
      </p:sp>
      <p:sp>
        <p:nvSpPr>
          <p:cNvPr id="12" name="TextBox 11"/>
          <p:cNvSpPr txBox="1"/>
          <p:nvPr/>
        </p:nvSpPr>
        <p:spPr>
          <a:xfrm>
            <a:off x="10268712" y="6510528"/>
            <a:ext cx="1737360" cy="292608"/>
          </a:xfrm>
          <a:prstGeom prst="rect">
            <a:avLst/>
          </a:prstGeom>
          <a:noFill/>
        </p:spPr>
        <p:txBody>
          <a:bodyPr wrap="square">
            <a:spAutoFit/>
          </a:bodyPr>
          <a:lstStyle/>
          <a:p>
            <a:pPr algn="r"/>
            <a:r>
              <a:rPr b="1" i="0" sz="1200">
                <a:solidFill>
                  <a:srgbClr val="90EE90"/>
                </a:solidFill>
              </a:rPr>
              <a:t>Cel: 14:32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41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88A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37160"/>
            <a:ext cx="914400" cy="365760"/>
          </a:xfrm>
          <a:prstGeom prst="rect">
            <a:avLst/>
          </a:prstGeom>
          <a:noFill/>
        </p:spPr>
        <p:txBody>
          <a:bodyPr wrap="square">
            <a:spAutoFit/>
          </a:bodyPr>
          <a:lstStyle/>
          <a:p>
            <a:pPr algn="l"/>
            <a:r>
              <a:rPr b="1" i="0" sz="1100">
                <a:solidFill>
                  <a:srgbClr val="8892A4"/>
                </a:solidFill>
              </a:rPr>
              <a:t>Slide 61</a:t>
            </a:r>
          </a:p>
        </p:txBody>
      </p:sp>
      <p:sp>
        <p:nvSpPr>
          <p:cNvPr id="5" name="TextBox 4"/>
          <p:cNvSpPr txBox="1"/>
          <p:nvPr/>
        </p:nvSpPr>
        <p:spPr>
          <a:xfrm>
            <a:off x="201168" y="320040"/>
            <a:ext cx="11786616" cy="1280160"/>
          </a:xfrm>
          <a:prstGeom prst="rect">
            <a:avLst/>
          </a:prstGeom>
          <a:noFill/>
        </p:spPr>
        <p:txBody>
          <a:bodyPr wrap="square">
            <a:spAutoFit/>
          </a:bodyPr>
          <a:lstStyle/>
          <a:p>
            <a:pPr algn="l"/>
            <a:r>
              <a:rPr b="1" i="0" sz="3200">
                <a:solidFill>
                  <a:srgbClr val="FFFFFF"/>
                </a:solidFill>
              </a:rPr>
              <a:t>Przerwa</a:t>
            </a:r>
          </a:p>
        </p:txBody>
      </p:sp>
      <p:sp>
        <p:nvSpPr>
          <p:cNvPr id="6" name="TextBox 5"/>
          <p:cNvSpPr txBox="1"/>
          <p:nvPr/>
        </p:nvSpPr>
        <p:spPr>
          <a:xfrm>
            <a:off x="8897112" y="128016"/>
            <a:ext cx="3108960" cy="310896"/>
          </a:xfrm>
          <a:prstGeom prst="rect">
            <a:avLst/>
          </a:prstGeom>
          <a:noFill/>
        </p:spPr>
        <p:txBody>
          <a:bodyPr wrap="square">
            <a:spAutoFit/>
          </a:bodyPr>
          <a:lstStyle/>
          <a:p>
            <a:pPr algn="r"/>
            <a:r>
              <a:rPr b="0" i="0" sz="900">
                <a:solidFill>
                  <a:srgbClr val="88AAFF"/>
                </a:solidFill>
              </a:rPr>
              <a:t>Przerwa</a:t>
            </a:r>
          </a:p>
        </p:txBody>
      </p:sp>
      <p:sp>
        <p:nvSpPr>
          <p:cNvPr id="7" name="TextBox 6"/>
          <p:cNvSpPr txBox="1"/>
          <p:nvPr/>
        </p:nvSpPr>
        <p:spPr>
          <a:xfrm>
            <a:off x="201168" y="1965960"/>
            <a:ext cx="11786616" cy="1280160"/>
          </a:xfrm>
          <a:prstGeom prst="rect">
            <a:avLst/>
          </a:prstGeom>
          <a:noFill/>
        </p:spPr>
        <p:txBody>
          <a:bodyPr wrap="square">
            <a:spAutoFit/>
          </a:bodyPr>
          <a:lstStyle/>
          <a:p>
            <a:pPr algn="ctr"/>
            <a:r>
              <a:rPr b="1" i="0" sz="3600">
                <a:solidFill>
                  <a:srgbClr val="FFFFFF"/>
                </a:solidFill>
              </a:rPr>
              <a:t>Mamy przerwę 15-minutową. Do zobaczenia o 15:30 — wróćmy z energią na ostatni blok.</a:t>
            </a:r>
          </a:p>
        </p:txBody>
      </p:sp>
      <p:sp>
        <p:nvSpPr>
          <p:cNvPr id="8" name="TextBox 7"/>
          <p:cNvSpPr txBox="1"/>
          <p:nvPr/>
        </p:nvSpPr>
        <p:spPr>
          <a:xfrm>
            <a:off x="201168" y="3337560"/>
            <a:ext cx="11786616" cy="548640"/>
          </a:xfrm>
          <a:prstGeom prst="rect">
            <a:avLst/>
          </a:prstGeom>
          <a:noFill/>
        </p:spPr>
        <p:txBody>
          <a:bodyPr wrap="square">
            <a:spAutoFit/>
          </a:bodyPr>
          <a:lstStyle/>
          <a:p>
            <a:pPr algn="ctr"/>
            <a:r>
              <a:rPr b="0" i="0" sz="2000">
                <a:solidFill>
                  <a:srgbClr val="8892A4"/>
                </a:solidFill>
              </a:rPr>
              <a:t>Cel: 15:15</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88AAFF"/>
                </a:solidFill>
              </a:rPr>
              <a:t>Cel: 15:15</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62</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Powitanie po Przerwie — Wprowadzenie do Kanałów</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Blok 4 — Miks Kanałów i Budżet</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Gdzie jesteśmy i dokąd zmierzamy?</a:t>
            </a:r>
          </a:p>
          <a:p>
            <a:pPr algn="l"/>
            <a:r>
              <a:rPr b="0" sz="2200">
                <a:solidFill>
                  <a:srgbClr val="1C1C1C"/>
                </a:solidFill>
              </a:rPr>
              <a:t>• Brand Strategy ✓</a:t>
            </a:r>
          </a:p>
          <a:p>
            <a:pPr algn="l"/>
            <a:r>
              <a:rPr b="0" sz="2200">
                <a:solidFill>
                  <a:srgbClr val="1C1C1C"/>
                </a:solidFill>
              </a:rPr>
              <a:t>• . Strzałka wskazująca na piąty element:</a:t>
            </a:r>
          </a:p>
          <a:p>
            <a:pPr algn="l"/>
            <a:r>
              <a:rPr b="0" sz="2200">
                <a:solidFill>
                  <a:srgbClr val="1C1C1C"/>
                </a:solidFill>
              </a:rPr>
              <a:t>• . Dolna część: krótkie pytanie na slajdzie —</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Witamy po przerwie. Przez pierwsze trzy bloki dnia zbudowaliśmy solidny fundament: mamy Brand Strategy — czyli wiemy, czym jest nasza marka i co obiecujemy. Mamy framework planowania SOSTAC — wiemy, jak przejść od analizy do działania.…</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15:30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63</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Polski Rynek Cyfrowy — Kontekst</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Blok 4 — Miks Kanałów i Budżet</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62,7% Polaków korzysta z internetu głównie przez mobile</a:t>
            </a:r>
          </a:p>
          <a:p>
            <a:pPr algn="l"/>
            <a:r>
              <a:rPr b="0" sz="2200">
                <a:solidFill>
                  <a:srgbClr val="1C1C1C"/>
                </a:solidFill>
              </a:rPr>
              <a:t>• Polska ≠ globalny szablon.</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Zanim przejdziemy do konkretnych kanałów, potrzebujemy polskiego kontekstu. Polska to jeden z bardziej dynamicznych rynków cyfrowych w Europie Środkowo-Wschodniej. Penetracja internetu wynosi 89,8% — to znaczy, że prawie 34,5 miliona…</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15:33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64</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Zasięg Platform w Polsce — Porównanie</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Blok 4 — Miks Kanałów i Budżet</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Tabela z czterema kolumnami: Platforma / Miesięczni użytkownicy / Zasięg reklamowy / Sesja</a:t>
            </a:r>
          </a:p>
          <a:p>
            <a:pPr algn="l"/>
            <a:r>
              <a:rPr b="0" sz="2200">
                <a:solidFill>
                  <a:srgbClr val="1C1C1C"/>
                </a:solidFill>
              </a:rPr>
              <a:t>• Wiersze: YouTube (24,4 mln; 75,6% zasięg reklamowy), Facebook (19,1 mln), Instagram (10,3 </a:t>
            </a:r>
          </a:p>
          <a:p>
            <a:pPr algn="l"/>
            <a:r>
              <a:rPr b="0" sz="2200">
                <a:solidFill>
                  <a:srgbClr val="1C1C1C"/>
                </a:solidFill>
              </a:rPr>
              <a:t>• Wyróżniona belka na dole: "Zasięg ≠ zaangażowanie." Kolory RACE nie są stosowane do wiersz</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Spójrzmy na konkretne dane zasięgowe dla polskiego rynku. YouTube — 24,4 miliona miesięcznych użytkowników, zasięg reklamowy 75,6% populacji internautów. To jest największa platforma wideo w Polsce i jedno z najszerszych okienek…</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15:37</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65</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Polski E-commerce — Specyfika Rynku</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Blok 4 — Miks Kanałów i Budżet</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Polski Konsument Cyfrowy.</a:t>
            </a:r>
          </a:p>
          <a:p>
            <a:pPr algn="l"/>
            <a:r>
              <a:rPr b="0" sz="2200">
                <a:solidFill>
                  <a:srgbClr val="1C1C1C"/>
                </a:solidFill>
              </a:rPr>
              <a:t>• BLIK: 68% płatności e-commerce</a:t>
            </a:r>
          </a:p>
          <a:p>
            <a:pPr algn="l"/>
            <a:r>
              <a:rPr b="0" sz="2200">
                <a:solidFill>
                  <a:srgbClr val="1C1C1C"/>
                </a:solidFill>
              </a:rPr>
              <a:t>• ; (3) Platforma: logo-style blok —</a:t>
            </a:r>
          </a:p>
          <a:p>
            <a:pPr algn="l"/>
            <a:r>
              <a:rPr b="0" sz="2200">
                <a:solidFill>
                  <a:srgbClr val="1C1C1C"/>
                </a:solidFill>
              </a:rPr>
              <a:t>• Dolna belka z małą gwiazdką:</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Polska ma kilka charakterystycznych cech rynku e-commerce, które bezpośrednio wpływają na strategię kanałową. Po pierwsze, płatności: BLIK — polski system płatności mobilnych — obsługuje 68% transakcji e-commerce w Polsce. Jeśli wasz kanał…</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15:42</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66</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Model Owned / Earned / Paid</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Blok 4 — Miks Kanałów i Budżet</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(media własne — strona, email, blog),</a:t>
            </a:r>
          </a:p>
          <a:p>
            <a:pPr algn="l"/>
            <a:r>
              <a:rPr b="0" sz="2200">
                <a:solidFill>
                  <a:srgbClr val="1C1C1C"/>
                </a:solidFill>
              </a:rPr>
              <a:t>• (media zdobyte — recenzje, PR, word-of-mouth),</a:t>
            </a:r>
          </a:p>
          <a:p>
            <a:pPr algn="l"/>
            <a:r>
              <a:rPr b="0" sz="2200">
                <a:solidFill>
                  <a:srgbClr val="1C1C1C"/>
                </a:solidFill>
              </a:rPr>
              <a:t>• Paid amplifies what exists. Without owned and earned, paid is just expensive.</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Zanim przejdziemy do konkretnych benchmarków, potrzebujemy modelu porządkującego myślenie o kanałach. Model Owned, Earned, Paid — media własne, zdobyte i płatne — to punkt wyjścia. Owned: to kanały, które kontrolujecie — wasza strona…</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15:46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67</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ROI Kanałów — Benchmarki</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Blok 4 — Miks Kanałów i Budżet</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Tabela z czterema kolumnami: Kanał / Wskaźnik ROI / Horyzont czasowy / Źródło.</a:t>
            </a:r>
          </a:p>
          <a:p>
            <a:pPr algn="l"/>
            <a:r>
              <a:rPr b="0" sz="2200">
                <a:solidFill>
                  <a:srgbClr val="1C1C1C"/>
                </a:solidFill>
              </a:rPr>
              <a:t>• Wiersze: Email Marketing ($36–$50 na każdy $1 zainwestowany / Natychmiastowy–12 mies.</a:t>
            </a:r>
          </a:p>
          <a:p>
            <a:pPr algn="l"/>
            <a:r>
              <a:rPr b="0" sz="2200">
                <a:solidFill>
                  <a:srgbClr val="1C1C1C"/>
                </a:solidFill>
              </a:rPr>
              <a:t>• / Litmus 2025), SEO/Content (Wysoki długoterminowy ROI / 6–12 miesięcy / Industry benchmar</a:t>
            </a:r>
          </a:p>
          <a:p>
            <a:pPr algn="l"/>
            <a:r>
              <a:rPr b="0" sz="2200">
                <a:solidFill>
                  <a:srgbClr val="1C1C1C"/>
                </a:solidFill>
              </a:rPr>
              <a:t>• Dolna belka: "Wszystkie benchmarki są szacunkowe — wyniki zależą od branży i jakości egzek</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Teraz dane, które często są używane w prezentacjach budżetowych — i które wymagają ostrożnego czytania. Email marketing: $36 do $50 zwrotu na każdy zainwestowany dolar, według Litmus Email Marketing ROI Report z 2025 roku. To jest…</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15:49</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68</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AI w Marketingu Cyfrowym</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Blok 4 — Miks Kanałów i Budżet</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na jasnym tle. Podtytuł:</a:t>
            </a:r>
          </a:p>
          <a:p>
            <a:pPr algn="l"/>
            <a:r>
              <a:rPr b="0" sz="2200">
                <a:solidFill>
                  <a:srgbClr val="1C1C1C"/>
                </a:solidFill>
              </a:rPr>
              <a:t>• Wyraźna adnotacja:</a:t>
            </a:r>
          </a:p>
          <a:p>
            <a:pPr algn="l"/>
            <a:r>
              <a:rPr b="0" sz="2200">
                <a:solidFill>
                  <a:srgbClr val="1C1C1C"/>
                </a:solidFill>
              </a:rPr>
              <a:t>• Poniżej: cztery ikony z etykietami —</a:t>
            </a:r>
          </a:p>
          <a:p>
            <a:pPr algn="l"/>
            <a:r>
              <a:rPr b="0" sz="2200">
                <a:solidFill>
                  <a:srgbClr val="1C1C1C"/>
                </a:solidFill>
              </a:rPr>
              <a:t>• Personalizacja</a:t>
            </a:r>
          </a:p>
          <a:p>
            <a:pPr algn="l"/>
            <a:r>
              <a:rPr b="0" sz="2200">
                <a:solidFill>
                  <a:srgbClr val="1C1C1C"/>
                </a:solidFill>
              </a:rPr>
              <a:t>• Analityka predykcyjna</a:t>
            </a:r>
          </a:p>
          <a:p>
            <a:pPr algn="l"/>
            <a:r>
              <a:rPr b="0" sz="2200">
                <a:solidFill>
                  <a:srgbClr val="1C1C1C"/>
                </a:solidFill>
              </a:rPr>
              <a:t>• AI w wyszukiwaniu</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Nie możemy zamknąć bloku o kanałach bez rozmowy o AI. 89% marketerów globalnie używa AI w jakiejś formie — to dane z Salesforce State of Marketing z 2025 roku. Ważna uwaga: ta statystyka jest globalna. Dane specyficzne dla Polski nie są…</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15:52</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69</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Macierz Kanałów i Etapów RACE</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Blok 4 — Miks Kanałów i Budżet</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Tabela z pięcioma kolumnami: Kanał / Reach / Act / Convert / Engage.</a:t>
            </a:r>
          </a:p>
          <a:p>
            <a:pPr algn="l"/>
            <a:r>
              <a:rPr b="0" sz="2200">
                <a:solidFill>
                  <a:srgbClr val="1C1C1C"/>
                </a:solidFill>
              </a:rPr>
              <a:t>• Checkmarki (✓) lub gwiazdki (★) oznaczają, które kanały najsilniej działają w których etap</a:t>
            </a:r>
          </a:p>
          <a:p>
            <a:pPr algn="l"/>
            <a:r>
              <a:rPr b="0" sz="2200">
                <a:solidFill>
                  <a:srgbClr val="1C1C1C"/>
                </a:solidFill>
              </a:rPr>
              <a:t>• Kolory kolumn zgodne z kodowaniem RACE: Reach = niebieski, Act = zielony, Convert = pomara</a:t>
            </a:r>
          </a:p>
          <a:p>
            <a:pPr algn="l"/>
            <a:r>
              <a:rPr b="0" sz="2200">
                <a:solidFill>
                  <a:srgbClr val="1C1C1C"/>
                </a:solidFill>
              </a:rPr>
              <a:t>• Kanały w wierszach: SEO/Content, Google Ads Search, Paid Social (Meta), TikTok Ads, Email </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Połączmy teraz dane z poprzednich slajdów w jedną macierz. Które kanały najlepiej służą którym etapom RACE? SEO i content: świetny w fazie Act — kiedy użytkownik aktywnie szuka informacji — i w długoterminowym Engage przez treści…</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15:55</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70</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Zasady Alokacji Budżetu</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Blok 4 — Miks Kanałów i Budżet</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Ile wydać i na co?</a:t>
            </a:r>
          </a:p>
          <a:p>
            <a:pPr algn="l"/>
            <a:r>
              <a:rPr b="0" sz="2200">
                <a:solidFill>
                  <a:srgbClr val="1C1C1C"/>
                </a:solidFill>
              </a:rPr>
              <a:t>• Całkowity rynek reklamy cyfrowej w Polsce 2024 (IAB Polska)</a:t>
            </a:r>
          </a:p>
          <a:p>
            <a:pPr algn="l"/>
            <a:r>
              <a:rPr b="0" sz="2200">
                <a:solidFill>
                  <a:srgbClr val="1C1C1C"/>
                </a:solidFill>
              </a:rPr>
              <a:t>• dane łączne potwierdzone; podział na kanały — szacunkowy.</a:t>
            </a:r>
          </a:p>
          <a:p>
            <a:pPr algn="l"/>
            <a:r>
              <a:rPr b="0" sz="2200">
                <a:solidFill>
                  <a:srgbClr val="1C1C1C"/>
                </a:solidFill>
              </a:rPr>
              <a:t>• PRZYKŁADOWY PODZIAŁ — nie normatywny.</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Jak wygląda rynek reklamy cyfrowej w Polsce? IAB Polska szacuje, że w 2024 roku całkowity rynek wyniósł 9,2 miliarda złotych. To jest liczba łączna, potwierdzona — i ona jest wiarygodna. Podział na poszczególne kanały jest już szacunkowy —…</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15:58</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71</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Pomiar i Atrybucja</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Blok 4 — Miks Kanałów i Budżet</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Błąd last-click: 100% kredytu idzie do ostatniego kanału.</a:t>
            </a:r>
          </a:p>
          <a:p>
            <a:pPr algn="l"/>
            <a:r>
              <a:rPr b="0" sz="2200">
                <a:solidFill>
                  <a:srgbClr val="1C1C1C"/>
                </a:solidFill>
              </a:rPr>
              <a:t>• UTM parameters → Google Analytics 4 → decyzja budżetowa.</a:t>
            </a:r>
          </a:p>
          <a:p>
            <a:pPr algn="l"/>
            <a:r>
              <a:rPr b="0" sz="2200">
                <a:solidFill>
                  <a:srgbClr val="1C1C1C"/>
                </a:solidFill>
              </a:rPr>
              <a:t>• Nie możesz optymalizować tego, czego nie mierzysz.</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Bez pomiaru nie ma optymalizacji. I tu pojawia się jeden z największych błędów w planowaniu budżetów kanałowych: problem last-click attribution. Model atrybucji last-click przypisuje 100% kredytu za konwersję ostatniemu kanałowi, który…</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16:01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1A2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822960" cy="365760"/>
          </a:xfrm>
          <a:prstGeom prst="rect">
            <a:avLst/>
          </a:prstGeom>
          <a:noFill/>
        </p:spPr>
        <p:txBody>
          <a:bodyPr wrap="square">
            <a:spAutoFit/>
          </a:bodyPr>
          <a:lstStyle/>
          <a:p>
            <a:pPr algn="l"/>
            <a:r>
              <a:rPr b="1" i="0" sz="1100">
                <a:solidFill>
                  <a:srgbClr val="AABBCC"/>
                </a:solidFill>
              </a:rPr>
              <a:t>Slide 72</a:t>
            </a:r>
          </a:p>
        </p:txBody>
      </p:sp>
      <p:sp>
        <p:nvSpPr>
          <p:cNvPr id="4" name="TextBox 3"/>
          <p:cNvSpPr txBox="1"/>
          <p:nvPr/>
        </p:nvSpPr>
        <p:spPr>
          <a:xfrm>
            <a:off x="1005840" y="73152"/>
            <a:ext cx="11000232" cy="886968"/>
          </a:xfrm>
          <a:prstGeom prst="rect">
            <a:avLst/>
          </a:prstGeom>
          <a:noFill/>
        </p:spPr>
        <p:txBody>
          <a:bodyPr wrap="square">
            <a:spAutoFit/>
          </a:bodyPr>
          <a:lstStyle/>
          <a:p>
            <a:pPr algn="l"/>
            <a:r>
              <a:rPr b="1" i="0" sz="2600">
                <a:solidFill>
                  <a:srgbClr val="FFFFFF"/>
                </a:solidFill>
              </a:rPr>
              <a:t>Cykl Przeglądu 90-Dniowego</a:t>
            </a:r>
          </a:p>
        </p:txBody>
      </p:sp>
      <p:sp>
        <p:nvSpPr>
          <p:cNvPr id="5" name="TextBox 4"/>
          <p:cNvSpPr txBox="1"/>
          <p:nvPr/>
        </p:nvSpPr>
        <p:spPr>
          <a:xfrm>
            <a:off x="8988552" y="27432"/>
            <a:ext cx="3017520" cy="329184"/>
          </a:xfrm>
          <a:prstGeom prst="rect">
            <a:avLst/>
          </a:prstGeom>
          <a:noFill/>
        </p:spPr>
        <p:txBody>
          <a:bodyPr wrap="square">
            <a:spAutoFit/>
          </a:bodyPr>
          <a:lstStyle/>
          <a:p>
            <a:pPr algn="r"/>
            <a:r>
              <a:rPr b="0" i="0" sz="900">
                <a:solidFill>
                  <a:srgbClr val="CCDDFF"/>
                </a:solidFill>
              </a:rPr>
              <a:t>Blok 4 — Miks Kanałów i Budżet</a:t>
            </a:r>
          </a:p>
        </p:txBody>
      </p:sp>
      <p:sp>
        <p:nvSpPr>
          <p:cNvPr id="6" name="TextBox 5"/>
          <p:cNvSpPr txBox="1"/>
          <p:nvPr/>
        </p:nvSpPr>
        <p:spPr>
          <a:xfrm>
            <a:off x="201168" y="1161288"/>
            <a:ext cx="11786616" cy="3200400"/>
          </a:xfrm>
          <a:prstGeom prst="rect">
            <a:avLst/>
          </a:prstGeom>
          <a:noFill/>
        </p:spPr>
        <p:txBody>
          <a:bodyPr wrap="square">
            <a:spAutoFit/>
          </a:bodyPr>
          <a:lstStyle/>
          <a:p>
            <a:pPr algn="l"/>
            <a:r>
              <a:rPr b="0" sz="2200">
                <a:solidFill>
                  <a:srgbClr val="1C1C1C"/>
                </a:solidFill>
              </a:rPr>
              <a:t>• Dashboard miesięczny</a:t>
            </a:r>
          </a:p>
          <a:p>
            <a:pPr algn="l"/>
            <a:r>
              <a:rPr b="0" sz="2200">
                <a:solidFill>
                  <a:srgbClr val="1C1C1C"/>
                </a:solidFill>
              </a:rPr>
              <a:t>• Przegląd planu kwartalnego</a:t>
            </a:r>
          </a:p>
          <a:p>
            <a:pPr algn="l"/>
            <a:r>
              <a:rPr b="0" sz="2200">
                <a:solidFill>
                  <a:srgbClr val="1C1C1C"/>
                </a:solidFill>
              </a:rPr>
              <a:t>• Pełny cykl SOSTAC roczny</a:t>
            </a:r>
          </a:p>
          <a:p>
            <a:pPr algn="l"/>
            <a:r>
              <a:rPr b="0" sz="2200">
                <a:solidFill>
                  <a:srgbClr val="1C1C1C"/>
                </a:solidFill>
              </a:rPr>
              <a:t>• Control — SOSTAC.</a:t>
            </a:r>
          </a:p>
          <a:p>
            <a:pPr algn="l"/>
            <a:r>
              <a:rPr b="0" sz="2200">
                <a:solidFill>
                  <a:srgbClr val="1C1C1C"/>
                </a:solidFill>
              </a:rPr>
              <a:t>• Połączenie z etapem Control z Bloku 1.</a:t>
            </a:r>
          </a:p>
        </p:txBody>
      </p:sp>
      <p:sp>
        <p:nvSpPr>
          <p:cNvPr id="7" name="Rectangle 6"/>
          <p:cNvSpPr/>
          <p:nvPr/>
        </p:nvSpPr>
        <p:spPr>
          <a:xfrm>
            <a:off x="201168" y="4462272"/>
            <a:ext cx="11786616" cy="1984248"/>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4522622"/>
            <a:ext cx="11384280" cy="1883664"/>
          </a:xfrm>
          <a:prstGeom prst="rect">
            <a:avLst/>
          </a:prstGeom>
          <a:noFill/>
        </p:spPr>
        <p:txBody>
          <a:bodyPr wrap="square">
            <a:spAutoFit/>
          </a:bodyPr>
          <a:lstStyle/>
          <a:p>
            <a:pPr algn="l"/>
            <a:r>
              <a:rPr b="0" i="1" sz="1300">
                <a:solidFill>
                  <a:srgbClr val="445566"/>
                </a:solidFill>
              </a:rPr>
              <a:t>Ostatni element przed warsztatem: jak zarządzać strategią kanałową w czasie? SOSTAC zakończył się na Control — kontroli. Teraz nadajemy tej kontroli konkretny rytm. Cykl przeglądu 90-dniowy działa na trzech poziomach. Miesięczny dashboard:…</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007AC2"/>
                </a:solidFill>
              </a:rPr>
              <a:t>Cel: 16:04</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90EE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37160"/>
            <a:ext cx="914400" cy="365760"/>
          </a:xfrm>
          <a:prstGeom prst="rect">
            <a:avLst/>
          </a:prstGeom>
          <a:noFill/>
        </p:spPr>
        <p:txBody>
          <a:bodyPr wrap="square">
            <a:spAutoFit/>
          </a:bodyPr>
          <a:lstStyle/>
          <a:p>
            <a:pPr algn="l"/>
            <a:r>
              <a:rPr b="1" i="0" sz="1100">
                <a:solidFill>
                  <a:srgbClr val="8892A4"/>
                </a:solidFill>
              </a:rPr>
              <a:t>Slide 73</a:t>
            </a:r>
          </a:p>
        </p:txBody>
      </p:sp>
      <p:sp>
        <p:nvSpPr>
          <p:cNvPr id="5" name="TextBox 4"/>
          <p:cNvSpPr txBox="1"/>
          <p:nvPr/>
        </p:nvSpPr>
        <p:spPr>
          <a:xfrm>
            <a:off x="201168" y="320040"/>
            <a:ext cx="11786616" cy="1280160"/>
          </a:xfrm>
          <a:prstGeom prst="rect">
            <a:avLst/>
          </a:prstGeom>
          <a:noFill/>
        </p:spPr>
        <p:txBody>
          <a:bodyPr wrap="square">
            <a:spAutoFit/>
          </a:bodyPr>
          <a:lstStyle/>
          <a:p>
            <a:pPr algn="l"/>
            <a:r>
              <a:rPr b="1" i="0" sz="3200">
                <a:solidFill>
                  <a:srgbClr val="FFFFFF"/>
                </a:solidFill>
              </a:rPr>
              <a:t>Przejście do Warsztatu 4</a:t>
            </a:r>
          </a:p>
        </p:txBody>
      </p:sp>
      <p:sp>
        <p:nvSpPr>
          <p:cNvPr id="6" name="TextBox 5"/>
          <p:cNvSpPr txBox="1"/>
          <p:nvPr/>
        </p:nvSpPr>
        <p:spPr>
          <a:xfrm>
            <a:off x="8897112" y="128016"/>
            <a:ext cx="3108960" cy="310896"/>
          </a:xfrm>
          <a:prstGeom prst="rect">
            <a:avLst/>
          </a:prstGeom>
          <a:noFill/>
        </p:spPr>
        <p:txBody>
          <a:bodyPr wrap="square">
            <a:spAutoFit/>
          </a:bodyPr>
          <a:lstStyle/>
          <a:p>
            <a:pPr algn="r"/>
            <a:r>
              <a:rPr b="0" i="0" sz="900">
                <a:solidFill>
                  <a:srgbClr val="90EE90"/>
                </a:solidFill>
              </a:rPr>
              <a:t>Warsztat 4 — Przejście</a:t>
            </a:r>
          </a:p>
        </p:txBody>
      </p:sp>
      <p:sp>
        <p:nvSpPr>
          <p:cNvPr id="7" name="Rectangle 6"/>
          <p:cNvSpPr/>
          <p:nvPr/>
        </p:nvSpPr>
        <p:spPr>
          <a:xfrm>
            <a:off x="201168" y="1691640"/>
            <a:ext cx="11786616" cy="1371600"/>
          </a:xfrm>
          <a:prstGeom prst="rect">
            <a:avLst/>
          </a:prstGeom>
          <a:solidFill>
            <a:srgbClr val="0F2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1751990"/>
            <a:ext cx="1371600" cy="347472"/>
          </a:xfrm>
          <a:prstGeom prst="rect">
            <a:avLst/>
          </a:prstGeom>
          <a:noFill/>
        </p:spPr>
        <p:txBody>
          <a:bodyPr wrap="square">
            <a:spAutoFit/>
          </a:bodyPr>
          <a:lstStyle/>
          <a:p>
            <a:pPr algn="l"/>
            <a:r>
              <a:rPr b="1" i="0" sz="1200">
                <a:solidFill>
                  <a:srgbClr val="90EE90"/>
                </a:solidFill>
              </a:rPr>
              <a:t>ZADANIE</a:t>
            </a:r>
          </a:p>
        </p:txBody>
      </p:sp>
      <p:sp>
        <p:nvSpPr>
          <p:cNvPr id="9" name="TextBox 8"/>
          <p:cNvSpPr txBox="1"/>
          <p:nvPr/>
        </p:nvSpPr>
        <p:spPr>
          <a:xfrm>
            <a:off x="402336" y="2103120"/>
            <a:ext cx="11384280" cy="868680"/>
          </a:xfrm>
          <a:prstGeom prst="rect">
            <a:avLst/>
          </a:prstGeom>
          <a:noFill/>
        </p:spPr>
        <p:txBody>
          <a:bodyPr wrap="square">
            <a:spAutoFit/>
          </a:bodyPr>
          <a:lstStyle/>
          <a:p>
            <a:pPr algn="l"/>
            <a:r>
              <a:rPr b="0" i="0" sz="1600">
                <a:solidFill>
                  <a:srgbClr val="F0F4FF"/>
                </a:solidFill>
              </a:rPr>
              <a:t>Czas na ostatnie ćwiczenie dnia — Warsztat czwarty.</a:t>
            </a:r>
          </a:p>
        </p:txBody>
      </p:sp>
      <p:sp>
        <p:nvSpPr>
          <p:cNvPr id="10" name="TextBox 9"/>
          <p:cNvSpPr txBox="1"/>
          <p:nvPr/>
        </p:nvSpPr>
        <p:spPr>
          <a:xfrm>
            <a:off x="10268712" y="6510528"/>
            <a:ext cx="1737360" cy="292608"/>
          </a:xfrm>
          <a:prstGeom prst="rect">
            <a:avLst/>
          </a:prstGeom>
          <a:noFill/>
        </p:spPr>
        <p:txBody>
          <a:bodyPr wrap="square">
            <a:spAutoFit/>
          </a:bodyPr>
          <a:lstStyle/>
          <a:p>
            <a:pPr algn="r"/>
            <a:r>
              <a:rPr b="1" i="0" sz="1200">
                <a:solidFill>
                  <a:srgbClr val="90EE90"/>
                </a:solidFill>
              </a:rPr>
              <a:t>Cel: 15:55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90EE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37160"/>
            <a:ext cx="914400" cy="365760"/>
          </a:xfrm>
          <a:prstGeom prst="rect">
            <a:avLst/>
          </a:prstGeom>
          <a:noFill/>
        </p:spPr>
        <p:txBody>
          <a:bodyPr wrap="square">
            <a:spAutoFit/>
          </a:bodyPr>
          <a:lstStyle/>
          <a:p>
            <a:pPr algn="l"/>
            <a:r>
              <a:rPr b="1" i="0" sz="1100">
                <a:solidFill>
                  <a:srgbClr val="8892A4"/>
                </a:solidFill>
              </a:rPr>
              <a:t>Slide 74</a:t>
            </a:r>
          </a:p>
        </p:txBody>
      </p:sp>
      <p:sp>
        <p:nvSpPr>
          <p:cNvPr id="5" name="TextBox 4"/>
          <p:cNvSpPr txBox="1"/>
          <p:nvPr/>
        </p:nvSpPr>
        <p:spPr>
          <a:xfrm>
            <a:off x="201168" y="320040"/>
            <a:ext cx="11786616" cy="1280160"/>
          </a:xfrm>
          <a:prstGeom prst="rect">
            <a:avLst/>
          </a:prstGeom>
          <a:noFill/>
        </p:spPr>
        <p:txBody>
          <a:bodyPr wrap="square">
            <a:spAutoFit/>
          </a:bodyPr>
          <a:lstStyle/>
          <a:p>
            <a:pPr algn="l"/>
            <a:r>
              <a:rPr b="1" i="0" sz="3200">
                <a:solidFill>
                  <a:srgbClr val="FFFFFF"/>
                </a:solidFill>
              </a:rPr>
              <a:t>Warsztat 4 — Instrukcja (Wyzwanie Budżetowe)</a:t>
            </a:r>
          </a:p>
        </p:txBody>
      </p:sp>
      <p:sp>
        <p:nvSpPr>
          <p:cNvPr id="6" name="TextBox 5"/>
          <p:cNvSpPr txBox="1"/>
          <p:nvPr/>
        </p:nvSpPr>
        <p:spPr>
          <a:xfrm>
            <a:off x="8897112" y="128016"/>
            <a:ext cx="3108960" cy="310896"/>
          </a:xfrm>
          <a:prstGeom prst="rect">
            <a:avLst/>
          </a:prstGeom>
          <a:noFill/>
        </p:spPr>
        <p:txBody>
          <a:bodyPr wrap="square">
            <a:spAutoFit/>
          </a:bodyPr>
          <a:lstStyle/>
          <a:p>
            <a:pPr algn="r"/>
            <a:r>
              <a:rPr b="0" i="0" sz="900">
                <a:solidFill>
                  <a:srgbClr val="90EE90"/>
                </a:solidFill>
              </a:rPr>
              <a:t>Warsztat 4 — Instrukcja</a:t>
            </a:r>
          </a:p>
        </p:txBody>
      </p:sp>
      <p:sp>
        <p:nvSpPr>
          <p:cNvPr id="7" name="Rectangle 6"/>
          <p:cNvSpPr/>
          <p:nvPr/>
        </p:nvSpPr>
        <p:spPr>
          <a:xfrm>
            <a:off x="201168" y="1691640"/>
            <a:ext cx="11786616" cy="1371600"/>
          </a:xfrm>
          <a:prstGeom prst="rect">
            <a:avLst/>
          </a:prstGeom>
          <a:solidFill>
            <a:srgbClr val="0F2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1751990"/>
            <a:ext cx="1371600" cy="347472"/>
          </a:xfrm>
          <a:prstGeom prst="rect">
            <a:avLst/>
          </a:prstGeom>
          <a:noFill/>
        </p:spPr>
        <p:txBody>
          <a:bodyPr wrap="square">
            <a:spAutoFit/>
          </a:bodyPr>
          <a:lstStyle/>
          <a:p>
            <a:pPr algn="l"/>
            <a:r>
              <a:rPr b="1" i="0" sz="1200">
                <a:solidFill>
                  <a:srgbClr val="90EE90"/>
                </a:solidFill>
              </a:rPr>
              <a:t>ZADANIE</a:t>
            </a:r>
          </a:p>
        </p:txBody>
      </p:sp>
      <p:sp>
        <p:nvSpPr>
          <p:cNvPr id="9" name="TextBox 8"/>
          <p:cNvSpPr txBox="1"/>
          <p:nvPr/>
        </p:nvSpPr>
        <p:spPr>
          <a:xfrm>
            <a:off x="402336" y="2103120"/>
            <a:ext cx="11384280" cy="868680"/>
          </a:xfrm>
          <a:prstGeom prst="rect">
            <a:avLst/>
          </a:prstGeom>
          <a:noFill/>
        </p:spPr>
        <p:txBody>
          <a:bodyPr wrap="square">
            <a:spAutoFit/>
          </a:bodyPr>
          <a:lstStyle/>
          <a:p>
            <a:pPr algn="l"/>
            <a:r>
              <a:rPr b="0" i="0" sz="1600">
                <a:solidFill>
                  <a:srgbClr val="F0F4FF"/>
                </a:solidFill>
              </a:rPr>
              <a:t>Ostatnie ćwiczenie dnia. Wasze zadanie: rozdzielcie budżet 200 000 złotych na kanały cyfrowe dla waszej marki. Mamy 40 minut — do 16:35. Wynik, który chcę zobaczyć: macierz kanałów z konkretną alokacją budżetu i uzasadnieniem każdej decyzji. Nie chodzi o to, żeby "podzielić budżet równomiernie" —…</a:t>
            </a:r>
          </a:p>
        </p:txBody>
      </p:sp>
      <p:sp>
        <p:nvSpPr>
          <p:cNvPr id="10" name="TextBox 9"/>
          <p:cNvSpPr txBox="1"/>
          <p:nvPr/>
        </p:nvSpPr>
        <p:spPr>
          <a:xfrm>
            <a:off x="201168" y="3200400"/>
            <a:ext cx="11786616" cy="347472"/>
          </a:xfrm>
          <a:prstGeom prst="rect">
            <a:avLst/>
          </a:prstGeom>
          <a:noFill/>
        </p:spPr>
        <p:txBody>
          <a:bodyPr wrap="square">
            <a:spAutoFit/>
          </a:bodyPr>
          <a:lstStyle/>
          <a:p>
            <a:pPr algn="l"/>
            <a:r>
              <a:rPr b="1" i="0" sz="1200">
                <a:solidFill>
                  <a:srgbClr val="90EE90"/>
                </a:solidFill>
              </a:rPr>
              <a:t>PYTANIA DEBRIEFINGOWE</a:t>
            </a:r>
          </a:p>
        </p:txBody>
      </p:sp>
      <p:sp>
        <p:nvSpPr>
          <p:cNvPr id="11" name="TextBox 10"/>
          <p:cNvSpPr txBox="1"/>
          <p:nvPr/>
        </p:nvSpPr>
        <p:spPr>
          <a:xfrm>
            <a:off x="201168" y="3584448"/>
            <a:ext cx="11786616" cy="2862072"/>
          </a:xfrm>
          <a:prstGeom prst="rect">
            <a:avLst/>
          </a:prstGeom>
          <a:noFill/>
        </p:spPr>
        <p:txBody>
          <a:bodyPr wrap="square">
            <a:spAutoFit/>
          </a:bodyPr>
          <a:lstStyle/>
          <a:p>
            <a:pPr algn="l"/>
            <a:r>
              <a:rPr b="0" sz="1600">
                <a:solidFill>
                  <a:srgbClr val="D0D4DD"/>
                </a:solidFill>
              </a:rPr>
              <a:t>• Który kanał otrzymał największy budżet i dlaczego — jak to wynika z waszej strategii?</a:t>
            </a:r>
          </a:p>
          <a:p>
            <a:pPr algn="l"/>
            <a:r>
              <a:rPr b="0" sz="1600">
                <a:solidFill>
                  <a:srgbClr val="D0D4DD"/>
                </a:solidFill>
              </a:rPr>
              <a:t>• Który kanał był najtrudniejszy do uzasadnienia i co to mówi o waszej wiedzy o nim?</a:t>
            </a:r>
          </a:p>
          <a:p>
            <a:pPr algn="l"/>
            <a:r>
              <a:rPr b="0" sz="1600">
                <a:solidFill>
                  <a:srgbClr val="D0D4DD"/>
                </a:solidFill>
              </a:rPr>
              <a:t>• Jak zmieniłaby się wasza alokacja, gdybyście mieli inne cele — np. szybki wzrost awareness zamiast konwersji?</a:t>
            </a:r>
          </a:p>
        </p:txBody>
      </p:sp>
      <p:sp>
        <p:nvSpPr>
          <p:cNvPr id="12" name="TextBox 11"/>
          <p:cNvSpPr txBox="1"/>
          <p:nvPr/>
        </p:nvSpPr>
        <p:spPr>
          <a:xfrm>
            <a:off x="10268712" y="6510528"/>
            <a:ext cx="1737360" cy="292608"/>
          </a:xfrm>
          <a:prstGeom prst="rect">
            <a:avLst/>
          </a:prstGeom>
          <a:noFill/>
        </p:spPr>
        <p:txBody>
          <a:bodyPr wrap="square">
            <a:spAutoFit/>
          </a:bodyPr>
          <a:lstStyle/>
          <a:p>
            <a:pPr algn="r"/>
            <a:r>
              <a:rPr b="1" i="0" sz="1200">
                <a:solidFill>
                  <a:srgbClr val="90EE90"/>
                </a:solidFill>
              </a:rPr>
              <a:t>Cel: 16:05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90EE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37160"/>
            <a:ext cx="914400" cy="365760"/>
          </a:xfrm>
          <a:prstGeom prst="rect">
            <a:avLst/>
          </a:prstGeom>
          <a:noFill/>
        </p:spPr>
        <p:txBody>
          <a:bodyPr wrap="square">
            <a:spAutoFit/>
          </a:bodyPr>
          <a:lstStyle/>
          <a:p>
            <a:pPr algn="l"/>
            <a:r>
              <a:rPr b="1" i="0" sz="1100">
                <a:solidFill>
                  <a:srgbClr val="8892A4"/>
                </a:solidFill>
              </a:rPr>
              <a:t>Slide 75</a:t>
            </a:r>
          </a:p>
        </p:txBody>
      </p:sp>
      <p:sp>
        <p:nvSpPr>
          <p:cNvPr id="5" name="TextBox 4"/>
          <p:cNvSpPr txBox="1"/>
          <p:nvPr/>
        </p:nvSpPr>
        <p:spPr>
          <a:xfrm>
            <a:off x="201168" y="320040"/>
            <a:ext cx="11786616" cy="1280160"/>
          </a:xfrm>
          <a:prstGeom prst="rect">
            <a:avLst/>
          </a:prstGeom>
          <a:noFill/>
        </p:spPr>
        <p:txBody>
          <a:bodyPr wrap="square">
            <a:spAutoFit/>
          </a:bodyPr>
          <a:lstStyle/>
          <a:p>
            <a:pPr algn="l"/>
            <a:r>
              <a:rPr b="1" i="0" sz="3200">
                <a:solidFill>
                  <a:srgbClr val="FFFFFF"/>
                </a:solidFill>
              </a:rPr>
              <a:t>Macierz Budżetowa — Siatka Referencyjna</a:t>
            </a:r>
          </a:p>
        </p:txBody>
      </p:sp>
      <p:sp>
        <p:nvSpPr>
          <p:cNvPr id="6" name="TextBox 5"/>
          <p:cNvSpPr txBox="1"/>
          <p:nvPr/>
        </p:nvSpPr>
        <p:spPr>
          <a:xfrm>
            <a:off x="8897112" y="128016"/>
            <a:ext cx="3108960" cy="310896"/>
          </a:xfrm>
          <a:prstGeom prst="rect">
            <a:avLst/>
          </a:prstGeom>
          <a:noFill/>
        </p:spPr>
        <p:txBody>
          <a:bodyPr wrap="square">
            <a:spAutoFit/>
          </a:bodyPr>
          <a:lstStyle/>
          <a:p>
            <a:pPr algn="r"/>
            <a:r>
              <a:rPr b="0" i="0" sz="900">
                <a:solidFill>
                  <a:srgbClr val="90EE90"/>
                </a:solidFill>
              </a:rPr>
              <a:t>Warsztat 4 — Siatka Referencyjna</a:t>
            </a:r>
          </a:p>
        </p:txBody>
      </p:sp>
      <p:sp>
        <p:nvSpPr>
          <p:cNvPr id="7" name="Rectangle 6"/>
          <p:cNvSpPr/>
          <p:nvPr/>
        </p:nvSpPr>
        <p:spPr>
          <a:xfrm>
            <a:off x="201168" y="1691640"/>
            <a:ext cx="11786616" cy="1371600"/>
          </a:xfrm>
          <a:prstGeom prst="rect">
            <a:avLst/>
          </a:prstGeom>
          <a:solidFill>
            <a:srgbClr val="0F2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1751990"/>
            <a:ext cx="1371600" cy="347472"/>
          </a:xfrm>
          <a:prstGeom prst="rect">
            <a:avLst/>
          </a:prstGeom>
          <a:noFill/>
        </p:spPr>
        <p:txBody>
          <a:bodyPr wrap="square">
            <a:spAutoFit/>
          </a:bodyPr>
          <a:lstStyle/>
          <a:p>
            <a:pPr algn="l"/>
            <a:r>
              <a:rPr b="1" i="0" sz="1200">
                <a:solidFill>
                  <a:srgbClr val="90EE90"/>
                </a:solidFill>
              </a:rPr>
              <a:t>ZADANIE</a:t>
            </a:r>
          </a:p>
        </p:txBody>
      </p:sp>
      <p:sp>
        <p:nvSpPr>
          <p:cNvPr id="9" name="TextBox 8"/>
          <p:cNvSpPr txBox="1"/>
          <p:nvPr/>
        </p:nvSpPr>
        <p:spPr>
          <a:xfrm>
            <a:off x="402336" y="2103120"/>
            <a:ext cx="11384280" cy="868680"/>
          </a:xfrm>
          <a:prstGeom prst="rect">
            <a:avLst/>
          </a:prstGeom>
          <a:noFill/>
        </p:spPr>
        <p:txBody>
          <a:bodyPr wrap="square">
            <a:spAutoFit/>
          </a:bodyPr>
          <a:lstStyle/>
          <a:p>
            <a:pPr algn="l"/>
            <a:r>
              <a:rPr b="0" i="0" sz="1600">
                <a:solidFill>
                  <a:srgbClr val="F0F4FF"/>
                </a:solidFill>
              </a:rPr>
              <a:t>To jest siatka referencyjna — taki sam układ macie na waszej tablicy Canva Whiteboard. Nagłówek: budżet całkowity 200 000 złotych. Pięć kolumn: kanał, etap RACE, budżet w PLN, priorytet i główny KPI. Dziewięć kanałów do rozważenia — plus wiersz "Inne" na eksperymenty. Na dole: suma kontrolna. Kiedy…</a:t>
            </a:r>
          </a:p>
        </p:txBody>
      </p:sp>
      <p:sp>
        <p:nvSpPr>
          <p:cNvPr id="10" name="TextBox 9"/>
          <p:cNvSpPr txBox="1"/>
          <p:nvPr/>
        </p:nvSpPr>
        <p:spPr>
          <a:xfrm>
            <a:off x="201168" y="3200400"/>
            <a:ext cx="11786616" cy="347472"/>
          </a:xfrm>
          <a:prstGeom prst="rect">
            <a:avLst/>
          </a:prstGeom>
          <a:noFill/>
        </p:spPr>
        <p:txBody>
          <a:bodyPr wrap="square">
            <a:spAutoFit/>
          </a:bodyPr>
          <a:lstStyle/>
          <a:p>
            <a:pPr algn="l"/>
            <a:r>
              <a:rPr b="1" i="0" sz="1200">
                <a:solidFill>
                  <a:srgbClr val="90EE90"/>
                </a:solidFill>
              </a:rPr>
              <a:t>PYTANIA DEBRIEFINGOWE</a:t>
            </a:r>
          </a:p>
        </p:txBody>
      </p:sp>
      <p:sp>
        <p:nvSpPr>
          <p:cNvPr id="11" name="TextBox 10"/>
          <p:cNvSpPr txBox="1"/>
          <p:nvPr/>
        </p:nvSpPr>
        <p:spPr>
          <a:xfrm>
            <a:off x="201168" y="3584448"/>
            <a:ext cx="11786616" cy="2862072"/>
          </a:xfrm>
          <a:prstGeom prst="rect">
            <a:avLst/>
          </a:prstGeom>
          <a:noFill/>
        </p:spPr>
        <p:txBody>
          <a:bodyPr wrap="square">
            <a:spAutoFit/>
          </a:bodyPr>
          <a:lstStyle/>
          <a:p>
            <a:pPr algn="l"/>
            <a:r>
              <a:rPr b="0" sz="1600">
                <a:solidFill>
                  <a:srgbClr val="D0D4DD"/>
                </a:solidFill>
              </a:rPr>
              <a:t>• Po zakończeniu ćwiczenia (ok. 16:30): poproś każdą grupę o podanie jednej decyzji, która była najtrudniejsza. Zapytaj: "Który kanał był najbardziej kontrowersyjny w grupie i dlaczego?" Zbierz 2–3 odpowiedzi. Zwróć uwagę na różnice między grupami — jeśli grupy wybrały bardzo różne podziały, to jest cenne: "Nie ma jednej prawidłowej odpowiedzi. Są dobre uzasadnienia i słabe uzasadnienia.</a:t>
            </a:r>
          </a:p>
        </p:txBody>
      </p:sp>
      <p:sp>
        <p:nvSpPr>
          <p:cNvPr id="12" name="TextBox 11"/>
          <p:cNvSpPr txBox="1"/>
          <p:nvPr/>
        </p:nvSpPr>
        <p:spPr>
          <a:xfrm>
            <a:off x="10268712" y="6510528"/>
            <a:ext cx="1737360" cy="292608"/>
          </a:xfrm>
          <a:prstGeom prst="rect">
            <a:avLst/>
          </a:prstGeom>
          <a:noFill/>
        </p:spPr>
        <p:txBody>
          <a:bodyPr wrap="square">
            <a:spAutoFit/>
          </a:bodyPr>
          <a:lstStyle/>
          <a:p>
            <a:pPr algn="r"/>
            <a:r>
              <a:rPr b="1" i="0" sz="1200">
                <a:solidFill>
                  <a:srgbClr val="90EE90"/>
                </a:solidFill>
              </a:rPr>
              <a:t>Cel: 16:10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37160"/>
            <a:ext cx="914400" cy="365760"/>
          </a:xfrm>
          <a:prstGeom prst="rect">
            <a:avLst/>
          </a:prstGeom>
          <a:noFill/>
        </p:spPr>
        <p:txBody>
          <a:bodyPr wrap="square">
            <a:spAutoFit/>
          </a:bodyPr>
          <a:lstStyle/>
          <a:p>
            <a:pPr algn="l"/>
            <a:r>
              <a:rPr b="1" i="0" sz="1100">
                <a:solidFill>
                  <a:srgbClr val="8892A4"/>
                </a:solidFill>
              </a:rPr>
              <a:t>Slide 76</a:t>
            </a:r>
          </a:p>
        </p:txBody>
      </p:sp>
      <p:sp>
        <p:nvSpPr>
          <p:cNvPr id="5" name="TextBox 4"/>
          <p:cNvSpPr txBox="1"/>
          <p:nvPr/>
        </p:nvSpPr>
        <p:spPr>
          <a:xfrm>
            <a:off x="201168" y="320040"/>
            <a:ext cx="11786616" cy="1280160"/>
          </a:xfrm>
          <a:prstGeom prst="rect">
            <a:avLst/>
          </a:prstGeom>
          <a:noFill/>
        </p:spPr>
        <p:txBody>
          <a:bodyPr wrap="square">
            <a:spAutoFit/>
          </a:bodyPr>
          <a:lstStyle/>
          <a:p>
            <a:pPr algn="l"/>
            <a:r>
              <a:rPr b="1" i="0" sz="3200">
                <a:solidFill>
                  <a:srgbClr val="FFFFFF"/>
                </a:solidFill>
              </a:rPr>
              <a:t>Witamy z Powrotem — Synteza</a:t>
            </a:r>
          </a:p>
        </p:txBody>
      </p:sp>
      <p:sp>
        <p:nvSpPr>
          <p:cNvPr id="6" name="TextBox 5"/>
          <p:cNvSpPr txBox="1"/>
          <p:nvPr/>
        </p:nvSpPr>
        <p:spPr>
          <a:xfrm>
            <a:off x="8897112" y="128016"/>
            <a:ext cx="3108960" cy="310896"/>
          </a:xfrm>
          <a:prstGeom prst="rect">
            <a:avLst/>
          </a:prstGeom>
          <a:noFill/>
        </p:spPr>
        <p:txBody>
          <a:bodyPr wrap="square">
            <a:spAutoFit/>
          </a:bodyPr>
          <a:lstStyle/>
          <a:p>
            <a:pPr algn="r"/>
            <a:r>
              <a:rPr b="0" i="0" sz="900">
                <a:solidFill>
                  <a:srgbClr val="F5C518"/>
                </a:solidFill>
              </a:rPr>
              <a:t>Blok 5 — Synteza i Zakończenie</a:t>
            </a:r>
          </a:p>
        </p:txBody>
      </p:sp>
      <p:sp>
        <p:nvSpPr>
          <p:cNvPr id="7" name="TextBox 6"/>
          <p:cNvSpPr txBox="1"/>
          <p:nvPr/>
        </p:nvSpPr>
        <p:spPr>
          <a:xfrm>
            <a:off x="201168" y="1691640"/>
            <a:ext cx="11786616" cy="2852928"/>
          </a:xfrm>
          <a:prstGeom prst="rect">
            <a:avLst/>
          </a:prstGeom>
          <a:noFill/>
        </p:spPr>
        <p:txBody>
          <a:bodyPr wrap="square">
            <a:spAutoFit/>
          </a:bodyPr>
          <a:lstStyle/>
          <a:p>
            <a:pPr algn="l"/>
            <a:r>
              <a:rPr b="0" sz="2200">
                <a:solidFill>
                  <a:srgbClr val="F0F4FF"/>
                </a:solidFill>
              </a:rPr>
              <a:t>• Pełnoekranowe tło w tonacji ciepłej (bursztyn/złoto przechodzące w głęboki granat) — wyraź</a:t>
            </a:r>
          </a:p>
          <a:p>
            <a:pPr algn="l"/>
            <a:r>
              <a:rPr b="0" sz="2200">
                <a:solidFill>
                  <a:srgbClr val="F0F4FF"/>
                </a:solidFill>
              </a:rPr>
              <a:t>• Duży napis centralny: "Zbierzmy to wszystko razem." Poniżej — cztery małe ikony nawiązując</a:t>
            </a:r>
          </a:p>
          <a:p>
            <a:pPr algn="l"/>
            <a:r>
              <a:rPr b="0" sz="2200">
                <a:solidFill>
                  <a:srgbClr val="F0F4FF"/>
                </a:solidFill>
              </a:rPr>
              <a:t>• Lewy dolny róg: dyskretna etykieta czasowa "16:35".</a:t>
            </a:r>
          </a:p>
        </p:txBody>
      </p:sp>
      <p:sp>
        <p:nvSpPr>
          <p:cNvPr id="8" name="TextBox 7"/>
          <p:cNvSpPr txBox="1"/>
          <p:nvPr/>
        </p:nvSpPr>
        <p:spPr>
          <a:xfrm>
            <a:off x="201168" y="4639665"/>
            <a:ext cx="11786616" cy="1664208"/>
          </a:xfrm>
          <a:prstGeom prst="rect">
            <a:avLst/>
          </a:prstGeom>
          <a:noFill/>
        </p:spPr>
        <p:txBody>
          <a:bodyPr wrap="square">
            <a:spAutoFit/>
          </a:bodyPr>
          <a:lstStyle/>
          <a:p>
            <a:pPr algn="l"/>
            <a:r>
              <a:rPr b="0" i="1" sz="1500">
                <a:solidFill>
                  <a:srgbClr val="8892A4"/>
                </a:solidFill>
              </a:rPr>
              <a:t>Witamy z powrotem po ostatnim warsztacie. Właśnie skończyliście najtrudniejszą część dnia — planowanie budżetu kanałowego z prawdziwymi liczbami i prawdziwymi wyborami. To nie było ćwiczenie akademickie — to był…</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F5C518"/>
                </a:solidFill>
              </a:rPr>
              <a:t>Cel: 16:35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37160"/>
            <a:ext cx="914400" cy="365760"/>
          </a:xfrm>
          <a:prstGeom prst="rect">
            <a:avLst/>
          </a:prstGeom>
          <a:noFill/>
        </p:spPr>
        <p:txBody>
          <a:bodyPr wrap="square">
            <a:spAutoFit/>
          </a:bodyPr>
          <a:lstStyle/>
          <a:p>
            <a:pPr algn="l"/>
            <a:r>
              <a:rPr b="1" i="0" sz="1100">
                <a:solidFill>
                  <a:srgbClr val="8892A4"/>
                </a:solidFill>
              </a:rPr>
              <a:t>Slide 77</a:t>
            </a:r>
          </a:p>
        </p:txBody>
      </p:sp>
      <p:sp>
        <p:nvSpPr>
          <p:cNvPr id="5" name="TextBox 4"/>
          <p:cNvSpPr txBox="1"/>
          <p:nvPr/>
        </p:nvSpPr>
        <p:spPr>
          <a:xfrm>
            <a:off x="201168" y="320040"/>
            <a:ext cx="11786616" cy="1280160"/>
          </a:xfrm>
          <a:prstGeom prst="rect">
            <a:avLst/>
          </a:prstGeom>
          <a:noFill/>
        </p:spPr>
        <p:txBody>
          <a:bodyPr wrap="square">
            <a:spAutoFit/>
          </a:bodyPr>
          <a:lstStyle/>
          <a:p>
            <a:pPr algn="l"/>
            <a:r>
              <a:rPr b="1" i="0" sz="3200">
                <a:solidFill>
                  <a:srgbClr val="FFFFFF"/>
                </a:solidFill>
              </a:rPr>
              <a:t>Diagram Hierarchii — Wariant 3 (Synteza)</a:t>
            </a:r>
          </a:p>
        </p:txBody>
      </p:sp>
      <p:sp>
        <p:nvSpPr>
          <p:cNvPr id="6" name="TextBox 5"/>
          <p:cNvSpPr txBox="1"/>
          <p:nvPr/>
        </p:nvSpPr>
        <p:spPr>
          <a:xfrm>
            <a:off x="8897112" y="128016"/>
            <a:ext cx="3108960" cy="310896"/>
          </a:xfrm>
          <a:prstGeom prst="rect">
            <a:avLst/>
          </a:prstGeom>
          <a:noFill/>
        </p:spPr>
        <p:txBody>
          <a:bodyPr wrap="square">
            <a:spAutoFit/>
          </a:bodyPr>
          <a:lstStyle/>
          <a:p>
            <a:pPr algn="r"/>
            <a:r>
              <a:rPr b="0" i="0" sz="900">
                <a:solidFill>
                  <a:srgbClr val="F5C518"/>
                </a:solidFill>
              </a:rPr>
              <a:t>Blok 5 — Synteza i Zakończenie</a:t>
            </a:r>
          </a:p>
        </p:txBody>
      </p:sp>
      <p:sp>
        <p:nvSpPr>
          <p:cNvPr id="7" name="TextBox 6"/>
          <p:cNvSpPr txBox="1"/>
          <p:nvPr/>
        </p:nvSpPr>
        <p:spPr>
          <a:xfrm>
            <a:off x="201168" y="1691640"/>
            <a:ext cx="11786616" cy="2852928"/>
          </a:xfrm>
          <a:prstGeom prst="rect">
            <a:avLst/>
          </a:prstGeom>
          <a:noFill/>
        </p:spPr>
        <p:txBody>
          <a:bodyPr wrap="square">
            <a:spAutoFit/>
          </a:bodyPr>
          <a:lstStyle/>
          <a:p>
            <a:pPr algn="l"/>
            <a:r>
              <a:rPr b="0" sz="2200">
                <a:solidFill>
                  <a:srgbClr val="F0F4FF"/>
                </a:solidFill>
              </a:rPr>
              <a:t>• Strategia Marki: → Ćwiczenie 3: Kanwa Propozycji Wartości</a:t>
            </a:r>
          </a:p>
          <a:p>
            <a:pPr algn="l"/>
            <a:r>
              <a:rPr b="0" sz="2200">
                <a:solidFill>
                  <a:srgbClr val="F0F4FF"/>
                </a:solidFill>
              </a:rPr>
              <a:t>• Strategia Cyfrowa: (kontekst organizacyjny</a:t>
            </a:r>
          </a:p>
          <a:p>
            <a:pPr algn="l"/>
            <a:r>
              <a:rPr b="0" sz="2200">
                <a:solidFill>
                  <a:srgbClr val="F0F4FF"/>
                </a:solidFill>
              </a:rPr>
              <a:t>• Strategia Marketingu Cyfrowego: → Cały dzień: wybrana marka</a:t>
            </a:r>
          </a:p>
          <a:p>
            <a:pPr algn="l"/>
            <a:r>
              <a:rPr b="0" sz="2200">
                <a:solidFill>
                  <a:srgbClr val="F0F4FF"/>
                </a:solidFill>
              </a:rPr>
              <a:t>• SOSTAC: → Ćwiczenie 1: Audyt Sytuacyjny</a:t>
            </a:r>
          </a:p>
          <a:p>
            <a:pPr algn="l"/>
            <a:r>
              <a:rPr b="0" sz="2200">
                <a:solidFill>
                  <a:srgbClr val="F0F4FF"/>
                </a:solidFill>
              </a:rPr>
              <a:t>• RACE: → Ćwiczenie 2: Mapa Ścieżki Klienta</a:t>
            </a:r>
          </a:p>
        </p:txBody>
      </p:sp>
      <p:sp>
        <p:nvSpPr>
          <p:cNvPr id="8" name="TextBox 7"/>
          <p:cNvSpPr txBox="1"/>
          <p:nvPr/>
        </p:nvSpPr>
        <p:spPr>
          <a:xfrm>
            <a:off x="201168" y="4639665"/>
            <a:ext cx="11786616" cy="1664208"/>
          </a:xfrm>
          <a:prstGeom prst="rect">
            <a:avLst/>
          </a:prstGeom>
          <a:noFill/>
        </p:spPr>
        <p:txBody>
          <a:bodyPr wrap="square">
            <a:spAutoFit/>
          </a:bodyPr>
          <a:lstStyle/>
          <a:p>
            <a:pPr algn="l"/>
            <a:r>
              <a:rPr b="0" i="1" sz="1500">
                <a:solidFill>
                  <a:srgbClr val="8892A4"/>
                </a:solidFill>
              </a:rPr>
              <a:t>Pamiętacie ten diagram z samego rana? Wtedy pokazałam wam całą hierachię jako obietnicę — "tyle rzeczy będziemy omawiać dziś." Teraz pokażę wam ją jeszcze raz, ale z adnotacjami. Poziom pierwszy — Strategia Marki — to…</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F5C518"/>
                </a:solidFill>
              </a:rPr>
              <a:t>Cel: 16:37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37160"/>
            <a:ext cx="914400" cy="365760"/>
          </a:xfrm>
          <a:prstGeom prst="rect">
            <a:avLst/>
          </a:prstGeom>
          <a:noFill/>
        </p:spPr>
        <p:txBody>
          <a:bodyPr wrap="square">
            <a:spAutoFit/>
          </a:bodyPr>
          <a:lstStyle/>
          <a:p>
            <a:pPr algn="l"/>
            <a:r>
              <a:rPr b="1" i="0" sz="1100">
                <a:solidFill>
                  <a:srgbClr val="8892A4"/>
                </a:solidFill>
              </a:rPr>
              <a:t>Slide 78</a:t>
            </a:r>
          </a:p>
        </p:txBody>
      </p:sp>
      <p:sp>
        <p:nvSpPr>
          <p:cNvPr id="5" name="TextBox 4"/>
          <p:cNvSpPr txBox="1"/>
          <p:nvPr/>
        </p:nvSpPr>
        <p:spPr>
          <a:xfrm>
            <a:off x="201168" y="320040"/>
            <a:ext cx="11786616" cy="1280160"/>
          </a:xfrm>
          <a:prstGeom prst="rect">
            <a:avLst/>
          </a:prstGeom>
          <a:noFill/>
        </p:spPr>
        <p:txBody>
          <a:bodyPr wrap="square">
            <a:spAutoFit/>
          </a:bodyPr>
          <a:lstStyle/>
          <a:p>
            <a:pPr algn="l"/>
            <a:r>
              <a:rPr b="1" i="0" sz="3200">
                <a:solidFill>
                  <a:srgbClr val="FFFFFF"/>
                </a:solidFill>
              </a:rPr>
              <a:t>Pięć Rzeczy do Zapamiętania</a:t>
            </a:r>
          </a:p>
        </p:txBody>
      </p:sp>
      <p:sp>
        <p:nvSpPr>
          <p:cNvPr id="6" name="TextBox 5"/>
          <p:cNvSpPr txBox="1"/>
          <p:nvPr/>
        </p:nvSpPr>
        <p:spPr>
          <a:xfrm>
            <a:off x="8897112" y="128016"/>
            <a:ext cx="3108960" cy="310896"/>
          </a:xfrm>
          <a:prstGeom prst="rect">
            <a:avLst/>
          </a:prstGeom>
          <a:noFill/>
        </p:spPr>
        <p:txBody>
          <a:bodyPr wrap="square">
            <a:spAutoFit/>
          </a:bodyPr>
          <a:lstStyle/>
          <a:p>
            <a:pPr algn="r"/>
            <a:r>
              <a:rPr b="0" i="0" sz="900">
                <a:solidFill>
                  <a:srgbClr val="F5C518"/>
                </a:solidFill>
              </a:rPr>
              <a:t>Blok 5 — Synteza i Zakończenie</a:t>
            </a:r>
          </a:p>
        </p:txBody>
      </p:sp>
      <p:sp>
        <p:nvSpPr>
          <p:cNvPr id="7" name="TextBox 6"/>
          <p:cNvSpPr txBox="1"/>
          <p:nvPr/>
        </p:nvSpPr>
        <p:spPr>
          <a:xfrm>
            <a:off x="201168" y="1691640"/>
            <a:ext cx="11786616" cy="2852928"/>
          </a:xfrm>
          <a:prstGeom prst="rect">
            <a:avLst/>
          </a:prstGeom>
          <a:noFill/>
        </p:spPr>
        <p:txBody>
          <a:bodyPr wrap="square">
            <a:spAutoFit/>
          </a:bodyPr>
          <a:lstStyle/>
          <a:p>
            <a:pPr algn="l"/>
            <a:r>
              <a:rPr b="0" sz="2200">
                <a:solidFill>
                  <a:srgbClr val="F0F4FF"/>
                </a:solidFill>
              </a:rPr>
              <a:t>• Numerowana lista — pięć dużych punktorów z numerami 1–5 po lewej stronie (kontrastowy kolo</a:t>
            </a:r>
          </a:p>
          <a:p>
            <a:pPr algn="l"/>
            <a:r>
              <a:rPr b="0" sz="2200">
                <a:solidFill>
                  <a:srgbClr val="F0F4FF"/>
                </a:solidFill>
              </a:rPr>
              <a:t>• Każdy punkt na osobnym wierszu, duża czytelna czcionka.</a:t>
            </a:r>
          </a:p>
          <a:p>
            <a:pPr algn="l"/>
            <a:r>
              <a:rPr b="0" sz="2200">
                <a:solidFill>
                  <a:srgbClr val="F0F4FF"/>
                </a:solidFill>
              </a:rPr>
              <a:t>• Opcjonalnie: progressywne pojawianie się punktów (jeden klik = jeden punkt).</a:t>
            </a:r>
          </a:p>
          <a:p>
            <a:pPr algn="l"/>
            <a:r>
              <a:rPr b="0" sz="2200">
                <a:solidFill>
                  <a:srgbClr val="F0F4FF"/>
                </a:solidFill>
              </a:rPr>
              <a:t>• SOSTAC to dyscyplina planistyczna — nie szablon do wypełnienia, lecz sposób myślenia.</a:t>
            </a:r>
          </a:p>
        </p:txBody>
      </p:sp>
      <p:sp>
        <p:nvSpPr>
          <p:cNvPr id="8" name="TextBox 7"/>
          <p:cNvSpPr txBox="1"/>
          <p:nvPr/>
        </p:nvSpPr>
        <p:spPr>
          <a:xfrm>
            <a:off x="201168" y="4639665"/>
            <a:ext cx="11786616" cy="1664208"/>
          </a:xfrm>
          <a:prstGeom prst="rect">
            <a:avLst/>
          </a:prstGeom>
          <a:noFill/>
        </p:spPr>
        <p:txBody>
          <a:bodyPr wrap="square">
            <a:spAutoFit/>
          </a:bodyPr>
          <a:lstStyle/>
          <a:p>
            <a:pPr algn="l"/>
            <a:r>
              <a:rPr b="0" i="1" sz="1500">
                <a:solidFill>
                  <a:srgbClr val="8892A4"/>
                </a:solidFill>
              </a:rPr>
              <a:t>Pięć rzeczy, które chcę, żebyście zabrali do domu — nie jako slajd, ale jako sposób myślenia. Po pierwsze: SOSTAC to dyscyplina planistyczna. Nie wypełniasz tabeli SOSTAC — ty myślisz przez SOSTAC. Sytuacja, cele,…</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F5C518"/>
                </a:solidFill>
              </a:rPr>
              <a:t>Cel: 16:41</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37160"/>
            <a:ext cx="914400" cy="365760"/>
          </a:xfrm>
          <a:prstGeom prst="rect">
            <a:avLst/>
          </a:prstGeom>
          <a:noFill/>
        </p:spPr>
        <p:txBody>
          <a:bodyPr wrap="square">
            <a:spAutoFit/>
          </a:bodyPr>
          <a:lstStyle/>
          <a:p>
            <a:pPr algn="l"/>
            <a:r>
              <a:rPr b="1" i="0" sz="1100">
                <a:solidFill>
                  <a:srgbClr val="8892A4"/>
                </a:solidFill>
              </a:rPr>
              <a:t>Slide 79</a:t>
            </a:r>
          </a:p>
        </p:txBody>
      </p:sp>
      <p:sp>
        <p:nvSpPr>
          <p:cNvPr id="5" name="TextBox 4"/>
          <p:cNvSpPr txBox="1"/>
          <p:nvPr/>
        </p:nvSpPr>
        <p:spPr>
          <a:xfrm>
            <a:off x="201168" y="320040"/>
            <a:ext cx="11786616" cy="1280160"/>
          </a:xfrm>
          <a:prstGeom prst="rect">
            <a:avLst/>
          </a:prstGeom>
          <a:noFill/>
        </p:spPr>
        <p:txBody>
          <a:bodyPr wrap="square">
            <a:spAutoFit/>
          </a:bodyPr>
          <a:lstStyle/>
          <a:p>
            <a:pPr algn="l"/>
            <a:r>
              <a:rPr b="1" i="0" sz="3200">
                <a:solidFill>
                  <a:srgbClr val="FFFFFF"/>
                </a:solidFill>
              </a:rPr>
              <a:t>Trzy Frameworki — Po Jednym Zdaniu</a:t>
            </a:r>
          </a:p>
        </p:txBody>
      </p:sp>
      <p:sp>
        <p:nvSpPr>
          <p:cNvPr id="6" name="TextBox 5"/>
          <p:cNvSpPr txBox="1"/>
          <p:nvPr/>
        </p:nvSpPr>
        <p:spPr>
          <a:xfrm>
            <a:off x="8897112" y="128016"/>
            <a:ext cx="3108960" cy="310896"/>
          </a:xfrm>
          <a:prstGeom prst="rect">
            <a:avLst/>
          </a:prstGeom>
          <a:noFill/>
        </p:spPr>
        <p:txBody>
          <a:bodyPr wrap="square">
            <a:spAutoFit/>
          </a:bodyPr>
          <a:lstStyle/>
          <a:p>
            <a:pPr algn="r"/>
            <a:r>
              <a:rPr b="0" i="0" sz="900">
                <a:solidFill>
                  <a:srgbClr val="F5C518"/>
                </a:solidFill>
              </a:rPr>
              <a:t>Blok 5 — Synteza i Zakończenie</a:t>
            </a:r>
          </a:p>
        </p:txBody>
      </p:sp>
      <p:sp>
        <p:nvSpPr>
          <p:cNvPr id="7" name="TextBox 6"/>
          <p:cNvSpPr txBox="1"/>
          <p:nvPr/>
        </p:nvSpPr>
        <p:spPr>
          <a:xfrm>
            <a:off x="201168" y="1691640"/>
            <a:ext cx="11786616" cy="2852928"/>
          </a:xfrm>
          <a:prstGeom prst="rect">
            <a:avLst/>
          </a:prstGeom>
          <a:noFill/>
        </p:spPr>
        <p:txBody>
          <a:bodyPr wrap="square">
            <a:spAutoFit/>
          </a:bodyPr>
          <a:lstStyle/>
          <a:p>
            <a:pPr algn="l"/>
            <a:r>
              <a:rPr b="0" sz="2200">
                <a:solidFill>
                  <a:srgbClr val="F0F4FF"/>
                </a:solidFill>
              </a:rPr>
              <a:t>• Trzy duże bloki (poziome paski lub karty), każdy w kolorze powiązanym z frameworkiem.</a:t>
            </a:r>
          </a:p>
          <a:p>
            <a:pPr algn="l"/>
            <a:r>
              <a:rPr b="0" sz="2200">
                <a:solidFill>
                  <a:srgbClr val="F0F4FF"/>
                </a:solidFill>
              </a:rPr>
              <a:t>• Każdy blok zawiera: nazwę frameworku (bold, duży) + jedno zdanie definicji poniżej.</a:t>
            </a:r>
          </a:p>
          <a:p>
            <a:pPr algn="l"/>
            <a:r>
              <a:rPr b="0" sz="2200">
                <a:solidFill>
                  <a:srgbClr val="F0F4FF"/>
                </a:solidFill>
              </a:rPr>
              <a:t>• Opcjonalnie: ikona lub akronim jako grafikę dekoracyjną.</a:t>
            </a:r>
          </a:p>
          <a:p>
            <a:pPr algn="l"/>
            <a:r>
              <a:rPr b="0" sz="2200">
                <a:solidFill>
                  <a:srgbClr val="F0F4FF"/>
                </a:solidFill>
              </a:rPr>
              <a:t>• SOSTAC: "Planujemy: analizujemy sytuację, definiujemy cel, wybieramy strategię, projektuje</a:t>
            </a:r>
          </a:p>
        </p:txBody>
      </p:sp>
      <p:sp>
        <p:nvSpPr>
          <p:cNvPr id="8" name="TextBox 7"/>
          <p:cNvSpPr txBox="1"/>
          <p:nvPr/>
        </p:nvSpPr>
        <p:spPr>
          <a:xfrm>
            <a:off x="201168" y="4639665"/>
            <a:ext cx="11786616" cy="1664208"/>
          </a:xfrm>
          <a:prstGeom prst="rect">
            <a:avLst/>
          </a:prstGeom>
          <a:noFill/>
        </p:spPr>
        <p:txBody>
          <a:bodyPr wrap="square">
            <a:spAutoFit/>
          </a:bodyPr>
          <a:lstStyle/>
          <a:p>
            <a:pPr algn="l"/>
            <a:r>
              <a:rPr b="0" i="1" sz="1500">
                <a:solidFill>
                  <a:srgbClr val="8892A4"/>
                </a:solidFill>
              </a:rPr>
              <a:t>Czasem najpotężniejsze narzędzie to umiejętność wyjaśnienia złożonej idei w jednym zdaniu. Sprawdzian zrozumienia — czy potrafisz wyjaśnić framework osobie, która nie była dziś na zajęciach? SOSTAC: planujemy,…</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F5C518"/>
                </a:solidFill>
              </a:rPr>
              <a:t>Cel: 16:46</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37160"/>
            <a:ext cx="914400" cy="365760"/>
          </a:xfrm>
          <a:prstGeom prst="rect">
            <a:avLst/>
          </a:prstGeom>
          <a:noFill/>
        </p:spPr>
        <p:txBody>
          <a:bodyPr wrap="square">
            <a:spAutoFit/>
          </a:bodyPr>
          <a:lstStyle/>
          <a:p>
            <a:pPr algn="l"/>
            <a:r>
              <a:rPr b="1" i="0" sz="1100">
                <a:solidFill>
                  <a:srgbClr val="8892A4"/>
                </a:solidFill>
              </a:rPr>
              <a:t>Slide 80</a:t>
            </a:r>
          </a:p>
        </p:txBody>
      </p:sp>
      <p:sp>
        <p:nvSpPr>
          <p:cNvPr id="5" name="TextBox 4"/>
          <p:cNvSpPr txBox="1"/>
          <p:nvPr/>
        </p:nvSpPr>
        <p:spPr>
          <a:xfrm>
            <a:off x="201168" y="320040"/>
            <a:ext cx="11786616" cy="1280160"/>
          </a:xfrm>
          <a:prstGeom prst="rect">
            <a:avLst/>
          </a:prstGeom>
          <a:noFill/>
        </p:spPr>
        <p:txBody>
          <a:bodyPr wrap="square">
            <a:spAutoFit/>
          </a:bodyPr>
          <a:lstStyle/>
          <a:p>
            <a:pPr algn="l"/>
            <a:r>
              <a:rPr b="1" i="0" sz="3200">
                <a:solidFill>
                  <a:srgbClr val="FFFFFF"/>
                </a:solidFill>
              </a:rPr>
              <a:t>Co Zrobić w Przyszłym Tygodniu</a:t>
            </a:r>
          </a:p>
        </p:txBody>
      </p:sp>
      <p:sp>
        <p:nvSpPr>
          <p:cNvPr id="6" name="TextBox 5"/>
          <p:cNvSpPr txBox="1"/>
          <p:nvPr/>
        </p:nvSpPr>
        <p:spPr>
          <a:xfrm>
            <a:off x="8897112" y="128016"/>
            <a:ext cx="3108960" cy="310896"/>
          </a:xfrm>
          <a:prstGeom prst="rect">
            <a:avLst/>
          </a:prstGeom>
          <a:noFill/>
        </p:spPr>
        <p:txBody>
          <a:bodyPr wrap="square">
            <a:spAutoFit/>
          </a:bodyPr>
          <a:lstStyle/>
          <a:p>
            <a:pPr algn="r"/>
            <a:r>
              <a:rPr b="0" i="0" sz="900">
                <a:solidFill>
                  <a:srgbClr val="F5C518"/>
                </a:solidFill>
              </a:rPr>
              <a:t>Blok 5 — Synteza i Zakończenie</a:t>
            </a:r>
          </a:p>
        </p:txBody>
      </p:sp>
      <p:sp>
        <p:nvSpPr>
          <p:cNvPr id="7" name="TextBox 6"/>
          <p:cNvSpPr txBox="1"/>
          <p:nvPr/>
        </p:nvSpPr>
        <p:spPr>
          <a:xfrm>
            <a:off x="201168" y="1691640"/>
            <a:ext cx="11786616" cy="2852928"/>
          </a:xfrm>
          <a:prstGeom prst="rect">
            <a:avLst/>
          </a:prstGeom>
          <a:noFill/>
        </p:spPr>
        <p:txBody>
          <a:bodyPr wrap="square">
            <a:spAutoFit/>
          </a:bodyPr>
          <a:lstStyle/>
          <a:p>
            <a:pPr algn="l"/>
            <a:r>
              <a:rPr b="0" sz="2200">
                <a:solidFill>
                  <a:srgbClr val="F0F4FF"/>
                </a:solidFill>
              </a:rPr>
              <a:t>• Główne zadanie wyróżnione pogrubioną czcionką lub kolorem akcentowym.</a:t>
            </a:r>
          </a:p>
          <a:p>
            <a:pPr algn="l"/>
            <a:r>
              <a:rPr b="0" sz="2200">
                <a:solidFill>
                  <a:srgbClr val="F0F4FF"/>
                </a:solidFill>
              </a:rPr>
              <a:t>• **Główne zadanie**: Przeprowadź audyt SOSTAC dla swojej marki lub organizacji.</a:t>
            </a:r>
          </a:p>
          <a:p>
            <a:pPr algn="l"/>
            <a:r>
              <a:rPr b="0" sz="2200">
                <a:solidFill>
                  <a:srgbClr val="F0F4FF"/>
                </a:solidFill>
              </a:rPr>
              <a:t>• Krok 1: Wybierz jedną markę — własną firmę, pracodawcę lub brand, który znasz dobrze — i w</a:t>
            </a:r>
          </a:p>
          <a:p>
            <a:pPr algn="l"/>
            <a:r>
              <a:rPr b="0" sz="2200">
                <a:solidFill>
                  <a:srgbClr val="F0F4FF"/>
                </a:solidFill>
              </a:rPr>
              <a:t>• Krok 2: Zmapuj co najmniej trzy taktyki kanałowe tej marki na etapy RACE — i oceń, który e</a:t>
            </a:r>
          </a:p>
        </p:txBody>
      </p:sp>
      <p:sp>
        <p:nvSpPr>
          <p:cNvPr id="8" name="TextBox 7"/>
          <p:cNvSpPr txBox="1"/>
          <p:nvPr/>
        </p:nvSpPr>
        <p:spPr>
          <a:xfrm>
            <a:off x="201168" y="4639665"/>
            <a:ext cx="11786616" cy="1664208"/>
          </a:xfrm>
          <a:prstGeom prst="rect">
            <a:avLst/>
          </a:prstGeom>
          <a:noFill/>
        </p:spPr>
        <p:txBody>
          <a:bodyPr wrap="square">
            <a:spAutoFit/>
          </a:bodyPr>
          <a:lstStyle/>
          <a:p>
            <a:pPr algn="l"/>
            <a:r>
              <a:rPr b="0" i="1" sz="1500">
                <a:solidFill>
                  <a:srgbClr val="8892A4"/>
                </a:solidFill>
              </a:rPr>
              <a:t>Koniec zajęć to nie koniec pracy — to jej prawdziwy początek. Macie jedno główne zadanie na przyszły tydzień: przeprowadźcie audyt SOSTAC dla marki, którą znacie z bliska. Może to być wasza firma, wasz pracodawca, marka…</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F5C518"/>
                </a:solidFill>
              </a:rPr>
              <a:t>Cel: 16:50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37160"/>
            <a:ext cx="914400" cy="365760"/>
          </a:xfrm>
          <a:prstGeom prst="rect">
            <a:avLst/>
          </a:prstGeom>
          <a:noFill/>
        </p:spPr>
        <p:txBody>
          <a:bodyPr wrap="square">
            <a:spAutoFit/>
          </a:bodyPr>
          <a:lstStyle/>
          <a:p>
            <a:pPr algn="l"/>
            <a:r>
              <a:rPr b="1" i="0" sz="1100">
                <a:solidFill>
                  <a:srgbClr val="8892A4"/>
                </a:solidFill>
              </a:rPr>
              <a:t>Slide 81</a:t>
            </a:r>
          </a:p>
        </p:txBody>
      </p:sp>
      <p:sp>
        <p:nvSpPr>
          <p:cNvPr id="5" name="TextBox 4"/>
          <p:cNvSpPr txBox="1"/>
          <p:nvPr/>
        </p:nvSpPr>
        <p:spPr>
          <a:xfrm>
            <a:off x="201168" y="320040"/>
            <a:ext cx="11786616" cy="1280160"/>
          </a:xfrm>
          <a:prstGeom prst="rect">
            <a:avLst/>
          </a:prstGeom>
          <a:noFill/>
        </p:spPr>
        <p:txBody>
          <a:bodyPr wrap="square">
            <a:spAutoFit/>
          </a:bodyPr>
          <a:lstStyle/>
          <a:p>
            <a:pPr algn="l"/>
            <a:r>
              <a:rPr b="1" i="0" sz="3200">
                <a:solidFill>
                  <a:srgbClr val="FFFFFF"/>
                </a:solidFill>
              </a:rPr>
              <a:t>Polskie Zasoby Cyfrowego Marketingu</a:t>
            </a:r>
          </a:p>
        </p:txBody>
      </p:sp>
      <p:sp>
        <p:nvSpPr>
          <p:cNvPr id="6" name="TextBox 5"/>
          <p:cNvSpPr txBox="1"/>
          <p:nvPr/>
        </p:nvSpPr>
        <p:spPr>
          <a:xfrm>
            <a:off x="8897112" y="128016"/>
            <a:ext cx="3108960" cy="310896"/>
          </a:xfrm>
          <a:prstGeom prst="rect">
            <a:avLst/>
          </a:prstGeom>
          <a:noFill/>
        </p:spPr>
        <p:txBody>
          <a:bodyPr wrap="square">
            <a:spAutoFit/>
          </a:bodyPr>
          <a:lstStyle/>
          <a:p>
            <a:pPr algn="r"/>
            <a:r>
              <a:rPr b="0" i="0" sz="900">
                <a:solidFill>
                  <a:srgbClr val="F5C518"/>
                </a:solidFill>
              </a:rPr>
              <a:t>Blok 5 — Synteza i Zakończenie</a:t>
            </a:r>
          </a:p>
        </p:txBody>
      </p:sp>
      <p:sp>
        <p:nvSpPr>
          <p:cNvPr id="7" name="TextBox 6"/>
          <p:cNvSpPr txBox="1"/>
          <p:nvPr/>
        </p:nvSpPr>
        <p:spPr>
          <a:xfrm>
            <a:off x="201168" y="1691640"/>
            <a:ext cx="11786616" cy="2852928"/>
          </a:xfrm>
          <a:prstGeom prst="rect">
            <a:avLst/>
          </a:prstGeom>
          <a:noFill/>
        </p:spPr>
        <p:txBody>
          <a:bodyPr wrap="square">
            <a:spAutoFit/>
          </a:bodyPr>
          <a:lstStyle/>
          <a:p>
            <a:pPr algn="l"/>
            <a:r>
              <a:rPr b="0" sz="2200">
                <a:solidFill>
                  <a:srgbClr val="F0F4FF"/>
                </a:solidFill>
              </a:rPr>
              <a:t>• Cztery logo lub nazwy zasobów w układzie 2x2 lub poziomej listy z ikonami.</a:t>
            </a:r>
          </a:p>
          <a:p>
            <a:pPr algn="l"/>
            <a:r>
              <a:rPr b="0" sz="2200">
                <a:solidFill>
                  <a:srgbClr val="F0F4FF"/>
                </a:solidFill>
              </a:rPr>
              <a:t>• Każdy zasób: nazwa + krótki opis (1 linia) + URL.</a:t>
            </a:r>
          </a:p>
          <a:p>
            <a:pPr algn="l"/>
            <a:r>
              <a:rPr b="0" sz="2200">
                <a:solidFill>
                  <a:srgbClr val="F0F4FF"/>
                </a:solidFill>
              </a:rPr>
              <a:t>• - **Marketing przy Kawie** (marketingprzykawie.pl) — podcast i blog o marketingu z polskie</a:t>
            </a:r>
          </a:p>
        </p:txBody>
      </p:sp>
      <p:sp>
        <p:nvSpPr>
          <p:cNvPr id="8" name="TextBox 7"/>
          <p:cNvSpPr txBox="1"/>
          <p:nvPr/>
        </p:nvSpPr>
        <p:spPr>
          <a:xfrm>
            <a:off x="201168" y="4639665"/>
            <a:ext cx="11786616" cy="1664208"/>
          </a:xfrm>
          <a:prstGeom prst="rect">
            <a:avLst/>
          </a:prstGeom>
          <a:noFill/>
        </p:spPr>
        <p:txBody>
          <a:bodyPr wrap="square">
            <a:spAutoFit/>
          </a:bodyPr>
          <a:lstStyle/>
          <a:p>
            <a:pPr algn="l"/>
            <a:r>
              <a:rPr b="0" i="1" sz="1500">
                <a:solidFill>
                  <a:srgbClr val="8892A4"/>
                </a:solidFill>
              </a:rPr>
              <a:t>Na slajdzie macie cztery polskie źródła, które warto śledzić regularnie. Marketing przy Kawie — podcast i blog prowadzony po polsku, z praktycznym podejściem do marketingu dla polskiego rynku. Sprawny Marketing — to…</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F5C518"/>
                </a:solidFill>
              </a:rPr>
              <a:t>Cel: 16:53</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37160"/>
            <a:ext cx="914400" cy="365760"/>
          </a:xfrm>
          <a:prstGeom prst="rect">
            <a:avLst/>
          </a:prstGeom>
          <a:noFill/>
        </p:spPr>
        <p:txBody>
          <a:bodyPr wrap="square">
            <a:spAutoFit/>
          </a:bodyPr>
          <a:lstStyle/>
          <a:p>
            <a:pPr algn="l"/>
            <a:r>
              <a:rPr b="1" i="0" sz="1100">
                <a:solidFill>
                  <a:srgbClr val="8892A4"/>
                </a:solidFill>
              </a:rPr>
              <a:t>Slide 82</a:t>
            </a:r>
          </a:p>
        </p:txBody>
      </p:sp>
      <p:sp>
        <p:nvSpPr>
          <p:cNvPr id="5" name="TextBox 4"/>
          <p:cNvSpPr txBox="1"/>
          <p:nvPr/>
        </p:nvSpPr>
        <p:spPr>
          <a:xfrm>
            <a:off x="201168" y="320040"/>
            <a:ext cx="11786616" cy="1280160"/>
          </a:xfrm>
          <a:prstGeom prst="rect">
            <a:avLst/>
          </a:prstGeom>
          <a:noFill/>
        </p:spPr>
        <p:txBody>
          <a:bodyPr wrap="square">
            <a:spAutoFit/>
          </a:bodyPr>
          <a:lstStyle/>
          <a:p>
            <a:pPr algn="l"/>
            <a:r>
              <a:rPr b="1" i="0" sz="3200">
                <a:solidFill>
                  <a:srgbClr val="FFFFFF"/>
                </a:solidFill>
              </a:rPr>
              <a:t>Międzynarodowe Zasoby</a:t>
            </a:r>
          </a:p>
        </p:txBody>
      </p:sp>
      <p:sp>
        <p:nvSpPr>
          <p:cNvPr id="6" name="TextBox 5"/>
          <p:cNvSpPr txBox="1"/>
          <p:nvPr/>
        </p:nvSpPr>
        <p:spPr>
          <a:xfrm>
            <a:off x="8897112" y="128016"/>
            <a:ext cx="3108960" cy="310896"/>
          </a:xfrm>
          <a:prstGeom prst="rect">
            <a:avLst/>
          </a:prstGeom>
          <a:noFill/>
        </p:spPr>
        <p:txBody>
          <a:bodyPr wrap="square">
            <a:spAutoFit/>
          </a:bodyPr>
          <a:lstStyle/>
          <a:p>
            <a:pPr algn="r"/>
            <a:r>
              <a:rPr b="0" i="0" sz="900">
                <a:solidFill>
                  <a:srgbClr val="F5C518"/>
                </a:solidFill>
              </a:rPr>
              <a:t>Blok 5 — Synteza i Zakończenie</a:t>
            </a:r>
          </a:p>
        </p:txBody>
      </p:sp>
      <p:sp>
        <p:nvSpPr>
          <p:cNvPr id="7" name="TextBox 6"/>
          <p:cNvSpPr txBox="1"/>
          <p:nvPr/>
        </p:nvSpPr>
        <p:spPr>
          <a:xfrm>
            <a:off x="201168" y="1691640"/>
            <a:ext cx="11786616" cy="2852928"/>
          </a:xfrm>
          <a:prstGeom prst="rect">
            <a:avLst/>
          </a:prstGeom>
          <a:noFill/>
        </p:spPr>
        <p:txBody>
          <a:bodyPr wrap="square">
            <a:spAutoFit/>
          </a:bodyPr>
          <a:lstStyle/>
          <a:p>
            <a:pPr algn="l"/>
            <a:r>
              <a:rPr b="0" sz="2200">
                <a:solidFill>
                  <a:srgbClr val="F0F4FF"/>
                </a:solidFill>
              </a:rPr>
              <a:t>• Dave Chaffey</a:t>
            </a:r>
          </a:p>
          <a:p>
            <a:pPr algn="l"/>
            <a:r>
              <a:rPr b="0" sz="2200">
                <a:solidFill>
                  <a:srgbClr val="F0F4FF"/>
                </a:solidFill>
              </a:rPr>
              <a:t>• RACE Framework, benchmarki, strategie cyfrowe</a:t>
            </a:r>
          </a:p>
          <a:p>
            <a:pPr algn="l"/>
            <a:r>
              <a:rPr b="0" sz="2200">
                <a:solidFill>
                  <a:srgbClr val="F0F4FF"/>
                </a:solidFill>
              </a:rPr>
              <a:t>• Alex Osterwalder</a:t>
            </a:r>
          </a:p>
          <a:p>
            <a:pPr algn="l"/>
            <a:r>
              <a:rPr b="0" sz="2200">
                <a:solidFill>
                  <a:srgbClr val="F0F4FF"/>
                </a:solidFill>
              </a:rPr>
              <a:t>• Kanwa Propozycji Wartości i narzędzia strategiczne</a:t>
            </a:r>
          </a:p>
          <a:p>
            <a:pPr algn="l"/>
            <a:r>
              <a:rPr b="0" sz="2200">
                <a:solidFill>
                  <a:srgbClr val="F0F4FF"/>
                </a:solidFill>
              </a:rPr>
              <a:t>• Digital 2025 Poland</a:t>
            </a:r>
          </a:p>
        </p:txBody>
      </p:sp>
      <p:sp>
        <p:nvSpPr>
          <p:cNvPr id="8" name="TextBox 7"/>
          <p:cNvSpPr txBox="1"/>
          <p:nvPr/>
        </p:nvSpPr>
        <p:spPr>
          <a:xfrm>
            <a:off x="201168" y="4639665"/>
            <a:ext cx="11786616" cy="1664208"/>
          </a:xfrm>
          <a:prstGeom prst="rect">
            <a:avLst/>
          </a:prstGeom>
          <a:noFill/>
        </p:spPr>
        <p:txBody>
          <a:bodyPr wrap="square">
            <a:spAutoFit/>
          </a:bodyPr>
          <a:lstStyle/>
          <a:p>
            <a:pPr algn="l"/>
            <a:r>
              <a:rPr b="0" i="1" sz="1500">
                <a:solidFill>
                  <a:srgbClr val="8892A4"/>
                </a:solidFill>
              </a:rPr>
              <a:t>A tu cztery anglojęzyczne źródła klasy światowej. Smart Insights to Dave Chaffey — twórca frameworku RACE — jego strona to centrum wiedzy o strategii cyfrowej. Warto tam być. PR Smith's SOSTAC Guide — to bezpośrednio od…</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F5C518"/>
                </a:solidFill>
              </a:rPr>
              <a:t>Cel: 16:55</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37160"/>
            <a:ext cx="914400" cy="365760"/>
          </a:xfrm>
          <a:prstGeom prst="rect">
            <a:avLst/>
          </a:prstGeom>
          <a:noFill/>
        </p:spPr>
        <p:txBody>
          <a:bodyPr wrap="square">
            <a:spAutoFit/>
          </a:bodyPr>
          <a:lstStyle/>
          <a:p>
            <a:pPr algn="l"/>
            <a:r>
              <a:rPr b="1" i="0" sz="1100">
                <a:solidFill>
                  <a:srgbClr val="8892A4"/>
                </a:solidFill>
              </a:rPr>
              <a:t>Slide 83</a:t>
            </a:r>
          </a:p>
        </p:txBody>
      </p:sp>
      <p:sp>
        <p:nvSpPr>
          <p:cNvPr id="5" name="TextBox 4"/>
          <p:cNvSpPr txBox="1"/>
          <p:nvPr/>
        </p:nvSpPr>
        <p:spPr>
          <a:xfrm>
            <a:off x="201168" y="320040"/>
            <a:ext cx="11786616" cy="1280160"/>
          </a:xfrm>
          <a:prstGeom prst="rect">
            <a:avLst/>
          </a:prstGeom>
          <a:noFill/>
        </p:spPr>
        <p:txBody>
          <a:bodyPr wrap="square">
            <a:spAutoFit/>
          </a:bodyPr>
          <a:lstStyle/>
          <a:p>
            <a:pPr algn="l"/>
            <a:r>
              <a:rPr b="1" i="0" sz="3200">
                <a:solidFill>
                  <a:srgbClr val="FFFFFF"/>
                </a:solidFill>
              </a:rPr>
              <a:t>Rundy Refleksji — Karteczka Poniedziałkowa</a:t>
            </a:r>
          </a:p>
        </p:txBody>
      </p:sp>
      <p:sp>
        <p:nvSpPr>
          <p:cNvPr id="6" name="TextBox 5"/>
          <p:cNvSpPr txBox="1"/>
          <p:nvPr/>
        </p:nvSpPr>
        <p:spPr>
          <a:xfrm>
            <a:off x="8897112" y="128016"/>
            <a:ext cx="3108960" cy="310896"/>
          </a:xfrm>
          <a:prstGeom prst="rect">
            <a:avLst/>
          </a:prstGeom>
          <a:noFill/>
        </p:spPr>
        <p:txBody>
          <a:bodyPr wrap="square">
            <a:spAutoFit/>
          </a:bodyPr>
          <a:lstStyle/>
          <a:p>
            <a:pPr algn="r"/>
            <a:r>
              <a:rPr b="0" i="0" sz="900">
                <a:solidFill>
                  <a:srgbClr val="F5C518"/>
                </a:solidFill>
              </a:rPr>
              <a:t>Blok 5 — Synteza i Zakończenie — Aktywność zamykająca</a:t>
            </a:r>
          </a:p>
        </p:txBody>
      </p:sp>
      <p:sp>
        <p:nvSpPr>
          <p:cNvPr id="7" name="TextBox 6"/>
          <p:cNvSpPr txBox="1"/>
          <p:nvPr/>
        </p:nvSpPr>
        <p:spPr>
          <a:xfrm>
            <a:off x="201168" y="1691640"/>
            <a:ext cx="11786616" cy="2852928"/>
          </a:xfrm>
          <a:prstGeom prst="rect">
            <a:avLst/>
          </a:prstGeom>
          <a:noFill/>
        </p:spPr>
        <p:txBody>
          <a:bodyPr wrap="square">
            <a:spAutoFit/>
          </a:bodyPr>
          <a:lstStyle/>
          <a:p>
            <a:pPr algn="l"/>
            <a:r>
              <a:rPr b="0" sz="2200">
                <a:solidFill>
                  <a:srgbClr val="F0F4FF"/>
                </a:solidFill>
              </a:rPr>
              <a:t>• Co zastosuję jako pierwsze, zaczynając w najbliższy poniedziałek?</a:t>
            </a:r>
          </a:p>
          <a:p>
            <a:pPr algn="l"/>
            <a:r>
              <a:rPr b="0" sz="2200">
                <a:solidFill>
                  <a:srgbClr val="F0F4FF"/>
                </a:solidFill>
              </a:rPr>
              <a:t>• Otwórz Canva Whiteboard → strefa 'Poniedziałkowe zobowiązanie' → dodaj jedną karteczkę.</a:t>
            </a:r>
          </a:p>
          <a:p>
            <a:pPr algn="l"/>
            <a:r>
              <a:rPr b="0" sz="2200">
                <a:solidFill>
                  <a:srgbClr val="F0F4FF"/>
                </a:solidFill>
              </a:rPr>
              <a:t>• Dodaj jedną karteczkę: Co zastosujesz jako pierwsze, zaczynając w najbliższy poniedziałek?</a:t>
            </a:r>
          </a:p>
        </p:txBody>
      </p:sp>
      <p:sp>
        <p:nvSpPr>
          <p:cNvPr id="8" name="TextBox 7"/>
          <p:cNvSpPr txBox="1"/>
          <p:nvPr/>
        </p:nvSpPr>
        <p:spPr>
          <a:xfrm>
            <a:off x="201168" y="4639665"/>
            <a:ext cx="11786616" cy="1664208"/>
          </a:xfrm>
          <a:prstGeom prst="rect">
            <a:avLst/>
          </a:prstGeom>
          <a:noFill/>
        </p:spPr>
        <p:txBody>
          <a:bodyPr wrap="square">
            <a:spAutoFit/>
          </a:bodyPr>
          <a:lstStyle/>
          <a:p>
            <a:pPr algn="l"/>
            <a:r>
              <a:rPr b="0" i="1" sz="1500">
                <a:solidFill>
                  <a:srgbClr val="8892A4"/>
                </a:solidFill>
              </a:rPr>
              <a:t>Ostatnia aktywność dnia — i jedna z ważniejszych. Chcę, żebyście odpowiedzieli na jedno pytanie: co zastosujesz jako pierwsze w najbliższy poniedziałek? Nie "co zapamiętałem" — ale co zrobię. Konkretne działanie. Mała…</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F5C518"/>
                </a:solidFill>
              </a:rPr>
              <a:t>Cel: 16:57</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37160"/>
            <a:ext cx="914400" cy="365760"/>
          </a:xfrm>
          <a:prstGeom prst="rect">
            <a:avLst/>
          </a:prstGeom>
          <a:noFill/>
        </p:spPr>
        <p:txBody>
          <a:bodyPr wrap="square">
            <a:spAutoFit/>
          </a:bodyPr>
          <a:lstStyle/>
          <a:p>
            <a:pPr algn="l"/>
            <a:r>
              <a:rPr b="1" i="0" sz="1100">
                <a:solidFill>
                  <a:srgbClr val="8892A4"/>
                </a:solidFill>
              </a:rPr>
              <a:t>Slide 84</a:t>
            </a:r>
          </a:p>
        </p:txBody>
      </p:sp>
      <p:sp>
        <p:nvSpPr>
          <p:cNvPr id="5" name="TextBox 4"/>
          <p:cNvSpPr txBox="1"/>
          <p:nvPr/>
        </p:nvSpPr>
        <p:spPr>
          <a:xfrm>
            <a:off x="201168" y="320040"/>
            <a:ext cx="11786616" cy="1280160"/>
          </a:xfrm>
          <a:prstGeom prst="rect">
            <a:avLst/>
          </a:prstGeom>
          <a:noFill/>
        </p:spPr>
        <p:txBody>
          <a:bodyPr wrap="square">
            <a:spAutoFit/>
          </a:bodyPr>
          <a:lstStyle/>
          <a:p>
            <a:pPr algn="l"/>
            <a:r>
              <a:rPr b="1" i="0" sz="3200">
                <a:solidFill>
                  <a:srgbClr val="FFFFFF"/>
                </a:solidFill>
              </a:rPr>
              <a:t>Pytania i Odpowiedzi</a:t>
            </a:r>
          </a:p>
        </p:txBody>
      </p:sp>
      <p:sp>
        <p:nvSpPr>
          <p:cNvPr id="6" name="TextBox 5"/>
          <p:cNvSpPr txBox="1"/>
          <p:nvPr/>
        </p:nvSpPr>
        <p:spPr>
          <a:xfrm>
            <a:off x="8897112" y="128016"/>
            <a:ext cx="3108960" cy="310896"/>
          </a:xfrm>
          <a:prstGeom prst="rect">
            <a:avLst/>
          </a:prstGeom>
          <a:noFill/>
        </p:spPr>
        <p:txBody>
          <a:bodyPr wrap="square">
            <a:spAutoFit/>
          </a:bodyPr>
          <a:lstStyle/>
          <a:p>
            <a:pPr algn="r"/>
            <a:r>
              <a:rPr b="0" i="0" sz="900">
                <a:solidFill>
                  <a:srgbClr val="F5C518"/>
                </a:solidFill>
              </a:rPr>
              <a:t>Blok 5 — Synteza i Zakończenie</a:t>
            </a:r>
          </a:p>
        </p:txBody>
      </p:sp>
      <p:sp>
        <p:nvSpPr>
          <p:cNvPr id="7" name="TextBox 6"/>
          <p:cNvSpPr txBox="1"/>
          <p:nvPr/>
        </p:nvSpPr>
        <p:spPr>
          <a:xfrm>
            <a:off x="201168" y="1691640"/>
            <a:ext cx="11786616" cy="2852928"/>
          </a:xfrm>
          <a:prstGeom prst="rect">
            <a:avLst/>
          </a:prstGeom>
          <a:noFill/>
        </p:spPr>
        <p:txBody>
          <a:bodyPr wrap="square">
            <a:spAutoFit/>
          </a:bodyPr>
          <a:lstStyle/>
          <a:p>
            <a:pPr algn="l"/>
            <a:r>
              <a:rPr b="0" sz="2200">
                <a:solidFill>
                  <a:srgbClr val="F0F4FF"/>
                </a:solidFill>
              </a:rPr>
              <a:t>• Minimalistyczny slajd — duża ikona znaku zapytania (lub stylizowany dymek dialogowy Q&amp;A) w</a:t>
            </a:r>
          </a:p>
          <a:p>
            <a:pPr algn="l"/>
            <a:r>
              <a:rPr b="0" sz="2200">
                <a:solidFill>
                  <a:srgbClr val="F0F4FF"/>
                </a:solidFill>
              </a:rPr>
              <a:t>• Poniżej: "Pytania i odpowiedzi" w dużej czcionce.</a:t>
            </a:r>
          </a:p>
          <a:p>
            <a:pPr algn="l"/>
            <a:r>
              <a:rPr b="0" sz="2200">
                <a:solidFill>
                  <a:srgbClr val="F0F4FF"/>
                </a:solidFill>
              </a:rPr>
              <a:t>• Opcjonalnie w lewym dolnym rogu: dyskretna informacja "do 17:00".</a:t>
            </a:r>
          </a:p>
          <a:p>
            <a:pPr algn="l"/>
            <a:r>
              <a:rPr b="0" sz="2200">
                <a:solidFill>
                  <a:srgbClr val="F0F4FF"/>
                </a:solidFill>
              </a:rPr>
              <a:t>• Brak listy punktów — slajd jest tłem dla rozmowy, nie informacją do odczytania.</a:t>
            </a:r>
          </a:p>
        </p:txBody>
      </p:sp>
      <p:sp>
        <p:nvSpPr>
          <p:cNvPr id="8" name="TextBox 7"/>
          <p:cNvSpPr txBox="1"/>
          <p:nvPr/>
        </p:nvSpPr>
        <p:spPr>
          <a:xfrm>
            <a:off x="201168" y="4639665"/>
            <a:ext cx="11786616" cy="1664208"/>
          </a:xfrm>
          <a:prstGeom prst="rect">
            <a:avLst/>
          </a:prstGeom>
          <a:noFill/>
        </p:spPr>
        <p:txBody>
          <a:bodyPr wrap="square">
            <a:spAutoFit/>
          </a:bodyPr>
          <a:lstStyle/>
          <a:p>
            <a:pPr algn="l"/>
            <a:r>
              <a:rPr b="0" i="1" sz="1500">
                <a:solidFill>
                  <a:srgbClr val="8892A4"/>
                </a:solidFill>
              </a:rPr>
              <a:t>Mamy czas na pytania. Co was nurtuje? Co chcielibyście, żebym rozwinęła?</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F5C518"/>
                </a:solidFill>
              </a:rPr>
              <a:t>Cel: 17:00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37160"/>
            <a:ext cx="914400" cy="365760"/>
          </a:xfrm>
          <a:prstGeom prst="rect">
            <a:avLst/>
          </a:prstGeom>
          <a:noFill/>
        </p:spPr>
        <p:txBody>
          <a:bodyPr wrap="square">
            <a:spAutoFit/>
          </a:bodyPr>
          <a:lstStyle/>
          <a:p>
            <a:pPr algn="l"/>
            <a:r>
              <a:rPr b="1" i="0" sz="1100">
                <a:solidFill>
                  <a:srgbClr val="8892A4"/>
                </a:solidFill>
              </a:rPr>
              <a:t>Slide 85</a:t>
            </a:r>
          </a:p>
        </p:txBody>
      </p:sp>
      <p:sp>
        <p:nvSpPr>
          <p:cNvPr id="5" name="TextBox 4"/>
          <p:cNvSpPr txBox="1"/>
          <p:nvPr/>
        </p:nvSpPr>
        <p:spPr>
          <a:xfrm>
            <a:off x="201168" y="320040"/>
            <a:ext cx="11786616" cy="1280160"/>
          </a:xfrm>
          <a:prstGeom prst="rect">
            <a:avLst/>
          </a:prstGeom>
          <a:noFill/>
        </p:spPr>
        <p:txBody>
          <a:bodyPr wrap="square">
            <a:spAutoFit/>
          </a:bodyPr>
          <a:lstStyle/>
          <a:p>
            <a:pPr algn="l"/>
            <a:r>
              <a:rPr b="1" i="0" sz="3200">
                <a:solidFill>
                  <a:srgbClr val="FFFFFF"/>
                </a:solidFill>
              </a:rPr>
              <a:t>Dziękuję — Kontakt i Materiały</a:t>
            </a:r>
          </a:p>
        </p:txBody>
      </p:sp>
      <p:sp>
        <p:nvSpPr>
          <p:cNvPr id="6" name="TextBox 5"/>
          <p:cNvSpPr txBox="1"/>
          <p:nvPr/>
        </p:nvSpPr>
        <p:spPr>
          <a:xfrm>
            <a:off x="8897112" y="128016"/>
            <a:ext cx="3108960" cy="310896"/>
          </a:xfrm>
          <a:prstGeom prst="rect">
            <a:avLst/>
          </a:prstGeom>
          <a:noFill/>
        </p:spPr>
        <p:txBody>
          <a:bodyPr wrap="square">
            <a:spAutoFit/>
          </a:bodyPr>
          <a:lstStyle/>
          <a:p>
            <a:pPr algn="r"/>
            <a:r>
              <a:rPr b="0" i="0" sz="900">
                <a:solidFill>
                  <a:srgbClr val="F5C518"/>
                </a:solidFill>
              </a:rPr>
              <a:t>Blok 5 — Synteza i Zakończenie</a:t>
            </a:r>
          </a:p>
        </p:txBody>
      </p:sp>
      <p:sp>
        <p:nvSpPr>
          <p:cNvPr id="7" name="TextBox 6"/>
          <p:cNvSpPr txBox="1"/>
          <p:nvPr/>
        </p:nvSpPr>
        <p:spPr>
          <a:xfrm>
            <a:off x="201168" y="1691640"/>
            <a:ext cx="11786616" cy="2852928"/>
          </a:xfrm>
          <a:prstGeom prst="rect">
            <a:avLst/>
          </a:prstGeom>
          <a:noFill/>
        </p:spPr>
        <p:txBody>
          <a:bodyPr wrap="square">
            <a:spAutoFit/>
          </a:bodyPr>
          <a:lstStyle/>
          <a:p>
            <a:pPr algn="l"/>
            <a:r>
              <a:rPr b="0" sz="2200">
                <a:solidFill>
                  <a:srgbClr val="F0F4FF"/>
                </a:solidFill>
              </a:rPr>
              <a:t>• Dziękuję za dzień pełen pracy!</a:t>
            </a:r>
          </a:p>
          <a:p>
            <a:pPr algn="l"/>
            <a:r>
              <a:rPr b="0" sz="2200">
                <a:solidFill>
                  <a:srgbClr val="F0F4FF"/>
                </a:solidFill>
              </a:rPr>
              <a:t>• [placeholder: imię.nazwisko@uczelnia.pl]</a:t>
            </a:r>
          </a:p>
          <a:p>
            <a:pPr algn="l"/>
            <a:r>
              <a:rPr b="0" sz="2200">
                <a:solidFill>
                  <a:srgbClr val="F0F4FF"/>
                </a:solidFill>
              </a:rPr>
              <a:t>• [placeholder: link do materiałów kursu]</a:t>
            </a:r>
          </a:p>
        </p:txBody>
      </p:sp>
      <p:sp>
        <p:nvSpPr>
          <p:cNvPr id="8" name="TextBox 7"/>
          <p:cNvSpPr txBox="1"/>
          <p:nvPr/>
        </p:nvSpPr>
        <p:spPr>
          <a:xfrm>
            <a:off x="201168" y="4639665"/>
            <a:ext cx="11786616" cy="1664208"/>
          </a:xfrm>
          <a:prstGeom prst="rect">
            <a:avLst/>
          </a:prstGeom>
          <a:noFill/>
        </p:spPr>
        <p:txBody>
          <a:bodyPr wrap="square">
            <a:spAutoFit/>
          </a:bodyPr>
          <a:lstStyle/>
          <a:p>
            <a:pPr algn="l"/>
            <a:r>
              <a:rPr b="0" i="1" sz="1500">
                <a:solidFill>
                  <a:srgbClr val="8892A4"/>
                </a:solidFill>
              </a:rPr>
              <a:t>Dziękuję za dzień pełen pracy — waszej pracy. Przez osiem godzin przeszliście przez cztery frameworki, cztery warsztaty i tyle samo podejść do strategii marketingu cyfrowego. To nie jest wiedza, którą dostaliście gotową…</a:t>
            </a:r>
          </a:p>
        </p:txBody>
      </p:sp>
      <p:sp>
        <p:nvSpPr>
          <p:cNvPr id="9" name="TextBox 8"/>
          <p:cNvSpPr txBox="1"/>
          <p:nvPr/>
        </p:nvSpPr>
        <p:spPr>
          <a:xfrm>
            <a:off x="10268712" y="6510528"/>
            <a:ext cx="1737360" cy="292608"/>
          </a:xfrm>
          <a:prstGeom prst="rect">
            <a:avLst/>
          </a:prstGeom>
          <a:noFill/>
        </p:spPr>
        <p:txBody>
          <a:bodyPr wrap="square">
            <a:spAutoFit/>
          </a:bodyPr>
          <a:lstStyle/>
          <a:p>
            <a:pPr algn="r"/>
            <a:r>
              <a:rPr b="1" i="0" sz="1200">
                <a:solidFill>
                  <a:srgbClr val="F5C518"/>
                </a:solidFill>
              </a:rPr>
              <a:t>Cel: 17:00 (zamknięcie)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