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11:00 · Slajd 23 / 85
[MÓWIĘ]
Zasłużona przerwa — macie piętnaście minut. Wróćcie o jedenastej piętnastej.
[ROBIĘ]
Wyświetl slajd. Ustaw timer na 15 minut widoczny dla uczestników. W czasie przerwy przejrzyj wyniki Warsztatu 1 na Canva Whiteboard — wypisz 2–3 interesujące obserwacje, które możesz przytoczyć po przerwie.
[OBSERWUJĘ]
Obserwuj, czy grupy kończą porządkować swoje plansze SOSTAC przed wyjściem. Jeśli jakaś grupa jest daleko w tyle, zachęć do uzupełnienia podczas przerwy.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11:15 · Slajd 24 / 85
[MÓWIĘ]
Witajcie z powrotem. Przed przerwą zbudowaliście szkielet planu marketingowego dla waszej marki, korzystając z SOSTAC. Teraz poznamy narzędzie, które pozwala wam wypełnić kolumnę Taktyki w SOSTAC treścią — czyli RACE. RACE to framework egzekucji stworzony przez dr. Dave'a Chaffey'a. Stoi za pytaniem: jak dokładnie realizujemy plan marketingowy na całej ścieżce klienta — od pierwszego kontaktu do długoterminowej lojalności? Nazwa RACE to akronim od czterech etapów: Reach (Zasięg), Act (Aktywacja), Convert (Konwersja), Engage (Zaangażowanie).
[ROBIĘ]
Wyświetl slajd. Wskaż strzałkę SOSTAC → RACE. Przypomnij uczestnikom o slajdzie 13 — kolumnie Taktyki.
[OBSERWUJĘ]
Czy uczestnicy pamiętają kolumnę Taktyki ze slajdu 13? Jeśli nie — powtórz: 'Taktyki to kanały przypisane do etapów 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11:18 · Slajd 25 / 85
[MÓWIĘ]
Pierwsza i najważniejsza rzecz: RACE to nie lejek. Tradycyjny lejek jest liniowy i jednostronny — klient przechodzi przez świadomość, zainteresowanie, zakup i znika. RACE zakłada coś innego: etap Zaangażowanie nie kończy cyklu — on go zasila. Zaangażowani, lojalni klienci stają się ambasadorami marki, którzy organicznie rozszerzają etap Zasięg. Polecają, dzielą się treściami, piszą recenzje. To fundamentalna różnica: zamiast 'sprzedaj i zapomnij', RACE pyta 'jak zbudować relację, która sama generuje nowych klientów?' Zapamiętajcie kolory: Zasięg niebieski, Aktywacja zielona, Konwersja pomarańczowa, Zaangażowanie fioletowe — pojawią się przez resztę prezentacji i w Canva.
[ROBIĘ]
Odsłaniaj etapy kolejno — Zasięg, Aktywacja, Konwersja, Zaangażowanie. Ostatnim elementem odsłoń strzałkę powrotną. Zatrzymaj się 5 sekund bez mówienia.
[OBSERWUJĘ]
Czy uczestnicy reagują zaskoczeniem na strzałkę powrotną? Jeśli ktoś mówi 'to jak pętla lojalnościowa' — potwierdź: to temat slajdu 33 (Spotify Wrapped).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11:23 · Slajd 26 / 85
[MÓWIĘ]
Pierwszy etap RACE to Zasięg. Odpowiada na pytanie: jak budujemy widoczność i świadomość, zanim klient nas w ogóle rozważy? Kanały: SEO, kampanie płatne w wyszukiwarce i social, działania PR, influencer marketing, partnerstwa. KPI na poziomie Zasięgu mierzą, czy w ogóle jesteśmy widoczni: ruch organiczny, impresje, share of voice, wzrost obserwujących. Dwie statystyki: ruch organiczny z wyszukiwania generuje 53% całego mierzalnego ruchu na stronach — więcej niż reklamy płatne, social i direct łącznie. W Polsce YouTube ma 24,4 mln miesięcznych użytkowników, TikTok 13,8 mln z 53-minutową sesją dzienną.
[ROBIĘ]
Odsłoń najpierw kanały, potem KPI, na końcu pasek statystyk. Podkreśl kontrast: 53% organicznie vs reszta płatnie/społecznościowo.
[OBSERWUJĘ]
Czy ktoś pyta o 'share of voice'? Wyjaśnij: procent wzmianek o marce w ogóle wzmianek o kategorii. Obserwuj reakcje na zasięg TikTok w Polsce.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11:27 · Slajd 27 / 85
[MÓWIĘ]
Przyjrzyjmy się polskiemu rynkowi. YouTube ma największy surowy zasięg — 24,4 mln miesięcznie. Facebook — porównywalny, ale ze starszą demografią i niższym organicznym zasięgiem marek. TikTok — 13,8 mln, ale najwyższy czas sesji: 53 min dziennie. Użytkownicy TikToka są głębiej zanurzeni w treściach niż na jakiejkolwiek innej platformie. LinkedIn: DataReportal podaje 8,2 mln, Gemius ~5 mln — podaję obie liczby, bo różnica metodologiczna sama w sobie jest informacją. Kluczowe pytanie: której platformy demografia najlepiej odpowiada waszej personie? 'Największy zasięg' i 'najlepszy zasięg dla mojej marki' to dwie różne rzeczy.
[ROBIĘ]
Odsłoń tabelę kolumna po kolumnie. Zatrzymaj się przy TikToku i podkreśl 53 min. Następnie przy LinkedIn — obie liczby są wiarygodne, mierzą co innego.
[OBSERWUJĘ]
Reakcje na czas sesji TikTok? Obserwuj dociekliwość przy LinkedIn — zachęć do sprawdzenia źródeł.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11:31 · Slajd 28 / 85
[MÓWIĘ]
Drugi etap — Aktywacja. Pyta: co robi odwiedzający, zanim dokona zakupu? To etap między 'słyszałem o tej marce' a 'rozważam zakup' — dramatycznie zaniedbany przez większość firm, które skupiają się tylko na Zasięgu i Konwersji. Kanały: artykuły blogowe i treści edukacyjne, sekwencje emailowe, landing pages z konkretną obietnicą, lead magnety — darmowe e-booki, kalkulatory, narzędzia interaktywne. KPI mierzą głębokość interakcji, nie sam fakt wizyty. Statystyka niepokojąca: 93% marketerów potwierdza, że personalizacja poprawia konwersje. Ale tylko 13% stosuje zaawansowane techniki. Ogromna większość wie, co powinna robić, ale tego nie robi — przewaga konkurencyjna dla tych, którzy wdrożą.
[ROBIĘ]
Odsłoń kanały, potem KPI, na końcu statystykę 93%/13%. Zatrzymaj się i zapytaj: 'Co się dzieje z tym 80% różnicy?'
[OBSERWUJĘ]
Czy ktoś pyta o 'zaawansowaną personalizację'? Podaj przykład: nie 'Drogi Janie' ale rekomendacje na bazie historii + dynamiczna treść strony per 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11:35 · Slajd 29 / 85
[MÓWIĘ]
IKEA to największy sprzedawca mebli na świecie — 504 sklepy i 4,6 miliarda wizyt na stronie rocznie. Ogromny Zasięg. Problem: te miliardy wizyt nie przekładały się na zakupy online, bo klienci mieli fundamentalny problem na etapie Aktywacji — nie potrafili sobie wyobrazić mebli w swoim domu. To nie jest problem cenowy ani logistyczny — to problem wizualizacji i pewności decyzji. Odpowiedź: IKEA Place (2017) i IKEA Kreativ (2022) — AR pozwala skanować pokój telefonem i wirtualnie ustawiać meble przed zakupem. Nie obniżono cen. Nie zwiększono zasięgu. Usunięto tarcie na etapie interakcji, które blokowało decyzję. Udział e-commerce: ~7% (szacunek — IKEA nie publikuje precyzyjnych danych).
[ROBIĘ]
Odsłoń problem (lewa), potem rozwiązanie (prawa), na końcu insight. Podkreśl: rozwiązanie nie było promocją — było produktem.
[OBSERWUJĘ]
Czy uczestnicy używają aplikacji IKEA? Zachęć do podzielenia się doświadczeniem. Pytanie o dlaczego e-commerce tak małe mimo zasięgu — ilustracja bariery Aktywacji.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11:40 · Slajd 30 / 85
[MÓWIĘ]
Trzeci etap — Konwersja. Moment, w którym zainteresowanie zamienia się w transakcję. Większość firm tu skupia najwięcej uwagi — bo wyniki są tu najłatwiejsze do zmierzenia. Ale bez Zasięgu i Aktywacji nie ma kogo konwertować. Kanały: optymalizacja strony zakupowej, retargeting, bramki płatności, opcje dostawy, promocje. W Polsce trzy czynniki mają szczególne znaczenie. Mobile: 77% wizyt w e-commerce to urządzenia mobilne — jeśli sklep nie jest zoptymalizowany, tracicie większość konwersji. BLIK: 68% kupujących online, +5pp r/r — to oczekiwany standard, nie dodatek. Paczkomaty: 81% woli odbiór przez paczkomat, 84% deklaruje większą skłonność do zakupu jeśli dostępny. To nie są dodatki — to fundamenty doświadczenia.
[ROBIĘ]
Odsłoń kanały, KPI, pasek trzech polskich statystyk. Każdą podkreśl osobno.
[OBSERWUJĘ]
Ktoś z B2B czuje się wykluczony? Zasygnalizuj: RACE działa w B2B z dłuższym cyklem i wieloma decydentami.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11:44 · Slajd 31 / 85
[MÓWIĘ]
Zalando — 10,6 miliarda euro przychodów w 2024, 51 mln aktywnych użytkowników w 25 krajach — zbudowało pozycję na jednej decyzji: darmowe zwroty od pierwszego dnia, od 2008, zanim stało się to standardem. Skąd? Bo bariera konwersji w modzie online jest fundamentalna: klient nie może przymierzyć ubrania. Ryzyko złego rozmiaru blokuje decyzję. Zalando skalkulowało: wysoki wskaźnik zwrotów — 30–50% w europejskiej modzie — to nie koszt do minimalizowania, to koszt pozyskania klienta do zaakceptowania. Wolę płacić za zwrot niż tracić sprzedaż. To nie promocja 'darmowe zwroty przez miesiąc'. To decyzja architektury produktu. Zalando nie obniżyło cen. Usunęło ryzyko. Różnica między myśleniem taktycznym a myśleniem na poziomie etapu RACE.
[ROBIĘ]
Odsłoń ikonę zwrotu, potem trzy bloki, na końcu insight. Zatrzymaj się przy 'infrastruktura konwersji = inwestycja strategiczna' — powtórz głośno dwa razy.
[OBSERWUJĘ]
Ktoś pyta o rentowność modelu zwrotów? Odpowiedź: Zalando traktuje wskaźnik konwersji per użytkownik jako główny KPI, nie koszt zwrotu.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11:48 · Slajd 32 / 85
[MÓWIĘ]
Czwarty etap — Zaangażowanie. Odpowiada: co robimy, gdy klient już kupił? Jak budujemy relację, która sprawia, że kupuje ponownie, poleca znajomym, zostaje na długo? KPI: Customer Lifetime Value, NPS, wskaźnik powtórnych zakupów, churn rate. Kanały: email automatyczny, programy lojalnościowe, budowanie społeczności, systemy feedbacku. Email zasługuje na wyróżnienie: Litmus State of Email 2025 — ROI do 50 dolarów na każdego zainwestowanego dolara; 30% liderów marketingu raportuje zwrot 36–50 $/$1. Najwyższy ROI wśród wszystkich kanałów cyfrowych. I wróćmy do strzałki ze slajdu 25: Zaangażowanie zamyka pętlę RACE. Lojalni klienci organicznie rozszerzają Zasięg — polecają, dzielą się, recenzują. RACE jako cykl, nie lejek.
[ROBIĘ]
Odsłoń kanały, KPI, pasek ROI + strzałka E → R. Przy strzałce odwołaj się do slajdu 25.
[OBSERWUJĘ]
Reakcje na ROI emaila ($36–$50/$1)? Podkreśl: niedoceniany zasób. Ktoś komentuje CLV? Zachęć do rozwinięcia.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11:52 · Slajd 33 / 85
[MÓWIĘ]
Spotify Wrapped — etap Zaangażowanie w absolutnie najczystszej formie. I najelegantszy przykład, jak Zaangażowanie przekształca się w nowy Zasięg. Spotify działa na rynku, gdzie wszystkie platformy oferują ten sam katalog. Apple Music, Tidal, YouTube Music — ta sama muzyka, podobne ceny. Jak Spotify buduje lojalność? Przez dane. Każdy użytkownik generuje przez rok ogromną ilość danych o preferencjach. Spotify przekształca je w spersonalizowaną narrację: 'Twoje top 5 artystów, twój najdłuższy dzień słuchania.' To nie statystyka — to lustro tożsamości. I użytkownicy to dzielą. Grudzień 2019: ponad 1,2 mln postów na samym Twitterze — organicznie, bez płatnej dystrybucji. Żaden budżet nie kupiłby takiego zasięgu. Wrapped nie jest kampanią wizerunkową — jest architekturą pętli wzrostu.
[ROBIĘ]
Odsłoń grafikę Wrapped, bloki po prawej, strzałkę Engage → Reach. Odwołaj się do slajdów 25 i 32 — zamknij pętlę wizualnie.
[OBSERWUJĘ]
Kto udostępniał Wrapped? Ręce w górę = żywy dowód mechanizmu.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11:56 · Slajd 34 / 85
[MÓWIĘ]
Najważniejszy slajd łączący oba frameworki. SOSTAC to framework planowania — 'jak zbudować plan?'. RACE to mapa egzekucji — 'jak realizować plan na ścieżce klienta?'. Nie można robić SOSTAC porządnie bez RACE — bo kolumna Taktyki staje się losową listą kanałów. I nie można robić RACE bez SOSTAC — bo etapy stają się aktywnościami bez kierunku. Tabela pokazuje jak każdy z sześciu etapów SOSTAC wprost przekłada się na RACE: Sytuacja = audyt wydajności na wszystkich 4 etapach RACE. Cele = co najmniej 1 KPI na etap. Strategia = które etapy priorytetyzujemy. Taktyki = kanały przypisane do etapów. Działania = budżety i właściciele per etap. Kontrola = dashboard per etap. Pełna integracja — dokładnie to, co budujecie w Ćwiczeniu 2 za kilka minut.
[ROBIĘ]
Odsłoń tabelę wierszami — po jednym etapie SOSTAC naraz. Podkreśl wiersz 'Taktyki → etapy RACE' — bezpośredni powrót do slajdu 13.
[OBSERWUJĘ]
Test: 'W której kolumnie SOSTAC pojawia się RACE po raz pierwszy?' Prawidłowa: Sytuacja i Cele. Ktoś robi notatki? Materiał trafia.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12:00 · Slajd 35 / 85
[MÓWIĘ]
Ten slajd to szablon do zabrania — po to tu jest. Podsumowuje dla każdego z czterech etapów RACE przykładowe KPI i narzędzia pomiaru. To nie jest wyczerpująca lista — to punkt wyjścia. Każda organizacja będzie miała swój zestaw KPI zależny od celów i modelu biznesowego. Ale każdy dashboard, który nie zawiera co najmniej jednego KPI per etap RACE, jest z definicji niekompletny. Zasięg bez Aktywacji? Mierzysz widoczność, ale nie wiesz, czy ktoś reaguje. Konwersja bez Zaangażowania? Mierzysz transakcje, ale nie wiesz, czy klient wraca. Idealne minimum: 1 KPI na etap, mierzony regularnie, raportowany razem.
[ROBIĘ]
Wyświetl tabelę w całości. Powiedz wyraźnie: 'Ten slajd będzie dostępny — zróbcie zdjęcie.' Przejdź przez kolumny wskaźnikiem.
[OBSERWUJĘ]
Uczestnicy robią zdjęcia? Dobry znak. Ktoś pyta o narzędzia dla małej firmy bez CRM — odpowiedź: GA4 + Google Sheets wystarczą na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12:03 · Slajd 36 / 85
[MÓWIĘ]
Mamy za sobą cały framework RACE. Teraz czas, żeby go zastosować do marki, którą wybraliście w Ćwiczeniu 1. Przez czterdzieści minut zmapujecie ścieżkę klienta przez wszystkie cztery etapy RACE — z kanałami, emocjami klienta i punktami tarcia. Ważne: kontynuujecie pracę z tą samą marką. To element ciągłości — na koniec każda grupa będzie miała prawie kompletny plan marketingowy.
[ROBIĘ]
Wyświetl slajd. Daj grupom 20 sekund ciszy na przygotowanie — otwarcie Canva. Następnie przejdź do slajdu 37.
[OBSERWUJĘ]
Czy grupy pamiętają swoją wybraną markę? Jeśli skład się zmienił od Warsztatu 1, upewnij się, że nowi znają markę.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12:05 · Slajd 37 / 85
[SETUP] Potwierdź aktywne swim lanes na tablicy Canva z etykietami Zasięg/Aktywacja/Konwersja/Zaangażowanie w kolorach RACE. Każda grupa ma własną strefę. QR kod czytelny z tyłu. Przykład Żappka na slajdzie 38, nie na tablicy grup. Timer 40 min.
[MÓWIĘ]
Instrukcja do Warsztatu drugiego. Wasze zadanie: zmapujcie ścieżkę klienta dla waszej marki przez cztery etapy RACE. Dla każdego etapu: kanały (przez które klient się styka z marką), emocje klienta (co czuje, czego pragnie, czego się boi) i punkty tarcia (co może go zatrzymać). Jeśli zostanie czas — dodajcie 1 KPI per etap. 40 minut, do 12:30. Pracujcie w swoich grupowych strefach — wejdźcie przez QR kod. Tablica ma poziome swim lanes w kolorach RACE. Kontynuujecie pracę z tą samą marką z Ćwiczenia 1.
[ROBIĘ]
Wyświetl slajd. QR kod, potem timer. Chodź między grupami z promptami: Zasięg: 'Jak persona pierwszy raz usłyszała o tej marce?'; Aktywacja: 'Co robiła między odkryciem a zakupem?'; Konwersja: 'Co ją przekonało, co mogło ją zatrzymać?'; Zaangażowanie: 'Co zrobiła firma po zakupie?'
[OBSERWUJĘ]
Grupy wypełniają wszystkie 3 pod-strefy w każdym swim lane? Częsty błąd: skupiają się tylko na kanałach. Interwencja: 'Co czuje klient w momencie Zasięgu?' Zwróć uwagę na Zaangażowanie — najczęściej pomijany etap.
[DEBRIEF]
Który etap RACE jest najsłabszy w waszej marce? Jakie macie dowody? Gdzie największe tarcie — cyfrowe czy fizyczne? Jeśli tylko 1 etap do inwestycji, który dałby najwyższy ROI?
[EXTENSION]
B2B: jak zmieniłaby się mapa, gdyby klientem był zespół zakupowy (procurement + CFO + end-user) zamiast 1 osoby?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[CZAS] 12:10 · Slajd 38 / 85
[SETUP] Potwierdź, że timer 40 min jest uruchomiony. Przykład Żappki tylko na slajdzie, nie nadpisuje stref grup.
[MÓWIĘ]
Przykład dla Żappki i persony Ani — 32-latki z Warszawy. Każdy swim lane ma trzy warstwy: kanały (skąd klient wie/gdzie działa), emocje (co czuje) i punkty tarcia (co może zatrzymać). Uwaga: jedna karteczka per pod-strefa — wasz cel to 3–5 per pod-strefa. Jedna to orientacja, nie granica. Startujcie — 40 minut.
[ROBIĘ]
Wyświetl. Wskaż po jednej karteczce w każdym swim lane, czytaj + komentuj format. Podkreśl trzy warstwy. Sygnał do startu.
[OBSERWUJĘ]
Grupy zaczynają od persony? Jeśli nie, zatrzymaj: 'Kogo mapujecie? 2 zdania.' Monitoruj równomierność — Engage często pomijany.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3"/>
        </a:solidFill>
      </p:bgPr>
    </p:bg>
    <p:spTree>
      <p:nvGrpSpPr>
        <p:cNvPr id="1" name=""/>
        <p:cNvGrpSpPr/>
        <p:nvPr/>
      </p:nvGrpSpPr>
      <p:grpSpPr>
        <a:xfrm>
          <a:off x="0" y="0"/>
          <a:ext cx="0" cy="0"/>
          <a:chOff x="0" y="0"/>
          <a:chExt cx="0" cy="0"/>
        </a:xfrm>
      </p:grpSpPr>
      <p:sp>
        <p:nvSpPr>
          <p:cNvPr id="2" name="Text 0"/>
          <p:cNvSpPr/>
          <p:nvPr/>
        </p:nvSpPr>
        <p:spPr>
          <a:xfrm>
            <a:off x="731520" y="2560320"/>
            <a:ext cx="10698480" cy="1280160"/>
          </a:xfrm>
          <a:prstGeom prst="rect">
            <a:avLst/>
          </a:prstGeom>
          <a:noFill/>
          <a:ln/>
        </p:spPr>
        <p:txBody>
          <a:bodyPr wrap="square" rtlCol="0" anchor="ctr"/>
          <a:lstStyle/>
          <a:p>
            <a:pPr algn="ctr" indent="0" marL="0">
              <a:buNone/>
            </a:pPr>
            <a:r>
              <a:rPr lang="en-US" sz="6000" b="1" dirty="0">
                <a:solidFill>
                  <a:srgbClr val="FFFFFF"/>
                </a:solidFill>
                <a:latin typeface="Calibri" pitchFamily="34" charset="0"/>
                <a:ea typeface="Calibri" pitchFamily="34" charset="-122"/>
                <a:cs typeface="Calibri" pitchFamily="34" charset="-120"/>
              </a:rPr>
              <a:t>Przerwa 15 minut</a:t>
            </a:r>
            <a:endParaRPr lang="en-US" sz="6000" dirty="0"/>
          </a:p>
        </p:txBody>
      </p:sp>
      <p:sp>
        <p:nvSpPr>
          <p:cNvPr id="3" name="Text 1"/>
          <p:cNvSpPr/>
          <p:nvPr/>
        </p:nvSpPr>
        <p:spPr>
          <a:xfrm>
            <a:off x="731520" y="3931920"/>
            <a:ext cx="10698480" cy="731520"/>
          </a:xfrm>
          <a:prstGeom prst="rect">
            <a:avLst/>
          </a:prstGeom>
          <a:noFill/>
          <a:ln/>
        </p:spPr>
        <p:txBody>
          <a:bodyPr wrap="square" rtlCol="0" anchor="ctr"/>
          <a:lstStyle/>
          <a:p>
            <a:pPr algn="ctr" indent="0" marL="0">
              <a:buNone/>
            </a:pPr>
            <a:r>
              <a:rPr lang="en-US" sz="2400" dirty="0">
                <a:solidFill>
                  <a:srgbClr val="E8A838"/>
                </a:solidFill>
                <a:latin typeface="Calibri" pitchFamily="34" charset="0"/>
                <a:ea typeface="Calibri" pitchFamily="34" charset="-122"/>
                <a:cs typeface="Calibri" pitchFamily="34" charset="-120"/>
              </a:rPr>
              <a:t>Do zobaczenia o 11:15</a:t>
            </a:r>
            <a:endParaRPr lang="en-US" sz="2400" dirty="0"/>
          </a:p>
        </p:txBody>
      </p:sp>
      <p:sp>
        <p:nvSpPr>
          <p:cNvPr id="4" name="Text 2"/>
          <p:cNvSpPr/>
          <p:nvPr/>
        </p:nvSpPr>
        <p:spPr>
          <a:xfrm>
            <a:off x="731520" y="5852160"/>
            <a:ext cx="10698480" cy="365760"/>
          </a:xfrm>
          <a:prstGeom prst="rect">
            <a:avLst/>
          </a:prstGeom>
          <a:noFill/>
          <a:ln/>
        </p:spPr>
        <p:txBody>
          <a:bodyPr wrap="square" rtlCol="0" anchor="ctr"/>
          <a:lstStyle/>
          <a:p>
            <a:pPr algn="ctr" indent="0" marL="0">
              <a:buNone/>
            </a:pPr>
            <a:r>
              <a:rPr lang="en-US" sz="1400" i="1" dirty="0">
                <a:solidFill>
                  <a:srgbClr val="94A3B8"/>
                </a:solidFill>
                <a:latin typeface="Calibri" pitchFamily="34" charset="0"/>
                <a:ea typeface="Calibri" pitchFamily="34" charset="-122"/>
                <a:cs typeface="Calibri" pitchFamily="34" charset="-120"/>
              </a:rPr>
              <a:t>Wróćcie z marką wybraną w Ćwiczeniu 1 — będzie potrzebna od razu po przerwie.</a:t>
            </a:r>
            <a:endParaRPr lang="en-US" sz="1400" dirty="0"/>
          </a:p>
        </p:txBody>
      </p:sp>
      <p:sp>
        <p:nvSpPr>
          <p:cNvPr id="5" name="Text 3"/>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 / 16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LECTURE BLOCK 2 · RACE</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Witajcie z powrotem — od planowania do egzekucji</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SOSTAC mówi JAK planować. RACE mówi JAK egzekwować plan na ścieżce klienta.</a:t>
            </a:r>
            <a:endParaRPr lang="en-US" sz="1500" dirty="0"/>
          </a:p>
        </p:txBody>
      </p:sp>
      <p:sp>
        <p:nvSpPr>
          <p:cNvPr id="5" name="Shape 3"/>
          <p:cNvSpPr/>
          <p:nvPr/>
        </p:nvSpPr>
        <p:spPr>
          <a:xfrm>
            <a:off x="548640" y="2011680"/>
            <a:ext cx="4937760" cy="2926080"/>
          </a:xfrm>
          <a:prstGeom prst="rect">
            <a:avLst/>
          </a:prstGeom>
          <a:solidFill>
            <a:srgbClr val="F5F7FA"/>
          </a:solidFill>
          <a:ln/>
        </p:spPr>
      </p:sp>
      <p:sp>
        <p:nvSpPr>
          <p:cNvPr id="6" name="Shape 4"/>
          <p:cNvSpPr/>
          <p:nvPr/>
        </p:nvSpPr>
        <p:spPr>
          <a:xfrm>
            <a:off x="548640" y="2011680"/>
            <a:ext cx="4937760" cy="548640"/>
          </a:xfrm>
          <a:prstGeom prst="rect">
            <a:avLst/>
          </a:prstGeom>
          <a:solidFill>
            <a:srgbClr val="2D7A4F"/>
          </a:solidFill>
          <a:ln/>
        </p:spPr>
      </p:sp>
      <p:sp>
        <p:nvSpPr>
          <p:cNvPr id="7" name="Text 5"/>
          <p:cNvSpPr/>
          <p:nvPr/>
        </p:nvSpPr>
        <p:spPr>
          <a:xfrm>
            <a:off x="685800" y="2011680"/>
            <a:ext cx="466344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SOSTAC</a:t>
            </a:r>
            <a:endParaRPr lang="en-US" sz="2200" dirty="0"/>
          </a:p>
        </p:txBody>
      </p:sp>
      <p:sp>
        <p:nvSpPr>
          <p:cNvPr id="8" name="Text 6"/>
          <p:cNvSpPr/>
          <p:nvPr/>
        </p:nvSpPr>
        <p:spPr>
          <a:xfrm>
            <a:off x="685800" y="2697480"/>
            <a:ext cx="4663440" cy="36576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Jak planujemy?</a:t>
            </a:r>
            <a:endParaRPr lang="en-US" sz="1600" dirty="0"/>
          </a:p>
        </p:txBody>
      </p:sp>
      <p:sp>
        <p:nvSpPr>
          <p:cNvPr id="9" name="Text 7"/>
          <p:cNvSpPr/>
          <p:nvPr/>
        </p:nvSpPr>
        <p:spPr>
          <a:xfrm>
            <a:off x="685800" y="3108960"/>
            <a:ext cx="4663440" cy="45720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Sytuacja → Cele → Strategia → Taktyki → Działania → Kontrola</a:t>
            </a:r>
            <a:endParaRPr lang="en-US" sz="1300" dirty="0"/>
          </a:p>
        </p:txBody>
      </p:sp>
      <p:sp>
        <p:nvSpPr>
          <p:cNvPr id="10" name="Text 8"/>
          <p:cNvSpPr/>
          <p:nvPr/>
        </p:nvSpPr>
        <p:spPr>
          <a:xfrm>
            <a:off x="685800" y="3657600"/>
            <a:ext cx="4663440" cy="109728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Rano: zbudowaliście swój szkielet planu — diagnoza, cele, strategia, dashboard.</a:t>
            </a:r>
            <a:endParaRPr lang="en-US" sz="1400" dirty="0"/>
          </a:p>
        </p:txBody>
      </p:sp>
      <p:sp>
        <p:nvSpPr>
          <p:cNvPr id="11" name="Shape 9"/>
          <p:cNvSpPr/>
          <p:nvPr/>
        </p:nvSpPr>
        <p:spPr>
          <a:xfrm rot="5400000">
            <a:off x="5623560" y="3154680"/>
            <a:ext cx="640080" cy="640080"/>
          </a:xfrm>
          <a:prstGeom prst="rtTriangle">
            <a:avLst/>
          </a:prstGeom>
          <a:solidFill>
            <a:srgbClr val="E8A838"/>
          </a:solidFill>
          <a:ln/>
        </p:spPr>
      </p:sp>
      <p:sp>
        <p:nvSpPr>
          <p:cNvPr id="12" name="Text 10"/>
          <p:cNvSpPr/>
          <p:nvPr/>
        </p:nvSpPr>
        <p:spPr>
          <a:xfrm>
            <a:off x="5532120" y="3108960"/>
            <a:ext cx="822960" cy="731520"/>
          </a:xfrm>
          <a:prstGeom prst="rect">
            <a:avLst/>
          </a:prstGeom>
          <a:noFill/>
          <a:ln/>
        </p:spPr>
        <p:txBody>
          <a:bodyPr wrap="square" lIns="0" tIns="0" rIns="0" bIns="0" rtlCol="0" anchor="ctr"/>
          <a:lstStyle/>
          <a:p>
            <a:pPr algn="ctr" indent="0" marL="0">
              <a:buNone/>
            </a:pPr>
            <a:r>
              <a:rPr lang="en-US" sz="4800" b="1" dirty="0">
                <a:solidFill>
                  <a:srgbClr val="E8A838"/>
                </a:solidFill>
                <a:latin typeface="Calibri" pitchFamily="34" charset="0"/>
                <a:ea typeface="Calibri" pitchFamily="34" charset="-122"/>
                <a:cs typeface="Calibri" pitchFamily="34" charset="-120"/>
              </a:rPr>
              <a:t>→</a:t>
            </a:r>
            <a:endParaRPr lang="en-US" sz="4800" dirty="0"/>
          </a:p>
        </p:txBody>
      </p:sp>
      <p:sp>
        <p:nvSpPr>
          <p:cNvPr id="13" name="Shape 11"/>
          <p:cNvSpPr/>
          <p:nvPr/>
        </p:nvSpPr>
        <p:spPr>
          <a:xfrm>
            <a:off x="6675120" y="2011680"/>
            <a:ext cx="4937760" cy="2926080"/>
          </a:xfrm>
          <a:prstGeom prst="rect">
            <a:avLst/>
          </a:prstGeom>
          <a:solidFill>
            <a:srgbClr val="F5F7FA"/>
          </a:solidFill>
          <a:ln/>
        </p:spPr>
      </p:sp>
      <p:sp>
        <p:nvSpPr>
          <p:cNvPr id="14" name="Shape 12"/>
          <p:cNvSpPr/>
          <p:nvPr/>
        </p:nvSpPr>
        <p:spPr>
          <a:xfrm>
            <a:off x="6675120" y="2011680"/>
            <a:ext cx="4937760" cy="548640"/>
          </a:xfrm>
          <a:prstGeom prst="rect">
            <a:avLst/>
          </a:prstGeom>
          <a:solidFill>
            <a:srgbClr val="3A3A3A"/>
          </a:solidFill>
          <a:ln/>
        </p:spPr>
      </p:sp>
      <p:sp>
        <p:nvSpPr>
          <p:cNvPr id="15" name="Text 13"/>
          <p:cNvSpPr/>
          <p:nvPr/>
        </p:nvSpPr>
        <p:spPr>
          <a:xfrm>
            <a:off x="6812280" y="2011680"/>
            <a:ext cx="475488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RACE</a:t>
            </a:r>
            <a:endParaRPr lang="en-US" sz="2200" dirty="0"/>
          </a:p>
        </p:txBody>
      </p:sp>
      <p:sp>
        <p:nvSpPr>
          <p:cNvPr id="16" name="Text 14"/>
          <p:cNvSpPr/>
          <p:nvPr/>
        </p:nvSpPr>
        <p:spPr>
          <a:xfrm>
            <a:off x="6812280" y="2697480"/>
            <a:ext cx="4754880" cy="36576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Jak egzekwujemy plan na ścieżce klienta?</a:t>
            </a:r>
            <a:endParaRPr lang="en-US" sz="1600" dirty="0"/>
          </a:p>
        </p:txBody>
      </p:sp>
      <p:sp>
        <p:nvSpPr>
          <p:cNvPr id="17" name="Text 15"/>
          <p:cNvSpPr/>
          <p:nvPr/>
        </p:nvSpPr>
        <p:spPr>
          <a:xfrm>
            <a:off x="6812280" y="3108960"/>
            <a:ext cx="4754880" cy="457200"/>
          </a:xfrm>
          <a:prstGeom prst="rect">
            <a:avLst/>
          </a:prstGeom>
          <a:noFill/>
          <a:ln/>
        </p:spPr>
        <p:txBody>
          <a:bodyPr wrap="square" lIns="0" tIns="0" rIns="0" bIns="0" rtlCol="0" anchor="ctr"/>
          <a:lstStyle/>
          <a:p>
            <a:pPr indent="0" marL="0">
              <a:buNone/>
            </a:pPr>
            <a:r>
              <a:rPr lang="en-US" sz="1300" dirty="0">
                <a:solidFill>
                  <a:srgbClr val="475569"/>
                </a:solidFill>
                <a:latin typeface="Calibri" pitchFamily="34" charset="0"/>
                <a:ea typeface="Calibri" pitchFamily="34" charset="-122"/>
                <a:cs typeface="Calibri" pitchFamily="34" charset="-120"/>
              </a:rPr>
              <a:t>Zasięg → Aktywacja → Konwersja → Zaangażowanie</a:t>
            </a:r>
            <a:endParaRPr lang="en-US" sz="1300" dirty="0"/>
          </a:p>
        </p:txBody>
      </p:sp>
      <p:sp>
        <p:nvSpPr>
          <p:cNvPr id="18" name="Text 16"/>
          <p:cNvSpPr/>
          <p:nvPr/>
        </p:nvSpPr>
        <p:spPr>
          <a:xfrm>
            <a:off x="6812280" y="3657600"/>
            <a:ext cx="4754880" cy="1097280"/>
          </a:xfrm>
          <a:prstGeom prst="rect">
            <a:avLst/>
          </a:prstGeom>
          <a:noFill/>
          <a:ln/>
        </p:spPr>
        <p:txBody>
          <a:bodyPr wrap="square" lIns="0" tIns="0" rIns="0" bIns="0" rtlCol="0" anchor="t"/>
          <a:lstStyle/>
          <a:p>
            <a:pPr indent="0" marL="0">
              <a:buNone/>
            </a:pPr>
            <a:r>
              <a:rPr lang="en-US" sz="1400" dirty="0">
                <a:solidFill>
                  <a:srgbClr val="1E293B"/>
                </a:solidFill>
                <a:latin typeface="Calibri" pitchFamily="34" charset="0"/>
                <a:ea typeface="Calibri" pitchFamily="34" charset="-122"/>
                <a:cs typeface="Calibri" pitchFamily="34" charset="-120"/>
              </a:rPr>
              <a:t>Za chwilę: kanały, KPI, polskie dane i przykłady firm, które stosują RACE w praktyce.</a:t>
            </a:r>
            <a:endParaRPr lang="en-US" sz="1400" dirty="0"/>
          </a:p>
        </p:txBody>
      </p:sp>
      <p:sp>
        <p:nvSpPr>
          <p:cNvPr id="19" name="Text 17"/>
          <p:cNvSpPr/>
          <p:nvPr/>
        </p:nvSpPr>
        <p:spPr>
          <a:xfrm>
            <a:off x="548640" y="5852160"/>
            <a:ext cx="11064240" cy="365760"/>
          </a:xfrm>
          <a:prstGeom prst="rect">
            <a:avLst/>
          </a:prstGeom>
          <a:noFill/>
          <a:ln/>
        </p:spPr>
        <p:txBody>
          <a:bodyPr wrap="square" rtlCol="0" anchor="ctr"/>
          <a:lstStyle/>
          <a:p>
            <a:pPr algn="ctr" indent="0" marL="0">
              <a:buNone/>
            </a:pPr>
            <a:r>
              <a:rPr lang="en-US" sz="1400" i="1" dirty="0">
                <a:solidFill>
                  <a:srgbClr val="475569"/>
                </a:solidFill>
                <a:latin typeface="Calibri" pitchFamily="34" charset="0"/>
                <a:ea typeface="Calibri" pitchFamily="34" charset="-122"/>
                <a:cs typeface="Calibri" pitchFamily="34" charset="-120"/>
              </a:rPr>
              <a:t>Pamiętacie kolumnę Taktyki z SOSTAC (slajd 13)? Tu właśnie RACE wchodzi do gry.</a:t>
            </a:r>
            <a:endParaRPr lang="en-US" sz="1400" dirty="0"/>
          </a:p>
        </p:txBody>
      </p:sp>
      <p:sp>
        <p:nvSpPr>
          <p:cNvPr id="20" name="Text 18"/>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21" name="Text 19"/>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2 / 16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indent="0" marL="0">
              <a:buNone/>
            </a:pPr>
            <a:r>
              <a:rPr lang="en-US" sz="1100" b="1" spc="300" kern="0" dirty="0">
                <a:solidFill>
                  <a:srgbClr val="1A7A8A"/>
                </a:solidFill>
                <a:latin typeface="Calibri" pitchFamily="34" charset="0"/>
                <a:ea typeface="Calibri" pitchFamily="34" charset="-122"/>
                <a:cs typeface="Calibri" pitchFamily="34" charset="-120"/>
              </a:rPr>
              <a:t>LECTURE BLOCK 2 · RACE</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ctr"/>
          <a:lstStyle/>
          <a:p>
            <a:pPr indent="0" marL="0">
              <a:buNone/>
            </a:pPr>
            <a:r>
              <a:rPr lang="en-US" sz="3000" b="1" dirty="0">
                <a:solidFill>
                  <a:srgbClr val="1E293B"/>
                </a:solidFill>
                <a:latin typeface="Calibri" pitchFamily="34" charset="0"/>
                <a:ea typeface="Calibri" pitchFamily="34" charset="-122"/>
                <a:cs typeface="Calibri" pitchFamily="34" charset="-120"/>
              </a:rPr>
              <a:t>RACE — to cykl, nie lejek</a:t>
            </a:r>
            <a:endParaRPr lang="en-US" sz="3000" dirty="0"/>
          </a:p>
        </p:txBody>
      </p:sp>
      <p:sp>
        <p:nvSpPr>
          <p:cNvPr id="4" name="Shape 2"/>
          <p:cNvSpPr/>
          <p:nvPr/>
        </p:nvSpPr>
        <p:spPr>
          <a:xfrm>
            <a:off x="3606727" y="2006527"/>
            <a:ext cx="2103120" cy="1005840"/>
          </a:xfrm>
          <a:prstGeom prst="roundRect">
            <a:avLst>
              <a:gd name="adj" fmla="val 9091"/>
            </a:avLst>
          </a:prstGeom>
          <a:solidFill>
            <a:srgbClr val="2E5D9F"/>
          </a:solidFill>
          <a:ln/>
        </p:spPr>
      </p:sp>
      <p:sp>
        <p:nvSpPr>
          <p:cNvPr id="5" name="Text 3"/>
          <p:cNvSpPr/>
          <p:nvPr/>
        </p:nvSpPr>
        <p:spPr>
          <a:xfrm>
            <a:off x="3606727" y="2006527"/>
            <a:ext cx="21031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Zasięg</a:t>
            </a:r>
            <a:endParaRPr lang="en-US" sz="1800" dirty="0"/>
          </a:p>
          <a:p>
            <a:pPr algn="ctr" indent="0" marL="0">
              <a:buNone/>
            </a:pPr>
            <a:r>
              <a:rPr lang="en-US" sz="1200" i="1" dirty="0">
                <a:solidFill>
                  <a:srgbClr val="FFFFFF"/>
                </a:solidFill>
                <a:latin typeface="Calibri" pitchFamily="34" charset="0"/>
                <a:ea typeface="Calibri" pitchFamily="34" charset="-122"/>
                <a:cs typeface="Calibri" pitchFamily="34" charset="-120"/>
              </a:rPr>
              <a:t>Reach</a:t>
            </a:r>
            <a:endParaRPr lang="en-US" sz="1800" dirty="0"/>
          </a:p>
        </p:txBody>
      </p:sp>
      <p:sp>
        <p:nvSpPr>
          <p:cNvPr id="6" name="Shape 4"/>
          <p:cNvSpPr/>
          <p:nvPr/>
        </p:nvSpPr>
        <p:spPr>
          <a:xfrm>
            <a:off x="6451673" y="2006527"/>
            <a:ext cx="2103120" cy="1005840"/>
          </a:xfrm>
          <a:prstGeom prst="roundRect">
            <a:avLst>
              <a:gd name="adj" fmla="val 9091"/>
            </a:avLst>
          </a:prstGeom>
          <a:solidFill>
            <a:srgbClr val="2D7A4F"/>
          </a:solidFill>
          <a:ln/>
        </p:spPr>
      </p:sp>
      <p:sp>
        <p:nvSpPr>
          <p:cNvPr id="7" name="Text 5"/>
          <p:cNvSpPr/>
          <p:nvPr/>
        </p:nvSpPr>
        <p:spPr>
          <a:xfrm>
            <a:off x="6451673" y="2006527"/>
            <a:ext cx="21031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Aktywacja</a:t>
            </a:r>
            <a:endParaRPr lang="en-US" sz="1800" dirty="0"/>
          </a:p>
          <a:p>
            <a:pPr algn="ctr" indent="0" marL="0">
              <a:buNone/>
            </a:pPr>
            <a:r>
              <a:rPr lang="en-US" sz="1200" i="1" dirty="0">
                <a:solidFill>
                  <a:srgbClr val="FFFFFF"/>
                </a:solidFill>
                <a:latin typeface="Calibri" pitchFamily="34" charset="0"/>
                <a:ea typeface="Calibri" pitchFamily="34" charset="-122"/>
                <a:cs typeface="Calibri" pitchFamily="34" charset="-120"/>
              </a:rPr>
              <a:t>Act</a:t>
            </a:r>
            <a:endParaRPr lang="en-US" sz="1800" dirty="0"/>
          </a:p>
        </p:txBody>
      </p:sp>
      <p:sp>
        <p:nvSpPr>
          <p:cNvPr id="8" name="Shape 6"/>
          <p:cNvSpPr/>
          <p:nvPr/>
        </p:nvSpPr>
        <p:spPr>
          <a:xfrm>
            <a:off x="6451673" y="4851473"/>
            <a:ext cx="2103120" cy="1005840"/>
          </a:xfrm>
          <a:prstGeom prst="roundRect">
            <a:avLst>
              <a:gd name="adj" fmla="val 9091"/>
            </a:avLst>
          </a:prstGeom>
          <a:solidFill>
            <a:srgbClr val="D97E2B"/>
          </a:solidFill>
          <a:ln/>
        </p:spPr>
      </p:sp>
      <p:sp>
        <p:nvSpPr>
          <p:cNvPr id="9" name="Text 7"/>
          <p:cNvSpPr/>
          <p:nvPr/>
        </p:nvSpPr>
        <p:spPr>
          <a:xfrm>
            <a:off x="6451673" y="4851473"/>
            <a:ext cx="21031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Konwersja</a:t>
            </a:r>
            <a:endParaRPr lang="en-US" sz="1800" dirty="0"/>
          </a:p>
          <a:p>
            <a:pPr algn="ctr" indent="0" marL="0">
              <a:buNone/>
            </a:pPr>
            <a:r>
              <a:rPr lang="en-US" sz="1200" i="1" dirty="0">
                <a:solidFill>
                  <a:srgbClr val="FFFFFF"/>
                </a:solidFill>
                <a:latin typeface="Calibri" pitchFamily="34" charset="0"/>
                <a:ea typeface="Calibri" pitchFamily="34" charset="-122"/>
                <a:cs typeface="Calibri" pitchFamily="34" charset="-120"/>
              </a:rPr>
              <a:t>Convert</a:t>
            </a:r>
            <a:endParaRPr lang="en-US" sz="1800" dirty="0"/>
          </a:p>
        </p:txBody>
      </p:sp>
      <p:sp>
        <p:nvSpPr>
          <p:cNvPr id="10" name="Shape 8"/>
          <p:cNvSpPr/>
          <p:nvPr/>
        </p:nvSpPr>
        <p:spPr>
          <a:xfrm>
            <a:off x="3606727" y="4851473"/>
            <a:ext cx="2103120" cy="1005840"/>
          </a:xfrm>
          <a:prstGeom prst="roundRect">
            <a:avLst>
              <a:gd name="adj" fmla="val 9091"/>
            </a:avLst>
          </a:prstGeom>
          <a:solidFill>
            <a:srgbClr val="7A3F8F"/>
          </a:solidFill>
          <a:ln/>
        </p:spPr>
      </p:sp>
      <p:sp>
        <p:nvSpPr>
          <p:cNvPr id="11" name="Text 9"/>
          <p:cNvSpPr/>
          <p:nvPr/>
        </p:nvSpPr>
        <p:spPr>
          <a:xfrm>
            <a:off x="3606727" y="4851473"/>
            <a:ext cx="2103120" cy="10058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Zaangażowanie</a:t>
            </a:r>
            <a:endParaRPr lang="en-US" sz="1800" dirty="0"/>
          </a:p>
          <a:p>
            <a:pPr algn="ctr" indent="0" marL="0">
              <a:buNone/>
            </a:pPr>
            <a:r>
              <a:rPr lang="en-US" sz="1200" i="1" dirty="0">
                <a:solidFill>
                  <a:srgbClr val="FFFFFF"/>
                </a:solidFill>
                <a:latin typeface="Calibri" pitchFamily="34" charset="0"/>
                <a:ea typeface="Calibri" pitchFamily="34" charset="-122"/>
                <a:cs typeface="Calibri" pitchFamily="34" charset="-120"/>
              </a:rPr>
              <a:t>Engage</a:t>
            </a:r>
            <a:endParaRPr lang="en-US" sz="1800" dirty="0"/>
          </a:p>
        </p:txBody>
      </p:sp>
      <p:sp>
        <p:nvSpPr>
          <p:cNvPr id="12" name="Text 10"/>
          <p:cNvSpPr/>
          <p:nvPr/>
        </p:nvSpPr>
        <p:spPr>
          <a:xfrm>
            <a:off x="5074920" y="3429000"/>
            <a:ext cx="2011680" cy="1005840"/>
          </a:xfrm>
          <a:prstGeom prst="rect">
            <a:avLst/>
          </a:prstGeom>
          <a:noFill/>
          <a:ln/>
        </p:spPr>
        <p:txBody>
          <a:bodyPr wrap="square" lIns="0" tIns="0" rIns="0" bIns="0" rtlCol="0" anchor="ctr"/>
          <a:lstStyle/>
          <a:p>
            <a:pPr algn="ctr" indent="0" marL="0">
              <a:buNone/>
            </a:pPr>
            <a:r>
              <a:rPr lang="en-US" sz="2200" b="1" dirty="0">
                <a:solidFill>
                  <a:srgbClr val="1E293B"/>
                </a:solidFill>
                <a:latin typeface="Calibri" pitchFamily="34" charset="0"/>
                <a:ea typeface="Calibri" pitchFamily="34" charset="-122"/>
                <a:cs typeface="Calibri" pitchFamily="34" charset="-120"/>
              </a:rPr>
              <a:t>CYKL,</a:t>
            </a:r>
            <a:endParaRPr lang="en-US" sz="2200" dirty="0"/>
          </a:p>
          <a:p>
            <a:pPr algn="ctr" indent="0" marL="0">
              <a:buNone/>
            </a:pPr>
            <a:r>
              <a:rPr lang="en-US" sz="2200" b="1" dirty="0">
                <a:solidFill>
                  <a:srgbClr val="1E293B"/>
                </a:solidFill>
                <a:latin typeface="Calibri" pitchFamily="34" charset="0"/>
                <a:ea typeface="Calibri" pitchFamily="34" charset="-122"/>
                <a:cs typeface="Calibri" pitchFamily="34" charset="-120"/>
              </a:rPr>
              <a:t>nie lejek</a:t>
            </a:r>
            <a:endParaRPr lang="en-US" sz="2200" dirty="0"/>
          </a:p>
        </p:txBody>
      </p:sp>
      <p:sp>
        <p:nvSpPr>
          <p:cNvPr id="13" name="Text 11"/>
          <p:cNvSpPr/>
          <p:nvPr/>
        </p:nvSpPr>
        <p:spPr>
          <a:xfrm>
            <a:off x="548640" y="5943600"/>
            <a:ext cx="11064240" cy="365760"/>
          </a:xfrm>
          <a:prstGeom prst="rect">
            <a:avLst/>
          </a:prstGeom>
          <a:noFill/>
          <a:ln/>
        </p:spPr>
        <p:txBody>
          <a:bodyPr wrap="square" rtlCol="0" anchor="ctr"/>
          <a:lstStyle/>
          <a:p>
            <a:pPr algn="ctr" indent="0" marL="0">
              <a:buNone/>
            </a:pPr>
            <a:r>
              <a:rPr lang="en-US" sz="1400" i="1" dirty="0">
                <a:solidFill>
                  <a:srgbClr val="475569"/>
                </a:solidFill>
                <a:latin typeface="Calibri" pitchFamily="34" charset="0"/>
                <a:ea typeface="Calibri" pitchFamily="34" charset="-122"/>
                <a:cs typeface="Calibri" pitchFamily="34" charset="-120"/>
              </a:rPr>
              <a:t>Zaangażowani klienci = nowy Zasięg. Strzałka z Engage wraca do Reach — to nie lejek, to pętla wzrostu.</a:t>
            </a:r>
            <a:endParaRPr lang="en-US" sz="1400" dirty="0"/>
          </a:p>
        </p:txBody>
      </p:sp>
      <p:sp>
        <p:nvSpPr>
          <p:cNvPr id="14" name="Text 12"/>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15" name="Text 13"/>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3 / 16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2E5D9F"/>
                </a:solidFill>
                <a:latin typeface="Calibri" pitchFamily="34" charset="0"/>
                <a:ea typeface="Calibri" pitchFamily="34" charset="-122"/>
                <a:cs typeface="Calibri" pitchFamily="34" charset="-120"/>
              </a:rPr>
              <a:t>R — REACH</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Zasięg — jak budujemy widoczność marki</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Praca, która dzieje się ZANIM klient trafi na waszą stronę</a:t>
            </a:r>
            <a:endParaRPr lang="en-US" sz="1500" dirty="0"/>
          </a:p>
        </p:txBody>
      </p:sp>
      <p:sp>
        <p:nvSpPr>
          <p:cNvPr id="5" name="Text 3"/>
          <p:cNvSpPr/>
          <p:nvPr/>
        </p:nvSpPr>
        <p:spPr>
          <a:xfrm>
            <a:off x="548640" y="1920240"/>
            <a:ext cx="5029200" cy="320040"/>
          </a:xfrm>
          <a:prstGeom prst="rect">
            <a:avLst/>
          </a:prstGeom>
          <a:noFill/>
          <a:ln/>
        </p:spPr>
        <p:txBody>
          <a:bodyPr wrap="square" lIns="0" tIns="0" rIns="0" bIns="0" rtlCol="0" anchor="ctr"/>
          <a:lstStyle/>
          <a:p>
            <a:pPr indent="0" marL="0">
              <a:buNone/>
            </a:pPr>
            <a:r>
              <a:rPr lang="en-US" sz="1200" b="1" spc="300" kern="0" dirty="0">
                <a:solidFill>
                  <a:srgbClr val="2E5D9F"/>
                </a:solidFill>
                <a:latin typeface="Calibri" pitchFamily="34" charset="0"/>
                <a:ea typeface="Calibri" pitchFamily="34" charset="-122"/>
                <a:cs typeface="Calibri" pitchFamily="34" charset="-120"/>
              </a:rPr>
              <a:t>KANAŁY</a:t>
            </a:r>
            <a:endParaRPr lang="en-US" sz="1200" dirty="0"/>
          </a:p>
        </p:txBody>
      </p:sp>
      <p:sp>
        <p:nvSpPr>
          <p:cNvPr id="6" name="Shape 4"/>
          <p:cNvSpPr/>
          <p:nvPr/>
        </p:nvSpPr>
        <p:spPr>
          <a:xfrm>
            <a:off x="548640" y="2423160"/>
            <a:ext cx="91440" cy="274320"/>
          </a:xfrm>
          <a:prstGeom prst="rect">
            <a:avLst/>
          </a:prstGeom>
          <a:solidFill>
            <a:srgbClr val="2E5D9F"/>
          </a:solidFill>
          <a:ln/>
        </p:spPr>
      </p:sp>
      <p:sp>
        <p:nvSpPr>
          <p:cNvPr id="7" name="Text 5"/>
          <p:cNvSpPr/>
          <p:nvPr/>
        </p:nvSpPr>
        <p:spPr>
          <a:xfrm>
            <a:off x="777240" y="237744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SEO</a:t>
            </a:r>
            <a:endParaRPr lang="en-US" sz="1500" dirty="0"/>
          </a:p>
        </p:txBody>
      </p:sp>
      <p:sp>
        <p:nvSpPr>
          <p:cNvPr id="8" name="Shape 6"/>
          <p:cNvSpPr/>
          <p:nvPr/>
        </p:nvSpPr>
        <p:spPr>
          <a:xfrm>
            <a:off x="548640" y="2834640"/>
            <a:ext cx="91440" cy="274320"/>
          </a:xfrm>
          <a:prstGeom prst="rect">
            <a:avLst/>
          </a:prstGeom>
          <a:solidFill>
            <a:srgbClr val="2E5D9F"/>
          </a:solidFill>
          <a:ln/>
        </p:spPr>
      </p:sp>
      <p:sp>
        <p:nvSpPr>
          <p:cNvPr id="9" name="Text 7"/>
          <p:cNvSpPr/>
          <p:nvPr/>
        </p:nvSpPr>
        <p:spPr>
          <a:xfrm>
            <a:off x="777240" y="278892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PPC / Google Ads</a:t>
            </a:r>
            <a:endParaRPr lang="en-US" sz="1500" dirty="0"/>
          </a:p>
        </p:txBody>
      </p:sp>
      <p:sp>
        <p:nvSpPr>
          <p:cNvPr id="10" name="Shape 8"/>
          <p:cNvSpPr/>
          <p:nvPr/>
        </p:nvSpPr>
        <p:spPr>
          <a:xfrm>
            <a:off x="548640" y="3246120"/>
            <a:ext cx="91440" cy="274320"/>
          </a:xfrm>
          <a:prstGeom prst="rect">
            <a:avLst/>
          </a:prstGeom>
          <a:solidFill>
            <a:srgbClr val="2E5D9F"/>
          </a:solidFill>
          <a:ln/>
        </p:spPr>
      </p:sp>
      <p:sp>
        <p:nvSpPr>
          <p:cNvPr id="11" name="Text 9"/>
          <p:cNvSpPr/>
          <p:nvPr/>
        </p:nvSpPr>
        <p:spPr>
          <a:xfrm>
            <a:off x="777240" y="320040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Social Media (organic)</a:t>
            </a:r>
            <a:endParaRPr lang="en-US" sz="1500" dirty="0"/>
          </a:p>
        </p:txBody>
      </p:sp>
      <p:sp>
        <p:nvSpPr>
          <p:cNvPr id="12" name="Shape 10"/>
          <p:cNvSpPr/>
          <p:nvPr/>
        </p:nvSpPr>
        <p:spPr>
          <a:xfrm>
            <a:off x="548640" y="3657600"/>
            <a:ext cx="91440" cy="274320"/>
          </a:xfrm>
          <a:prstGeom prst="rect">
            <a:avLst/>
          </a:prstGeom>
          <a:solidFill>
            <a:srgbClr val="2E5D9F"/>
          </a:solidFill>
          <a:ln/>
        </p:spPr>
      </p:sp>
      <p:sp>
        <p:nvSpPr>
          <p:cNvPr id="13" name="Text 11"/>
          <p:cNvSpPr/>
          <p:nvPr/>
        </p:nvSpPr>
        <p:spPr>
          <a:xfrm>
            <a:off x="777240" y="361188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a:t>
            </a:r>
            <a:endParaRPr lang="en-US" sz="1500" dirty="0"/>
          </a:p>
        </p:txBody>
      </p:sp>
      <p:sp>
        <p:nvSpPr>
          <p:cNvPr id="14" name="Shape 12"/>
          <p:cNvSpPr/>
          <p:nvPr/>
        </p:nvSpPr>
        <p:spPr>
          <a:xfrm>
            <a:off x="548640" y="4069080"/>
            <a:ext cx="91440" cy="274320"/>
          </a:xfrm>
          <a:prstGeom prst="rect">
            <a:avLst/>
          </a:prstGeom>
          <a:solidFill>
            <a:srgbClr val="2E5D9F"/>
          </a:solidFill>
          <a:ln/>
        </p:spPr>
      </p:sp>
      <p:sp>
        <p:nvSpPr>
          <p:cNvPr id="15" name="Text 13"/>
          <p:cNvSpPr/>
          <p:nvPr/>
        </p:nvSpPr>
        <p:spPr>
          <a:xfrm>
            <a:off x="777240" y="402336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Influencer Marketing</a:t>
            </a:r>
            <a:endParaRPr lang="en-US" sz="1500" dirty="0"/>
          </a:p>
        </p:txBody>
      </p:sp>
      <p:sp>
        <p:nvSpPr>
          <p:cNvPr id="16" name="Shape 14"/>
          <p:cNvSpPr/>
          <p:nvPr/>
        </p:nvSpPr>
        <p:spPr>
          <a:xfrm>
            <a:off x="548640" y="4480560"/>
            <a:ext cx="91440" cy="274320"/>
          </a:xfrm>
          <a:prstGeom prst="rect">
            <a:avLst/>
          </a:prstGeom>
          <a:solidFill>
            <a:srgbClr val="2E5D9F"/>
          </a:solidFill>
          <a:ln/>
        </p:spPr>
      </p:sp>
      <p:sp>
        <p:nvSpPr>
          <p:cNvPr id="17" name="Text 15"/>
          <p:cNvSpPr/>
          <p:nvPr/>
        </p:nvSpPr>
        <p:spPr>
          <a:xfrm>
            <a:off x="777240" y="443484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Partnerstwa</a:t>
            </a:r>
            <a:endParaRPr lang="en-US" sz="1500" dirty="0"/>
          </a:p>
        </p:txBody>
      </p:sp>
      <p:sp>
        <p:nvSpPr>
          <p:cNvPr id="18" name="Text 16"/>
          <p:cNvSpPr/>
          <p:nvPr/>
        </p:nvSpPr>
        <p:spPr>
          <a:xfrm>
            <a:off x="6400800" y="1920240"/>
            <a:ext cx="5120640" cy="320040"/>
          </a:xfrm>
          <a:prstGeom prst="rect">
            <a:avLst/>
          </a:prstGeom>
          <a:noFill/>
          <a:ln/>
        </p:spPr>
        <p:txBody>
          <a:bodyPr wrap="square" lIns="0" tIns="0" rIns="0" bIns="0" rtlCol="0" anchor="ctr"/>
          <a:lstStyle/>
          <a:p>
            <a:pPr indent="0" marL="0">
              <a:buNone/>
            </a:pPr>
            <a:r>
              <a:rPr lang="en-US" sz="1200" b="1" spc="300" kern="0" dirty="0">
                <a:solidFill>
                  <a:srgbClr val="2E5D9F"/>
                </a:solidFill>
                <a:latin typeface="Calibri" pitchFamily="34" charset="0"/>
                <a:ea typeface="Calibri" pitchFamily="34" charset="-122"/>
                <a:cs typeface="Calibri" pitchFamily="34" charset="-120"/>
              </a:rPr>
              <a:t>KPI</a:t>
            </a:r>
            <a:endParaRPr lang="en-US" sz="1200" dirty="0"/>
          </a:p>
        </p:txBody>
      </p:sp>
      <p:sp>
        <p:nvSpPr>
          <p:cNvPr id="19" name="Shape 17"/>
          <p:cNvSpPr/>
          <p:nvPr/>
        </p:nvSpPr>
        <p:spPr>
          <a:xfrm>
            <a:off x="6400800" y="2423160"/>
            <a:ext cx="91440" cy="274320"/>
          </a:xfrm>
          <a:prstGeom prst="rect">
            <a:avLst/>
          </a:prstGeom>
          <a:solidFill>
            <a:srgbClr val="2E5D9F"/>
          </a:solidFill>
          <a:ln/>
        </p:spPr>
      </p:sp>
      <p:sp>
        <p:nvSpPr>
          <p:cNvPr id="20" name="Text 18"/>
          <p:cNvSpPr/>
          <p:nvPr/>
        </p:nvSpPr>
        <p:spPr>
          <a:xfrm>
            <a:off x="6629400" y="237744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Ruch organiczny</a:t>
            </a:r>
            <a:endParaRPr lang="en-US" sz="1500" dirty="0"/>
          </a:p>
        </p:txBody>
      </p:sp>
      <p:sp>
        <p:nvSpPr>
          <p:cNvPr id="21" name="Shape 19"/>
          <p:cNvSpPr/>
          <p:nvPr/>
        </p:nvSpPr>
        <p:spPr>
          <a:xfrm>
            <a:off x="6400800" y="2834640"/>
            <a:ext cx="91440" cy="274320"/>
          </a:xfrm>
          <a:prstGeom prst="rect">
            <a:avLst/>
          </a:prstGeom>
          <a:solidFill>
            <a:srgbClr val="2E5D9F"/>
          </a:solidFill>
          <a:ln/>
        </p:spPr>
      </p:sp>
      <p:sp>
        <p:nvSpPr>
          <p:cNvPr id="22" name="Text 20"/>
          <p:cNvSpPr/>
          <p:nvPr/>
        </p:nvSpPr>
        <p:spPr>
          <a:xfrm>
            <a:off x="6629400" y="278892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Impresje / Reach</a:t>
            </a:r>
            <a:endParaRPr lang="en-US" sz="1500" dirty="0"/>
          </a:p>
        </p:txBody>
      </p:sp>
      <p:sp>
        <p:nvSpPr>
          <p:cNvPr id="23" name="Shape 21"/>
          <p:cNvSpPr/>
          <p:nvPr/>
        </p:nvSpPr>
        <p:spPr>
          <a:xfrm>
            <a:off x="6400800" y="3246120"/>
            <a:ext cx="91440" cy="274320"/>
          </a:xfrm>
          <a:prstGeom prst="rect">
            <a:avLst/>
          </a:prstGeom>
          <a:solidFill>
            <a:srgbClr val="2E5D9F"/>
          </a:solidFill>
          <a:ln/>
        </p:spPr>
      </p:sp>
      <p:sp>
        <p:nvSpPr>
          <p:cNvPr id="24" name="Text 22"/>
          <p:cNvSpPr/>
          <p:nvPr/>
        </p:nvSpPr>
        <p:spPr>
          <a:xfrm>
            <a:off x="6629400" y="320040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Share of Voice</a:t>
            </a:r>
            <a:endParaRPr lang="en-US" sz="1500" dirty="0"/>
          </a:p>
        </p:txBody>
      </p:sp>
      <p:sp>
        <p:nvSpPr>
          <p:cNvPr id="25" name="Shape 23"/>
          <p:cNvSpPr/>
          <p:nvPr/>
        </p:nvSpPr>
        <p:spPr>
          <a:xfrm>
            <a:off x="6400800" y="3657600"/>
            <a:ext cx="91440" cy="274320"/>
          </a:xfrm>
          <a:prstGeom prst="rect">
            <a:avLst/>
          </a:prstGeom>
          <a:solidFill>
            <a:srgbClr val="2E5D9F"/>
          </a:solidFill>
          <a:ln/>
        </p:spPr>
      </p:sp>
      <p:sp>
        <p:nvSpPr>
          <p:cNvPr id="26" name="Text 24"/>
          <p:cNvSpPr/>
          <p:nvPr/>
        </p:nvSpPr>
        <p:spPr>
          <a:xfrm>
            <a:off x="6629400" y="361188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Wzrost obserwujących</a:t>
            </a:r>
            <a:endParaRPr lang="en-US" sz="1500" dirty="0"/>
          </a:p>
        </p:txBody>
      </p:sp>
      <p:sp>
        <p:nvSpPr>
          <p:cNvPr id="27" name="Shape 25"/>
          <p:cNvSpPr/>
          <p:nvPr/>
        </p:nvSpPr>
        <p:spPr>
          <a:xfrm>
            <a:off x="6400800" y="4069080"/>
            <a:ext cx="91440" cy="274320"/>
          </a:xfrm>
          <a:prstGeom prst="rect">
            <a:avLst/>
          </a:prstGeom>
          <a:solidFill>
            <a:srgbClr val="2E5D9F"/>
          </a:solidFill>
          <a:ln/>
        </p:spPr>
      </p:sp>
      <p:sp>
        <p:nvSpPr>
          <p:cNvPr id="28" name="Text 26"/>
          <p:cNvSpPr/>
          <p:nvPr/>
        </p:nvSpPr>
        <p:spPr>
          <a:xfrm>
            <a:off x="6629400" y="402336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Pozycje słów kluczowych</a:t>
            </a:r>
            <a:endParaRPr lang="en-US" sz="1500" dirty="0"/>
          </a:p>
        </p:txBody>
      </p:sp>
      <p:sp>
        <p:nvSpPr>
          <p:cNvPr id="29" name="Shape 27"/>
          <p:cNvSpPr/>
          <p:nvPr/>
        </p:nvSpPr>
        <p:spPr>
          <a:xfrm>
            <a:off x="548640" y="5394960"/>
            <a:ext cx="11064240" cy="822960"/>
          </a:xfrm>
          <a:prstGeom prst="rect">
            <a:avLst/>
          </a:prstGeom>
          <a:solidFill>
            <a:srgbClr val="2E5D9F"/>
          </a:solidFill>
          <a:ln/>
        </p:spPr>
      </p:sp>
      <p:sp>
        <p:nvSpPr>
          <p:cNvPr id="30" name="Text 28"/>
          <p:cNvSpPr/>
          <p:nvPr/>
        </p:nvSpPr>
        <p:spPr>
          <a:xfrm>
            <a:off x="548640" y="5394960"/>
            <a:ext cx="1106424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53% ruchu = organiczny (BrightEdge)   ·   YouTube PL: 24,4 mln   ·   TikTok PL: 13,8 mln, 53 min/dzień</a:t>
            </a:r>
            <a:endParaRPr lang="en-US" sz="1600" dirty="0"/>
          </a:p>
        </p:txBody>
      </p:sp>
      <p:sp>
        <p:nvSpPr>
          <p:cNvPr id="31" name="Text 29"/>
          <p:cNvSpPr/>
          <p:nvPr/>
        </p:nvSpPr>
        <p:spPr>
          <a:xfrm>
            <a:off x="548640" y="6263640"/>
            <a:ext cx="11064240" cy="182880"/>
          </a:xfrm>
          <a:prstGeom prst="rect">
            <a:avLst/>
          </a:prstGeom>
          <a:noFill/>
          <a:ln/>
        </p:spPr>
        <p:txBody>
          <a:bodyPr wrap="square"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Źródła: BrightEdge Research · Gemius/PBI Mediapanel 2024</a:t>
            </a:r>
            <a:endParaRPr lang="en-US" sz="1000" dirty="0"/>
          </a:p>
        </p:txBody>
      </p:sp>
      <p:sp>
        <p:nvSpPr>
          <p:cNvPr id="32" name="Text 30"/>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33" name="Text 31"/>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4 / 16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2E5D9F"/>
                </a:solidFill>
                <a:latin typeface="Calibri" pitchFamily="34" charset="0"/>
                <a:ea typeface="Calibri" pitchFamily="34" charset="-122"/>
                <a:cs typeface="Calibri" pitchFamily="34" charset="-120"/>
              </a:rPr>
              <a:t>R — REACH · POLSKA</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Porównanie platform — który kanał dla Zasięgu?</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Zasięg ≠ zaangażowanie. Wybór kanału to decyzja strategiczna, nie default.</a:t>
            </a:r>
            <a:endParaRPr lang="en-US" sz="1500" dirty="0"/>
          </a:p>
        </p:txBody>
      </p:sp>
      <p:sp>
        <p:nvSpPr>
          <p:cNvPr id="5" name="Shape 3"/>
          <p:cNvSpPr/>
          <p:nvPr/>
        </p:nvSpPr>
        <p:spPr>
          <a:xfrm>
            <a:off x="548640" y="1920240"/>
            <a:ext cx="2743200" cy="548640"/>
          </a:xfrm>
          <a:prstGeom prst="rect">
            <a:avLst/>
          </a:prstGeom>
          <a:solidFill>
            <a:srgbClr val="2E5D9F"/>
          </a:solidFill>
          <a:ln/>
        </p:spPr>
      </p:sp>
      <p:sp>
        <p:nvSpPr>
          <p:cNvPr id="6" name="Text 4"/>
          <p:cNvSpPr/>
          <p:nvPr/>
        </p:nvSpPr>
        <p:spPr>
          <a:xfrm>
            <a:off x="640080" y="1920240"/>
            <a:ext cx="256032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Platforma</a:t>
            </a:r>
            <a:endParaRPr lang="en-US" sz="1300" dirty="0"/>
          </a:p>
        </p:txBody>
      </p:sp>
      <p:sp>
        <p:nvSpPr>
          <p:cNvPr id="7" name="Shape 5"/>
          <p:cNvSpPr/>
          <p:nvPr/>
        </p:nvSpPr>
        <p:spPr>
          <a:xfrm>
            <a:off x="3291840" y="1920240"/>
            <a:ext cx="2743200" cy="548640"/>
          </a:xfrm>
          <a:prstGeom prst="rect">
            <a:avLst/>
          </a:prstGeom>
          <a:solidFill>
            <a:srgbClr val="2E5D9F"/>
          </a:solidFill>
          <a:ln/>
        </p:spPr>
      </p:sp>
      <p:sp>
        <p:nvSpPr>
          <p:cNvPr id="8" name="Text 6"/>
          <p:cNvSpPr/>
          <p:nvPr/>
        </p:nvSpPr>
        <p:spPr>
          <a:xfrm>
            <a:off x="3383280" y="1920240"/>
            <a:ext cx="256032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Zasięg miesięczny PL</a:t>
            </a:r>
            <a:endParaRPr lang="en-US" sz="1300" dirty="0"/>
          </a:p>
        </p:txBody>
      </p:sp>
      <p:sp>
        <p:nvSpPr>
          <p:cNvPr id="9" name="Shape 7"/>
          <p:cNvSpPr/>
          <p:nvPr/>
        </p:nvSpPr>
        <p:spPr>
          <a:xfrm>
            <a:off x="6035040" y="1920240"/>
            <a:ext cx="2286000" cy="548640"/>
          </a:xfrm>
          <a:prstGeom prst="rect">
            <a:avLst/>
          </a:prstGeom>
          <a:solidFill>
            <a:srgbClr val="2E5D9F"/>
          </a:solidFill>
          <a:ln/>
        </p:spPr>
      </p:sp>
      <p:sp>
        <p:nvSpPr>
          <p:cNvPr id="10" name="Text 8"/>
          <p:cNvSpPr/>
          <p:nvPr/>
        </p:nvSpPr>
        <p:spPr>
          <a:xfrm>
            <a:off x="6126480" y="1920240"/>
            <a:ext cx="210312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Sesja / dzień</a:t>
            </a:r>
            <a:endParaRPr lang="en-US" sz="1300" dirty="0"/>
          </a:p>
        </p:txBody>
      </p:sp>
      <p:sp>
        <p:nvSpPr>
          <p:cNvPr id="11" name="Shape 9"/>
          <p:cNvSpPr/>
          <p:nvPr/>
        </p:nvSpPr>
        <p:spPr>
          <a:xfrm>
            <a:off x="8321040" y="1920240"/>
            <a:ext cx="3291840" cy="548640"/>
          </a:xfrm>
          <a:prstGeom prst="rect">
            <a:avLst/>
          </a:prstGeom>
          <a:solidFill>
            <a:srgbClr val="2E5D9F"/>
          </a:solidFill>
          <a:ln/>
        </p:spPr>
      </p:sp>
      <p:sp>
        <p:nvSpPr>
          <p:cNvPr id="12" name="Text 10"/>
          <p:cNvSpPr/>
          <p:nvPr/>
        </p:nvSpPr>
        <p:spPr>
          <a:xfrm>
            <a:off x="8412480" y="1920240"/>
            <a:ext cx="310896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Najmocniejsza rola</a:t>
            </a:r>
            <a:endParaRPr lang="en-US" sz="1300" dirty="0"/>
          </a:p>
        </p:txBody>
      </p:sp>
      <p:sp>
        <p:nvSpPr>
          <p:cNvPr id="13" name="Text 11"/>
          <p:cNvSpPr/>
          <p:nvPr/>
        </p:nvSpPr>
        <p:spPr>
          <a:xfrm>
            <a:off x="640080" y="2468880"/>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YouTube</a:t>
            </a:r>
            <a:endParaRPr lang="en-US" sz="1200" dirty="0"/>
          </a:p>
        </p:txBody>
      </p:sp>
      <p:sp>
        <p:nvSpPr>
          <p:cNvPr id="14" name="Text 12"/>
          <p:cNvSpPr/>
          <p:nvPr/>
        </p:nvSpPr>
        <p:spPr>
          <a:xfrm>
            <a:off x="3383280" y="2468880"/>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24,4 mln (75,6% reach reklamowy)</a:t>
            </a:r>
            <a:endParaRPr lang="en-US" sz="1200" dirty="0"/>
          </a:p>
        </p:txBody>
      </p:sp>
      <p:sp>
        <p:nvSpPr>
          <p:cNvPr id="15" name="Text 13"/>
          <p:cNvSpPr/>
          <p:nvPr/>
        </p:nvSpPr>
        <p:spPr>
          <a:xfrm>
            <a:off x="6126480" y="2468880"/>
            <a:ext cx="21031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~40 min</a:t>
            </a:r>
            <a:endParaRPr lang="en-US" sz="1200" dirty="0"/>
          </a:p>
        </p:txBody>
      </p:sp>
      <p:sp>
        <p:nvSpPr>
          <p:cNvPr id="16" name="Text 14"/>
          <p:cNvSpPr/>
          <p:nvPr/>
        </p:nvSpPr>
        <p:spPr>
          <a:xfrm>
            <a:off x="8412480" y="2468880"/>
            <a:ext cx="310896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Największy Reach — wideo długie + krótkie</a:t>
            </a:r>
            <a:endParaRPr lang="en-US" sz="1200" dirty="0"/>
          </a:p>
        </p:txBody>
      </p:sp>
      <p:sp>
        <p:nvSpPr>
          <p:cNvPr id="17" name="Shape 15"/>
          <p:cNvSpPr/>
          <p:nvPr/>
        </p:nvSpPr>
        <p:spPr>
          <a:xfrm>
            <a:off x="548640" y="2980944"/>
            <a:ext cx="11064240" cy="512064"/>
          </a:xfrm>
          <a:prstGeom prst="rect">
            <a:avLst/>
          </a:prstGeom>
          <a:solidFill>
            <a:srgbClr val="F5F7FA"/>
          </a:solidFill>
          <a:ln/>
        </p:spPr>
      </p:sp>
      <p:sp>
        <p:nvSpPr>
          <p:cNvPr id="18" name="Text 16"/>
          <p:cNvSpPr/>
          <p:nvPr/>
        </p:nvSpPr>
        <p:spPr>
          <a:xfrm>
            <a:off x="640080" y="2980944"/>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Facebook</a:t>
            </a:r>
            <a:endParaRPr lang="en-US" sz="1200" dirty="0"/>
          </a:p>
        </p:txBody>
      </p:sp>
      <p:sp>
        <p:nvSpPr>
          <p:cNvPr id="19" name="Text 17"/>
          <p:cNvSpPr/>
          <p:nvPr/>
        </p:nvSpPr>
        <p:spPr>
          <a:xfrm>
            <a:off x="3383280" y="2980944"/>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~19,1 mln</a:t>
            </a:r>
            <a:endParaRPr lang="en-US" sz="1200" dirty="0"/>
          </a:p>
        </p:txBody>
      </p:sp>
      <p:sp>
        <p:nvSpPr>
          <p:cNvPr id="20" name="Text 18"/>
          <p:cNvSpPr/>
          <p:nvPr/>
        </p:nvSpPr>
        <p:spPr>
          <a:xfrm>
            <a:off x="6126480" y="2980944"/>
            <a:ext cx="21031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~33 min</a:t>
            </a:r>
            <a:endParaRPr lang="en-US" sz="1200" dirty="0"/>
          </a:p>
        </p:txBody>
      </p:sp>
      <p:sp>
        <p:nvSpPr>
          <p:cNvPr id="21" name="Text 19"/>
          <p:cNvSpPr/>
          <p:nvPr/>
        </p:nvSpPr>
        <p:spPr>
          <a:xfrm>
            <a:off x="8412480" y="2980944"/>
            <a:ext cx="310896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Szeroki Reach, demografia 35+</a:t>
            </a:r>
            <a:endParaRPr lang="en-US" sz="1200" dirty="0"/>
          </a:p>
        </p:txBody>
      </p:sp>
      <p:sp>
        <p:nvSpPr>
          <p:cNvPr id="22" name="Text 20"/>
          <p:cNvSpPr/>
          <p:nvPr/>
        </p:nvSpPr>
        <p:spPr>
          <a:xfrm>
            <a:off x="640080" y="3493008"/>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TikTok</a:t>
            </a:r>
            <a:endParaRPr lang="en-US" sz="1200" dirty="0"/>
          </a:p>
        </p:txBody>
      </p:sp>
      <p:sp>
        <p:nvSpPr>
          <p:cNvPr id="23" name="Text 21"/>
          <p:cNvSpPr/>
          <p:nvPr/>
        </p:nvSpPr>
        <p:spPr>
          <a:xfrm>
            <a:off x="3383280" y="3493008"/>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13,8 mln</a:t>
            </a:r>
            <a:endParaRPr lang="en-US" sz="1200" dirty="0"/>
          </a:p>
        </p:txBody>
      </p:sp>
      <p:sp>
        <p:nvSpPr>
          <p:cNvPr id="24" name="Text 22"/>
          <p:cNvSpPr/>
          <p:nvPr/>
        </p:nvSpPr>
        <p:spPr>
          <a:xfrm>
            <a:off x="6126480" y="3493008"/>
            <a:ext cx="21031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53 min ⚡</a:t>
            </a:r>
            <a:endParaRPr lang="en-US" sz="1200" dirty="0"/>
          </a:p>
        </p:txBody>
      </p:sp>
      <p:sp>
        <p:nvSpPr>
          <p:cNvPr id="25" name="Text 23"/>
          <p:cNvSpPr/>
          <p:nvPr/>
        </p:nvSpPr>
        <p:spPr>
          <a:xfrm>
            <a:off x="8412480" y="3493008"/>
            <a:ext cx="310896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Reach młody + najgłębsze zanurzenie</a:t>
            </a:r>
            <a:endParaRPr lang="en-US" sz="1200" dirty="0"/>
          </a:p>
        </p:txBody>
      </p:sp>
      <p:sp>
        <p:nvSpPr>
          <p:cNvPr id="26" name="Shape 24"/>
          <p:cNvSpPr/>
          <p:nvPr/>
        </p:nvSpPr>
        <p:spPr>
          <a:xfrm>
            <a:off x="548640" y="4005072"/>
            <a:ext cx="11064240" cy="512064"/>
          </a:xfrm>
          <a:prstGeom prst="rect">
            <a:avLst/>
          </a:prstGeom>
          <a:solidFill>
            <a:srgbClr val="F5F7FA"/>
          </a:solidFill>
          <a:ln/>
        </p:spPr>
      </p:sp>
      <p:sp>
        <p:nvSpPr>
          <p:cNvPr id="27" name="Text 25"/>
          <p:cNvSpPr/>
          <p:nvPr/>
        </p:nvSpPr>
        <p:spPr>
          <a:xfrm>
            <a:off x="640080" y="4005072"/>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Instagram</a:t>
            </a:r>
            <a:endParaRPr lang="en-US" sz="1200" dirty="0"/>
          </a:p>
        </p:txBody>
      </p:sp>
      <p:sp>
        <p:nvSpPr>
          <p:cNvPr id="28" name="Text 26"/>
          <p:cNvSpPr/>
          <p:nvPr/>
        </p:nvSpPr>
        <p:spPr>
          <a:xfrm>
            <a:off x="3383280" y="4005072"/>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~10,3 mln</a:t>
            </a:r>
            <a:endParaRPr lang="en-US" sz="1200" dirty="0"/>
          </a:p>
        </p:txBody>
      </p:sp>
      <p:sp>
        <p:nvSpPr>
          <p:cNvPr id="29" name="Text 27"/>
          <p:cNvSpPr/>
          <p:nvPr/>
        </p:nvSpPr>
        <p:spPr>
          <a:xfrm>
            <a:off x="6126480" y="4005072"/>
            <a:ext cx="21031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~32 min</a:t>
            </a:r>
            <a:endParaRPr lang="en-US" sz="1200" dirty="0"/>
          </a:p>
        </p:txBody>
      </p:sp>
      <p:sp>
        <p:nvSpPr>
          <p:cNvPr id="30" name="Text 28"/>
          <p:cNvSpPr/>
          <p:nvPr/>
        </p:nvSpPr>
        <p:spPr>
          <a:xfrm>
            <a:off x="8412480" y="4005072"/>
            <a:ext cx="310896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Wizualny brand building</a:t>
            </a:r>
            <a:endParaRPr lang="en-US" sz="1200" dirty="0"/>
          </a:p>
        </p:txBody>
      </p:sp>
      <p:sp>
        <p:nvSpPr>
          <p:cNvPr id="31" name="Text 29"/>
          <p:cNvSpPr/>
          <p:nvPr/>
        </p:nvSpPr>
        <p:spPr>
          <a:xfrm>
            <a:off x="640080" y="4517136"/>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LinkedIn</a:t>
            </a:r>
            <a:endParaRPr lang="en-US" sz="1200" dirty="0"/>
          </a:p>
        </p:txBody>
      </p:sp>
      <p:sp>
        <p:nvSpPr>
          <p:cNvPr id="32" name="Text 30"/>
          <p:cNvSpPr/>
          <p:nvPr/>
        </p:nvSpPr>
        <p:spPr>
          <a:xfrm>
            <a:off x="3383280" y="4517136"/>
            <a:ext cx="25603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8,2 mln (DR) / ~5 mln (Gemius)</a:t>
            </a:r>
            <a:endParaRPr lang="en-US" sz="1200" dirty="0"/>
          </a:p>
        </p:txBody>
      </p:sp>
      <p:sp>
        <p:nvSpPr>
          <p:cNvPr id="33" name="Text 31"/>
          <p:cNvSpPr/>
          <p:nvPr/>
        </p:nvSpPr>
        <p:spPr>
          <a:xfrm>
            <a:off x="6126480" y="4517136"/>
            <a:ext cx="210312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a:t>
            </a:r>
            <a:endParaRPr lang="en-US" sz="1200" dirty="0"/>
          </a:p>
        </p:txBody>
      </p:sp>
      <p:sp>
        <p:nvSpPr>
          <p:cNvPr id="34" name="Text 32"/>
          <p:cNvSpPr/>
          <p:nvPr/>
        </p:nvSpPr>
        <p:spPr>
          <a:xfrm>
            <a:off x="8412480" y="4517136"/>
            <a:ext cx="3108960" cy="512064"/>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B2B / employer branding</a:t>
            </a:r>
            <a:endParaRPr lang="en-US" sz="1200" dirty="0"/>
          </a:p>
        </p:txBody>
      </p:sp>
      <p:sp>
        <p:nvSpPr>
          <p:cNvPr id="35" name="Text 33"/>
          <p:cNvSpPr/>
          <p:nvPr/>
        </p:nvSpPr>
        <p:spPr>
          <a:xfrm>
            <a:off x="548640" y="6080760"/>
            <a:ext cx="11064240" cy="274320"/>
          </a:xfrm>
          <a:prstGeom prst="rect">
            <a:avLst/>
          </a:prstGeom>
          <a:noFill/>
          <a:ln/>
        </p:spPr>
        <p:txBody>
          <a:bodyPr wrap="square"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Źródło: Gemius/PBI Mediapanel 2024 · DataReportal Digital 2025 Poland</a:t>
            </a:r>
            <a:endParaRPr lang="en-US" sz="1000" dirty="0"/>
          </a:p>
        </p:txBody>
      </p:sp>
      <p:sp>
        <p:nvSpPr>
          <p:cNvPr id="36" name="Shape 34"/>
          <p:cNvSpPr/>
          <p:nvPr/>
        </p:nvSpPr>
        <p:spPr>
          <a:xfrm>
            <a:off x="548640" y="5669280"/>
            <a:ext cx="11064240" cy="365760"/>
          </a:xfrm>
          <a:prstGeom prst="rect">
            <a:avLst/>
          </a:prstGeom>
          <a:solidFill>
            <a:srgbClr val="FFF8E1"/>
          </a:solidFill>
          <a:ln/>
        </p:spPr>
      </p:sp>
      <p:sp>
        <p:nvSpPr>
          <p:cNvPr id="37" name="Text 35"/>
          <p:cNvSpPr/>
          <p:nvPr/>
        </p:nvSpPr>
        <p:spPr>
          <a:xfrm>
            <a:off x="731520" y="5669280"/>
            <a:ext cx="10698480" cy="365760"/>
          </a:xfrm>
          <a:prstGeom prst="rect">
            <a:avLst/>
          </a:prstGeom>
          <a:noFill/>
          <a:ln/>
        </p:spPr>
        <p:txBody>
          <a:bodyPr wrap="square" lIns="0" tIns="0" rIns="0" bIns="0" rtlCol="0" anchor="ctr"/>
          <a:lstStyle/>
          <a:p>
            <a:pPr algn="l" indent="0" marL="0">
              <a:buNone/>
            </a:pPr>
            <a:r>
              <a:rPr lang="en-US" sz="1300" b="1" dirty="0">
                <a:solidFill>
                  <a:srgbClr val="1E293B"/>
                </a:solidFill>
                <a:latin typeface="Calibri" pitchFamily="34" charset="0"/>
                <a:ea typeface="Calibri" pitchFamily="34" charset="-122"/>
                <a:cs typeface="Calibri" pitchFamily="34" charset="-120"/>
              </a:rPr>
              <a:t>YouTube = największy zasięg  ·  TikTok = najwyższe zaangażowanie czasowe</a:t>
            </a:r>
            <a:endParaRPr lang="en-US" sz="1300" dirty="0"/>
          </a:p>
        </p:txBody>
      </p:sp>
      <p:sp>
        <p:nvSpPr>
          <p:cNvPr id="38" name="Text 36"/>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39" name="Text 37"/>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5 / 16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2D7A4F"/>
                </a:solidFill>
                <a:latin typeface="Calibri" pitchFamily="34" charset="0"/>
                <a:ea typeface="Calibri" pitchFamily="34" charset="-122"/>
                <a:cs typeface="Calibri" pitchFamily="34" charset="-120"/>
              </a:rPr>
              <a:t>A — ACT</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Aktywacja — co robi odwiedzający, zanim kupi?</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Etap, który większość firm dramatycznie zaniedbuje</a:t>
            </a:r>
            <a:endParaRPr lang="en-US" sz="1500" dirty="0"/>
          </a:p>
        </p:txBody>
      </p:sp>
      <p:sp>
        <p:nvSpPr>
          <p:cNvPr id="5" name="Text 3"/>
          <p:cNvSpPr/>
          <p:nvPr/>
        </p:nvSpPr>
        <p:spPr>
          <a:xfrm>
            <a:off x="548640" y="1920240"/>
            <a:ext cx="5029200" cy="320040"/>
          </a:xfrm>
          <a:prstGeom prst="rect">
            <a:avLst/>
          </a:prstGeom>
          <a:noFill/>
          <a:ln/>
        </p:spPr>
        <p:txBody>
          <a:bodyPr wrap="square" lIns="0" tIns="0" rIns="0" bIns="0" rtlCol="0" anchor="ctr"/>
          <a:lstStyle/>
          <a:p>
            <a:pPr indent="0" marL="0">
              <a:buNone/>
            </a:pPr>
            <a:r>
              <a:rPr lang="en-US" sz="1200" b="1" spc="300" kern="0" dirty="0">
                <a:solidFill>
                  <a:srgbClr val="2D7A4F"/>
                </a:solidFill>
                <a:latin typeface="Calibri" pitchFamily="34" charset="0"/>
                <a:ea typeface="Calibri" pitchFamily="34" charset="-122"/>
                <a:cs typeface="Calibri" pitchFamily="34" charset="-120"/>
              </a:rPr>
              <a:t>KANAŁY</a:t>
            </a:r>
            <a:endParaRPr lang="en-US" sz="1200" dirty="0"/>
          </a:p>
        </p:txBody>
      </p:sp>
      <p:sp>
        <p:nvSpPr>
          <p:cNvPr id="6" name="Shape 4"/>
          <p:cNvSpPr/>
          <p:nvPr/>
        </p:nvSpPr>
        <p:spPr>
          <a:xfrm>
            <a:off x="548640" y="2423160"/>
            <a:ext cx="91440" cy="274320"/>
          </a:xfrm>
          <a:prstGeom prst="rect">
            <a:avLst/>
          </a:prstGeom>
          <a:solidFill>
            <a:srgbClr val="2D7A4F"/>
          </a:solidFill>
          <a:ln/>
        </p:spPr>
      </p:sp>
      <p:sp>
        <p:nvSpPr>
          <p:cNvPr id="7" name="Text 5"/>
          <p:cNvSpPr/>
          <p:nvPr/>
        </p:nvSpPr>
        <p:spPr>
          <a:xfrm>
            <a:off x="777240" y="237744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Content Marketing</a:t>
            </a:r>
            <a:endParaRPr lang="en-US" sz="1500" dirty="0"/>
          </a:p>
        </p:txBody>
      </p:sp>
      <p:sp>
        <p:nvSpPr>
          <p:cNvPr id="8" name="Shape 6"/>
          <p:cNvSpPr/>
          <p:nvPr/>
        </p:nvSpPr>
        <p:spPr>
          <a:xfrm>
            <a:off x="548640" y="2834640"/>
            <a:ext cx="91440" cy="274320"/>
          </a:xfrm>
          <a:prstGeom prst="rect">
            <a:avLst/>
          </a:prstGeom>
          <a:solidFill>
            <a:srgbClr val="2D7A4F"/>
          </a:solidFill>
          <a:ln/>
        </p:spPr>
      </p:sp>
      <p:sp>
        <p:nvSpPr>
          <p:cNvPr id="9" name="Text 7"/>
          <p:cNvSpPr/>
          <p:nvPr/>
        </p:nvSpPr>
        <p:spPr>
          <a:xfrm>
            <a:off x="777240" y="278892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Email Nurture</a:t>
            </a:r>
            <a:endParaRPr lang="en-US" sz="1500" dirty="0"/>
          </a:p>
        </p:txBody>
      </p:sp>
      <p:sp>
        <p:nvSpPr>
          <p:cNvPr id="10" name="Shape 8"/>
          <p:cNvSpPr/>
          <p:nvPr/>
        </p:nvSpPr>
        <p:spPr>
          <a:xfrm>
            <a:off x="548640" y="3246120"/>
            <a:ext cx="91440" cy="274320"/>
          </a:xfrm>
          <a:prstGeom prst="rect">
            <a:avLst/>
          </a:prstGeom>
          <a:solidFill>
            <a:srgbClr val="2D7A4F"/>
          </a:solidFill>
          <a:ln/>
        </p:spPr>
      </p:sp>
      <p:sp>
        <p:nvSpPr>
          <p:cNvPr id="11" name="Text 9"/>
          <p:cNvSpPr/>
          <p:nvPr/>
        </p:nvSpPr>
        <p:spPr>
          <a:xfrm>
            <a:off x="777240" y="320040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Landing Pages</a:t>
            </a:r>
            <a:endParaRPr lang="en-US" sz="1500" dirty="0"/>
          </a:p>
        </p:txBody>
      </p:sp>
      <p:sp>
        <p:nvSpPr>
          <p:cNvPr id="12" name="Shape 10"/>
          <p:cNvSpPr/>
          <p:nvPr/>
        </p:nvSpPr>
        <p:spPr>
          <a:xfrm>
            <a:off x="548640" y="3657600"/>
            <a:ext cx="91440" cy="274320"/>
          </a:xfrm>
          <a:prstGeom prst="rect">
            <a:avLst/>
          </a:prstGeom>
          <a:solidFill>
            <a:srgbClr val="2D7A4F"/>
          </a:solidFill>
          <a:ln/>
        </p:spPr>
      </p:sp>
      <p:sp>
        <p:nvSpPr>
          <p:cNvPr id="13" name="Text 11"/>
          <p:cNvSpPr/>
          <p:nvPr/>
        </p:nvSpPr>
        <p:spPr>
          <a:xfrm>
            <a:off x="777240" y="361188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Lead magnety (e-book, kalkulator)</a:t>
            </a:r>
            <a:endParaRPr lang="en-US" sz="1500" dirty="0"/>
          </a:p>
        </p:txBody>
      </p:sp>
      <p:sp>
        <p:nvSpPr>
          <p:cNvPr id="14" name="Shape 12"/>
          <p:cNvSpPr/>
          <p:nvPr/>
        </p:nvSpPr>
        <p:spPr>
          <a:xfrm>
            <a:off x="548640" y="4069080"/>
            <a:ext cx="91440" cy="274320"/>
          </a:xfrm>
          <a:prstGeom prst="rect">
            <a:avLst/>
          </a:prstGeom>
          <a:solidFill>
            <a:srgbClr val="2D7A4F"/>
          </a:solidFill>
          <a:ln/>
        </p:spPr>
      </p:sp>
      <p:sp>
        <p:nvSpPr>
          <p:cNvPr id="15" name="Text 13"/>
          <p:cNvSpPr/>
          <p:nvPr/>
        </p:nvSpPr>
        <p:spPr>
          <a:xfrm>
            <a:off x="777240" y="402336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Webinary</a:t>
            </a:r>
            <a:endParaRPr lang="en-US" sz="1500" dirty="0"/>
          </a:p>
        </p:txBody>
      </p:sp>
      <p:sp>
        <p:nvSpPr>
          <p:cNvPr id="16" name="Shape 14"/>
          <p:cNvSpPr/>
          <p:nvPr/>
        </p:nvSpPr>
        <p:spPr>
          <a:xfrm>
            <a:off x="548640" y="4480560"/>
            <a:ext cx="91440" cy="274320"/>
          </a:xfrm>
          <a:prstGeom prst="rect">
            <a:avLst/>
          </a:prstGeom>
          <a:solidFill>
            <a:srgbClr val="2D7A4F"/>
          </a:solidFill>
          <a:ln/>
        </p:spPr>
      </p:sp>
      <p:sp>
        <p:nvSpPr>
          <p:cNvPr id="17" name="Text 15"/>
          <p:cNvSpPr/>
          <p:nvPr/>
        </p:nvSpPr>
        <p:spPr>
          <a:xfrm>
            <a:off x="777240" y="443484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Narzędzia interaktywne</a:t>
            </a:r>
            <a:endParaRPr lang="en-US" sz="1500" dirty="0"/>
          </a:p>
        </p:txBody>
      </p:sp>
      <p:sp>
        <p:nvSpPr>
          <p:cNvPr id="18" name="Text 16"/>
          <p:cNvSpPr/>
          <p:nvPr/>
        </p:nvSpPr>
        <p:spPr>
          <a:xfrm>
            <a:off x="6400800" y="1920240"/>
            <a:ext cx="5120640" cy="320040"/>
          </a:xfrm>
          <a:prstGeom prst="rect">
            <a:avLst/>
          </a:prstGeom>
          <a:noFill/>
          <a:ln/>
        </p:spPr>
        <p:txBody>
          <a:bodyPr wrap="square" lIns="0" tIns="0" rIns="0" bIns="0" rtlCol="0" anchor="ctr"/>
          <a:lstStyle/>
          <a:p>
            <a:pPr indent="0" marL="0">
              <a:buNone/>
            </a:pPr>
            <a:r>
              <a:rPr lang="en-US" sz="1200" b="1" spc="300" kern="0" dirty="0">
                <a:solidFill>
                  <a:srgbClr val="2D7A4F"/>
                </a:solidFill>
                <a:latin typeface="Calibri" pitchFamily="34" charset="0"/>
                <a:ea typeface="Calibri" pitchFamily="34" charset="-122"/>
                <a:cs typeface="Calibri" pitchFamily="34" charset="-120"/>
              </a:rPr>
              <a:t>KPI</a:t>
            </a:r>
            <a:endParaRPr lang="en-US" sz="1200" dirty="0"/>
          </a:p>
        </p:txBody>
      </p:sp>
      <p:sp>
        <p:nvSpPr>
          <p:cNvPr id="19" name="Shape 17"/>
          <p:cNvSpPr/>
          <p:nvPr/>
        </p:nvSpPr>
        <p:spPr>
          <a:xfrm>
            <a:off x="6400800" y="2423160"/>
            <a:ext cx="91440" cy="274320"/>
          </a:xfrm>
          <a:prstGeom prst="rect">
            <a:avLst/>
          </a:prstGeom>
          <a:solidFill>
            <a:srgbClr val="2D7A4F"/>
          </a:solidFill>
          <a:ln/>
        </p:spPr>
      </p:sp>
      <p:sp>
        <p:nvSpPr>
          <p:cNvPr id="20" name="Text 18"/>
          <p:cNvSpPr/>
          <p:nvPr/>
        </p:nvSpPr>
        <p:spPr>
          <a:xfrm>
            <a:off x="6629400" y="237744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Czas spędzony na stronie</a:t>
            </a:r>
            <a:endParaRPr lang="en-US" sz="1500" dirty="0"/>
          </a:p>
        </p:txBody>
      </p:sp>
      <p:sp>
        <p:nvSpPr>
          <p:cNvPr id="21" name="Shape 19"/>
          <p:cNvSpPr/>
          <p:nvPr/>
        </p:nvSpPr>
        <p:spPr>
          <a:xfrm>
            <a:off x="6400800" y="2834640"/>
            <a:ext cx="91440" cy="274320"/>
          </a:xfrm>
          <a:prstGeom prst="rect">
            <a:avLst/>
          </a:prstGeom>
          <a:solidFill>
            <a:srgbClr val="2D7A4F"/>
          </a:solidFill>
          <a:ln/>
        </p:spPr>
      </p:sp>
      <p:sp>
        <p:nvSpPr>
          <p:cNvPr id="22" name="Text 20"/>
          <p:cNvSpPr/>
          <p:nvPr/>
        </p:nvSpPr>
        <p:spPr>
          <a:xfrm>
            <a:off x="6629400" y="278892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Strony na sesję</a:t>
            </a:r>
            <a:endParaRPr lang="en-US" sz="1500" dirty="0"/>
          </a:p>
        </p:txBody>
      </p:sp>
      <p:sp>
        <p:nvSpPr>
          <p:cNvPr id="23" name="Shape 21"/>
          <p:cNvSpPr/>
          <p:nvPr/>
        </p:nvSpPr>
        <p:spPr>
          <a:xfrm>
            <a:off x="6400800" y="3246120"/>
            <a:ext cx="91440" cy="274320"/>
          </a:xfrm>
          <a:prstGeom prst="rect">
            <a:avLst/>
          </a:prstGeom>
          <a:solidFill>
            <a:srgbClr val="2D7A4F"/>
          </a:solidFill>
          <a:ln/>
        </p:spPr>
      </p:sp>
      <p:sp>
        <p:nvSpPr>
          <p:cNvPr id="24" name="Text 22"/>
          <p:cNvSpPr/>
          <p:nvPr/>
        </p:nvSpPr>
        <p:spPr>
          <a:xfrm>
            <a:off x="6629400" y="320040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CTR emaila</a:t>
            </a:r>
            <a:endParaRPr lang="en-US" sz="1500" dirty="0"/>
          </a:p>
        </p:txBody>
      </p:sp>
      <p:sp>
        <p:nvSpPr>
          <p:cNvPr id="25" name="Shape 23"/>
          <p:cNvSpPr/>
          <p:nvPr/>
        </p:nvSpPr>
        <p:spPr>
          <a:xfrm>
            <a:off x="6400800" y="3657600"/>
            <a:ext cx="91440" cy="274320"/>
          </a:xfrm>
          <a:prstGeom prst="rect">
            <a:avLst/>
          </a:prstGeom>
          <a:solidFill>
            <a:srgbClr val="2D7A4F"/>
          </a:solidFill>
          <a:ln/>
        </p:spPr>
      </p:sp>
      <p:sp>
        <p:nvSpPr>
          <p:cNvPr id="26" name="Text 24"/>
          <p:cNvSpPr/>
          <p:nvPr/>
        </p:nvSpPr>
        <p:spPr>
          <a:xfrm>
            <a:off x="6629400" y="361188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Pobrania lead magnetu</a:t>
            </a:r>
            <a:endParaRPr lang="en-US" sz="1500" dirty="0"/>
          </a:p>
        </p:txBody>
      </p:sp>
      <p:sp>
        <p:nvSpPr>
          <p:cNvPr id="27" name="Shape 25"/>
          <p:cNvSpPr/>
          <p:nvPr/>
        </p:nvSpPr>
        <p:spPr>
          <a:xfrm>
            <a:off x="6400800" y="4069080"/>
            <a:ext cx="91440" cy="274320"/>
          </a:xfrm>
          <a:prstGeom prst="rect">
            <a:avLst/>
          </a:prstGeom>
          <a:solidFill>
            <a:srgbClr val="2D7A4F"/>
          </a:solidFill>
          <a:ln/>
        </p:spPr>
      </p:sp>
      <p:sp>
        <p:nvSpPr>
          <p:cNvPr id="28" name="Text 26"/>
          <p:cNvSpPr/>
          <p:nvPr/>
        </p:nvSpPr>
        <p:spPr>
          <a:xfrm>
            <a:off x="6629400" y="402336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Zapisy na newsletter</a:t>
            </a:r>
            <a:endParaRPr lang="en-US" sz="1500" dirty="0"/>
          </a:p>
        </p:txBody>
      </p:sp>
      <p:sp>
        <p:nvSpPr>
          <p:cNvPr id="29" name="Shape 27"/>
          <p:cNvSpPr/>
          <p:nvPr/>
        </p:nvSpPr>
        <p:spPr>
          <a:xfrm>
            <a:off x="548640" y="5394960"/>
            <a:ext cx="11064240" cy="822960"/>
          </a:xfrm>
          <a:prstGeom prst="rect">
            <a:avLst/>
          </a:prstGeom>
          <a:solidFill>
            <a:srgbClr val="2D7A4F"/>
          </a:solidFill>
          <a:ln/>
        </p:spPr>
      </p:sp>
      <p:sp>
        <p:nvSpPr>
          <p:cNvPr id="30" name="Text 28"/>
          <p:cNvSpPr/>
          <p:nvPr/>
        </p:nvSpPr>
        <p:spPr>
          <a:xfrm>
            <a:off x="548640" y="5394960"/>
            <a:ext cx="11064240" cy="82296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93% </a:t>
            </a:r>
            <a:pPr algn="ctr" indent="0" marL="0">
              <a:buNone/>
            </a:pPr>
            <a:r>
              <a:rPr lang="en-US" sz="1600" dirty="0">
                <a:solidFill>
                  <a:srgbClr val="FFFFFF"/>
                </a:solidFill>
                <a:latin typeface="Calibri" pitchFamily="34" charset="0"/>
                <a:ea typeface="Calibri" pitchFamily="34" charset="-122"/>
                <a:cs typeface="Calibri" pitchFamily="34" charset="-120"/>
              </a:rPr>
              <a:t>marketerów mówi, że personalizacja działa  ·  </a:t>
            </a:r>
            <a:pPr algn="ctr" indent="0" marL="0">
              <a:buNone/>
            </a:pPr>
            <a:r>
              <a:rPr lang="en-US" sz="2400" b="1" dirty="0">
                <a:solidFill>
                  <a:srgbClr val="FFFFFF"/>
                </a:solidFill>
                <a:latin typeface="Calibri" pitchFamily="34" charset="0"/>
                <a:ea typeface="Calibri" pitchFamily="34" charset="-122"/>
                <a:cs typeface="Calibri" pitchFamily="34" charset="-120"/>
              </a:rPr>
              <a:t>13% </a:t>
            </a:r>
            <a:pPr algn="ctr" indent="0" marL="0">
              <a:buNone/>
            </a:pPr>
            <a:r>
              <a:rPr lang="en-US" sz="1600" dirty="0">
                <a:solidFill>
                  <a:srgbClr val="FFFFFF"/>
                </a:solidFill>
                <a:latin typeface="Calibri" pitchFamily="34" charset="0"/>
                <a:ea typeface="Calibri" pitchFamily="34" charset="-122"/>
                <a:cs typeface="Calibri" pitchFamily="34" charset="-120"/>
              </a:rPr>
              <a:t>stosuje zaawansowaną personalizację</a:t>
            </a:r>
            <a:endParaRPr lang="en-US" sz="2400" dirty="0"/>
          </a:p>
        </p:txBody>
      </p:sp>
      <p:sp>
        <p:nvSpPr>
          <p:cNvPr id="31" name="Text 29"/>
          <p:cNvSpPr/>
          <p:nvPr/>
        </p:nvSpPr>
        <p:spPr>
          <a:xfrm>
            <a:off x="548640" y="6263640"/>
            <a:ext cx="11064240" cy="182880"/>
          </a:xfrm>
          <a:prstGeom prst="rect">
            <a:avLst/>
          </a:prstGeom>
          <a:noFill/>
          <a:ln/>
        </p:spPr>
        <p:txBody>
          <a:bodyPr wrap="square"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Źródło: Litmus / HubSpot Email Marketing Stats 2024</a:t>
            </a:r>
            <a:endParaRPr lang="en-US" sz="1000" dirty="0"/>
          </a:p>
        </p:txBody>
      </p:sp>
      <p:sp>
        <p:nvSpPr>
          <p:cNvPr id="32" name="Text 30"/>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33" name="Text 31"/>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6 / 16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2D7A4F"/>
                </a:solidFill>
                <a:latin typeface="Calibri" pitchFamily="34" charset="0"/>
                <a:ea typeface="Calibri" pitchFamily="34" charset="-122"/>
                <a:cs typeface="Calibri" pitchFamily="34" charset="-120"/>
              </a:rPr>
              <a:t>A — ACT · CASE STUDY</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IKEA: AR usuwa barierę Aktywacji</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Rozwiązanie nie było promocją. Było produktem.</a:t>
            </a:r>
            <a:endParaRPr lang="en-US" sz="1500" dirty="0"/>
          </a:p>
        </p:txBody>
      </p:sp>
      <p:sp>
        <p:nvSpPr>
          <p:cNvPr id="5" name="Shape 3"/>
          <p:cNvSpPr/>
          <p:nvPr/>
        </p:nvSpPr>
        <p:spPr>
          <a:xfrm>
            <a:off x="548640" y="2011680"/>
            <a:ext cx="5303520" cy="2926080"/>
          </a:xfrm>
          <a:prstGeom prst="rect">
            <a:avLst/>
          </a:prstGeom>
          <a:solidFill>
            <a:srgbClr val="FFF0E4"/>
          </a:solidFill>
          <a:ln/>
        </p:spPr>
      </p:sp>
      <p:sp>
        <p:nvSpPr>
          <p:cNvPr id="6" name="Shape 4"/>
          <p:cNvSpPr/>
          <p:nvPr/>
        </p:nvSpPr>
        <p:spPr>
          <a:xfrm>
            <a:off x="548640" y="2011680"/>
            <a:ext cx="137160" cy="2926080"/>
          </a:xfrm>
          <a:prstGeom prst="rect">
            <a:avLst/>
          </a:prstGeom>
          <a:solidFill>
            <a:srgbClr val="C0392B"/>
          </a:solidFill>
          <a:ln/>
        </p:spPr>
      </p:sp>
      <p:sp>
        <p:nvSpPr>
          <p:cNvPr id="7" name="Text 5"/>
          <p:cNvSpPr/>
          <p:nvPr/>
        </p:nvSpPr>
        <p:spPr>
          <a:xfrm>
            <a:off x="777240" y="2194560"/>
            <a:ext cx="4846320" cy="320040"/>
          </a:xfrm>
          <a:prstGeom prst="rect">
            <a:avLst/>
          </a:prstGeom>
          <a:noFill/>
          <a:ln/>
        </p:spPr>
        <p:txBody>
          <a:bodyPr wrap="square" lIns="0" tIns="0" rIns="0" bIns="0" rtlCol="0" anchor="ctr"/>
          <a:lstStyle/>
          <a:p>
            <a:pPr indent="0" marL="0">
              <a:buNone/>
            </a:pPr>
            <a:r>
              <a:rPr lang="en-US" sz="1200" b="1" spc="300" kern="0" dirty="0">
                <a:solidFill>
                  <a:srgbClr val="C0392B"/>
                </a:solidFill>
                <a:latin typeface="Calibri" pitchFamily="34" charset="0"/>
                <a:ea typeface="Calibri" pitchFamily="34" charset="-122"/>
                <a:cs typeface="Calibri" pitchFamily="34" charset="-120"/>
              </a:rPr>
              <a:t>PROBLEM AKTYWACJI</a:t>
            </a:r>
            <a:endParaRPr lang="en-US" sz="1200" dirty="0"/>
          </a:p>
        </p:txBody>
      </p:sp>
      <p:sp>
        <p:nvSpPr>
          <p:cNvPr id="8" name="Text 6"/>
          <p:cNvSpPr/>
          <p:nvPr/>
        </p:nvSpPr>
        <p:spPr>
          <a:xfrm>
            <a:off x="777240" y="2651760"/>
            <a:ext cx="4846320" cy="201168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4,6 mld wizyt rocznie. Ale trudno wyobrazić sobie meble we własnym domu — bez tego nie ma decyzji zakupowej.</a:t>
            </a:r>
            <a:endParaRPr lang="en-US" sz="1700" dirty="0"/>
          </a:p>
        </p:txBody>
      </p:sp>
      <p:sp>
        <p:nvSpPr>
          <p:cNvPr id="9" name="Shape 7"/>
          <p:cNvSpPr/>
          <p:nvPr/>
        </p:nvSpPr>
        <p:spPr>
          <a:xfrm>
            <a:off x="6309360" y="2011680"/>
            <a:ext cx="5303520" cy="2926080"/>
          </a:xfrm>
          <a:prstGeom prst="rect">
            <a:avLst/>
          </a:prstGeom>
          <a:solidFill>
            <a:srgbClr val="E8F5EA"/>
          </a:solidFill>
          <a:ln/>
        </p:spPr>
      </p:sp>
      <p:sp>
        <p:nvSpPr>
          <p:cNvPr id="10" name="Shape 8"/>
          <p:cNvSpPr/>
          <p:nvPr/>
        </p:nvSpPr>
        <p:spPr>
          <a:xfrm>
            <a:off x="6309360" y="2011680"/>
            <a:ext cx="137160" cy="2926080"/>
          </a:xfrm>
          <a:prstGeom prst="rect">
            <a:avLst/>
          </a:prstGeom>
          <a:solidFill>
            <a:srgbClr val="2D7A4F"/>
          </a:solidFill>
          <a:ln/>
        </p:spPr>
      </p:sp>
      <p:sp>
        <p:nvSpPr>
          <p:cNvPr id="11" name="Text 9"/>
          <p:cNvSpPr/>
          <p:nvPr/>
        </p:nvSpPr>
        <p:spPr>
          <a:xfrm>
            <a:off x="6537960" y="2194560"/>
            <a:ext cx="4846320" cy="320040"/>
          </a:xfrm>
          <a:prstGeom prst="rect">
            <a:avLst/>
          </a:prstGeom>
          <a:noFill/>
          <a:ln/>
        </p:spPr>
        <p:txBody>
          <a:bodyPr wrap="square" lIns="0" tIns="0" rIns="0" bIns="0" rtlCol="0" anchor="ctr"/>
          <a:lstStyle/>
          <a:p>
            <a:pPr indent="0" marL="0">
              <a:buNone/>
            </a:pPr>
            <a:r>
              <a:rPr lang="en-US" sz="1200" b="1" spc="300" kern="0" dirty="0">
                <a:solidFill>
                  <a:srgbClr val="2D7A4F"/>
                </a:solidFill>
                <a:latin typeface="Calibri" pitchFamily="34" charset="0"/>
                <a:ea typeface="Calibri" pitchFamily="34" charset="-122"/>
                <a:cs typeface="Calibri" pitchFamily="34" charset="-120"/>
              </a:rPr>
              <a:t>ROZWIĄZANIE — AR</a:t>
            </a:r>
            <a:endParaRPr lang="en-US" sz="1200" dirty="0"/>
          </a:p>
        </p:txBody>
      </p:sp>
      <p:sp>
        <p:nvSpPr>
          <p:cNvPr id="12" name="Text 10"/>
          <p:cNvSpPr/>
          <p:nvPr/>
        </p:nvSpPr>
        <p:spPr>
          <a:xfrm>
            <a:off x="6537960" y="2651760"/>
            <a:ext cx="4846320" cy="2011680"/>
          </a:xfrm>
          <a:prstGeom prst="rect">
            <a:avLst/>
          </a:prstGeom>
          <a:noFill/>
          <a:ln/>
        </p:spPr>
        <p:txBody>
          <a:bodyPr wrap="square" lIns="0" tIns="0" rIns="0" bIns="0" rtlCol="0" anchor="t"/>
          <a:lstStyle/>
          <a:p>
            <a:pPr indent="0" marL="0">
              <a:buNone/>
            </a:pPr>
            <a:r>
              <a:rPr lang="en-US" sz="1700" dirty="0">
                <a:solidFill>
                  <a:srgbClr val="1E293B"/>
                </a:solidFill>
                <a:latin typeface="Calibri" pitchFamily="34" charset="0"/>
                <a:ea typeface="Calibri" pitchFamily="34" charset="-122"/>
                <a:cs typeface="Calibri" pitchFamily="34" charset="-120"/>
              </a:rPr>
              <a:t>IKEA Place (2017) + IKEA Kreativ (2022). Skanujesz pokój telefonem — wirtualnie ustawiasz meble w prawdziwej przestrzeni, przed zakupem.</a:t>
            </a:r>
            <a:endParaRPr lang="en-US" sz="1700" dirty="0"/>
          </a:p>
        </p:txBody>
      </p:sp>
      <p:sp>
        <p:nvSpPr>
          <p:cNvPr id="13" name="Shape 11"/>
          <p:cNvSpPr/>
          <p:nvPr/>
        </p:nvSpPr>
        <p:spPr>
          <a:xfrm>
            <a:off x="548640" y="5394960"/>
            <a:ext cx="11064240" cy="731520"/>
          </a:xfrm>
          <a:prstGeom prst="rect">
            <a:avLst/>
          </a:prstGeom>
          <a:solidFill>
            <a:srgbClr val="1C2541"/>
          </a:solidFill>
          <a:ln/>
        </p:spPr>
      </p:sp>
      <p:sp>
        <p:nvSpPr>
          <p:cNvPr id="14" name="Text 12"/>
          <p:cNvSpPr/>
          <p:nvPr/>
        </p:nvSpPr>
        <p:spPr>
          <a:xfrm>
            <a:off x="548640" y="5394960"/>
            <a:ext cx="11064240" cy="731520"/>
          </a:xfrm>
          <a:prstGeom prst="rect">
            <a:avLst/>
          </a:prstGeom>
          <a:noFill/>
          <a:ln/>
        </p:spPr>
        <p:txBody>
          <a:bodyPr wrap="square" lIns="0" tIns="0" rIns="0" bIns="0" rtlCol="0" anchor="ctr"/>
          <a:lstStyle/>
          <a:p>
            <a:pPr algn="ctr" indent="0" marL="0">
              <a:buNone/>
            </a:pPr>
            <a:r>
              <a:rPr lang="en-US" sz="1800" i="1" dirty="0">
                <a:solidFill>
                  <a:srgbClr val="FFFFFF"/>
                </a:solidFill>
                <a:latin typeface="Calibri" pitchFamily="34" charset="0"/>
                <a:ea typeface="Calibri" pitchFamily="34" charset="-122"/>
                <a:cs typeface="Calibri" pitchFamily="34" charset="-120"/>
              </a:rPr>
              <a:t>"IKEA usunęła barierę Aktywacji cyfrowo — nie sprzedażą ani rabatem."</a:t>
            </a:r>
            <a:endParaRPr lang="en-US" sz="1800" dirty="0"/>
          </a:p>
        </p:txBody>
      </p:sp>
      <p:sp>
        <p:nvSpPr>
          <p:cNvPr id="15" name="Text 13"/>
          <p:cNvSpPr/>
          <p:nvPr/>
        </p:nvSpPr>
        <p:spPr>
          <a:xfrm>
            <a:off x="548640" y="6263640"/>
            <a:ext cx="11064240" cy="182880"/>
          </a:xfrm>
          <a:prstGeom prst="rect">
            <a:avLst/>
          </a:prstGeom>
          <a:noFill/>
          <a:ln/>
        </p:spPr>
        <p:txBody>
          <a:bodyPr wrap="square"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IKEA: 504 sklepy · €45,1B sprzedaży 2024 · e-commerce ~7% (szacunkowe)  ·  Źródło: IKEA / FourWeekMBA</a:t>
            </a:r>
            <a:endParaRPr lang="en-US" sz="1000" dirty="0"/>
          </a:p>
        </p:txBody>
      </p:sp>
      <p:sp>
        <p:nvSpPr>
          <p:cNvPr id="16" name="Text 14"/>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17" name="Text 15"/>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7 / 16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D97E2B"/>
                </a:solidFill>
                <a:latin typeface="Calibri" pitchFamily="34" charset="0"/>
                <a:ea typeface="Calibri" pitchFamily="34" charset="-122"/>
                <a:cs typeface="Calibri" pitchFamily="34" charset="-120"/>
              </a:rPr>
              <a:t>C — CONVERT</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Konwersja — gdy zainteresowanie staje się transakcją</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W Polsce: mobile-first, BLIK, Paczkomat — nie dodatki, fundamenty</a:t>
            </a:r>
            <a:endParaRPr lang="en-US" sz="1500" dirty="0"/>
          </a:p>
        </p:txBody>
      </p:sp>
      <p:sp>
        <p:nvSpPr>
          <p:cNvPr id="5" name="Text 3"/>
          <p:cNvSpPr/>
          <p:nvPr/>
        </p:nvSpPr>
        <p:spPr>
          <a:xfrm>
            <a:off x="548640" y="1920240"/>
            <a:ext cx="5029200" cy="320040"/>
          </a:xfrm>
          <a:prstGeom prst="rect">
            <a:avLst/>
          </a:prstGeom>
          <a:noFill/>
          <a:ln/>
        </p:spPr>
        <p:txBody>
          <a:bodyPr wrap="square" lIns="0" tIns="0" rIns="0" bIns="0" rtlCol="0" anchor="ctr"/>
          <a:lstStyle/>
          <a:p>
            <a:pPr indent="0" marL="0">
              <a:buNone/>
            </a:pPr>
            <a:r>
              <a:rPr lang="en-US" sz="1200" b="1" spc="300" kern="0" dirty="0">
                <a:solidFill>
                  <a:srgbClr val="D97E2B"/>
                </a:solidFill>
                <a:latin typeface="Calibri" pitchFamily="34" charset="0"/>
                <a:ea typeface="Calibri" pitchFamily="34" charset="-122"/>
                <a:cs typeface="Calibri" pitchFamily="34" charset="-120"/>
              </a:rPr>
              <a:t>KANAŁY</a:t>
            </a:r>
            <a:endParaRPr lang="en-US" sz="1200" dirty="0"/>
          </a:p>
        </p:txBody>
      </p:sp>
      <p:sp>
        <p:nvSpPr>
          <p:cNvPr id="6" name="Shape 4"/>
          <p:cNvSpPr/>
          <p:nvPr/>
        </p:nvSpPr>
        <p:spPr>
          <a:xfrm>
            <a:off x="548640" y="2423160"/>
            <a:ext cx="91440" cy="274320"/>
          </a:xfrm>
          <a:prstGeom prst="rect">
            <a:avLst/>
          </a:prstGeom>
          <a:solidFill>
            <a:srgbClr val="D97E2B"/>
          </a:solidFill>
          <a:ln/>
        </p:spPr>
      </p:sp>
      <p:sp>
        <p:nvSpPr>
          <p:cNvPr id="7" name="Text 5"/>
          <p:cNvSpPr/>
          <p:nvPr/>
        </p:nvSpPr>
        <p:spPr>
          <a:xfrm>
            <a:off x="777240" y="237744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CRO — optymalizacja strony</a:t>
            </a:r>
            <a:endParaRPr lang="en-US" sz="1500" dirty="0"/>
          </a:p>
        </p:txBody>
      </p:sp>
      <p:sp>
        <p:nvSpPr>
          <p:cNvPr id="8" name="Shape 6"/>
          <p:cNvSpPr/>
          <p:nvPr/>
        </p:nvSpPr>
        <p:spPr>
          <a:xfrm>
            <a:off x="548640" y="2834640"/>
            <a:ext cx="91440" cy="274320"/>
          </a:xfrm>
          <a:prstGeom prst="rect">
            <a:avLst/>
          </a:prstGeom>
          <a:solidFill>
            <a:srgbClr val="D97E2B"/>
          </a:solidFill>
          <a:ln/>
        </p:spPr>
      </p:sp>
      <p:sp>
        <p:nvSpPr>
          <p:cNvPr id="9" name="Text 7"/>
          <p:cNvSpPr/>
          <p:nvPr/>
        </p:nvSpPr>
        <p:spPr>
          <a:xfrm>
            <a:off x="777240" y="278892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Retargeting</a:t>
            </a:r>
            <a:endParaRPr lang="en-US" sz="1500" dirty="0"/>
          </a:p>
        </p:txBody>
      </p:sp>
      <p:sp>
        <p:nvSpPr>
          <p:cNvPr id="10" name="Shape 8"/>
          <p:cNvSpPr/>
          <p:nvPr/>
        </p:nvSpPr>
        <p:spPr>
          <a:xfrm>
            <a:off x="548640" y="3246120"/>
            <a:ext cx="91440" cy="274320"/>
          </a:xfrm>
          <a:prstGeom prst="rect">
            <a:avLst/>
          </a:prstGeom>
          <a:solidFill>
            <a:srgbClr val="D97E2B"/>
          </a:solidFill>
          <a:ln/>
        </p:spPr>
      </p:sp>
      <p:sp>
        <p:nvSpPr>
          <p:cNvPr id="11" name="Text 9"/>
          <p:cNvSpPr/>
          <p:nvPr/>
        </p:nvSpPr>
        <p:spPr>
          <a:xfrm>
            <a:off x="777240" y="320040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Bramki płatności (BLIK!)</a:t>
            </a:r>
            <a:endParaRPr lang="en-US" sz="1500" dirty="0"/>
          </a:p>
        </p:txBody>
      </p:sp>
      <p:sp>
        <p:nvSpPr>
          <p:cNvPr id="12" name="Shape 10"/>
          <p:cNvSpPr/>
          <p:nvPr/>
        </p:nvSpPr>
        <p:spPr>
          <a:xfrm>
            <a:off x="548640" y="3657600"/>
            <a:ext cx="91440" cy="274320"/>
          </a:xfrm>
          <a:prstGeom prst="rect">
            <a:avLst/>
          </a:prstGeom>
          <a:solidFill>
            <a:srgbClr val="D97E2B"/>
          </a:solidFill>
          <a:ln/>
        </p:spPr>
      </p:sp>
      <p:sp>
        <p:nvSpPr>
          <p:cNvPr id="13" name="Text 11"/>
          <p:cNvSpPr/>
          <p:nvPr/>
        </p:nvSpPr>
        <p:spPr>
          <a:xfrm>
            <a:off x="777240" y="361188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Opcje dostawy (Paczkomat!)</a:t>
            </a:r>
            <a:endParaRPr lang="en-US" sz="1500" dirty="0"/>
          </a:p>
        </p:txBody>
      </p:sp>
      <p:sp>
        <p:nvSpPr>
          <p:cNvPr id="14" name="Shape 12"/>
          <p:cNvSpPr/>
          <p:nvPr/>
        </p:nvSpPr>
        <p:spPr>
          <a:xfrm>
            <a:off x="548640" y="4069080"/>
            <a:ext cx="91440" cy="274320"/>
          </a:xfrm>
          <a:prstGeom prst="rect">
            <a:avLst/>
          </a:prstGeom>
          <a:solidFill>
            <a:srgbClr val="D97E2B"/>
          </a:solidFill>
          <a:ln/>
        </p:spPr>
      </p:sp>
      <p:sp>
        <p:nvSpPr>
          <p:cNvPr id="15" name="Text 13"/>
          <p:cNvSpPr/>
          <p:nvPr/>
        </p:nvSpPr>
        <p:spPr>
          <a:xfrm>
            <a:off x="777240" y="402336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Promocje / kody rabatowe</a:t>
            </a:r>
            <a:endParaRPr lang="en-US" sz="1500" dirty="0"/>
          </a:p>
        </p:txBody>
      </p:sp>
      <p:sp>
        <p:nvSpPr>
          <p:cNvPr id="16" name="Text 14"/>
          <p:cNvSpPr/>
          <p:nvPr/>
        </p:nvSpPr>
        <p:spPr>
          <a:xfrm>
            <a:off x="6400800" y="1920240"/>
            <a:ext cx="5120640" cy="320040"/>
          </a:xfrm>
          <a:prstGeom prst="rect">
            <a:avLst/>
          </a:prstGeom>
          <a:noFill/>
          <a:ln/>
        </p:spPr>
        <p:txBody>
          <a:bodyPr wrap="square" lIns="0" tIns="0" rIns="0" bIns="0" rtlCol="0" anchor="ctr"/>
          <a:lstStyle/>
          <a:p>
            <a:pPr indent="0" marL="0">
              <a:buNone/>
            </a:pPr>
            <a:r>
              <a:rPr lang="en-US" sz="1200" b="1" spc="300" kern="0" dirty="0">
                <a:solidFill>
                  <a:srgbClr val="D97E2B"/>
                </a:solidFill>
                <a:latin typeface="Calibri" pitchFamily="34" charset="0"/>
                <a:ea typeface="Calibri" pitchFamily="34" charset="-122"/>
                <a:cs typeface="Calibri" pitchFamily="34" charset="-120"/>
              </a:rPr>
              <a:t>KPI</a:t>
            </a:r>
            <a:endParaRPr lang="en-US" sz="1200" dirty="0"/>
          </a:p>
        </p:txBody>
      </p:sp>
      <p:sp>
        <p:nvSpPr>
          <p:cNvPr id="17" name="Shape 15"/>
          <p:cNvSpPr/>
          <p:nvPr/>
        </p:nvSpPr>
        <p:spPr>
          <a:xfrm>
            <a:off x="6400800" y="2423160"/>
            <a:ext cx="91440" cy="274320"/>
          </a:xfrm>
          <a:prstGeom prst="rect">
            <a:avLst/>
          </a:prstGeom>
          <a:solidFill>
            <a:srgbClr val="D97E2B"/>
          </a:solidFill>
          <a:ln/>
        </p:spPr>
      </p:sp>
      <p:sp>
        <p:nvSpPr>
          <p:cNvPr id="18" name="Text 16"/>
          <p:cNvSpPr/>
          <p:nvPr/>
        </p:nvSpPr>
        <p:spPr>
          <a:xfrm>
            <a:off x="6629400" y="237744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Współczynnik konwersji</a:t>
            </a:r>
            <a:endParaRPr lang="en-US" sz="1500" dirty="0"/>
          </a:p>
        </p:txBody>
      </p:sp>
      <p:sp>
        <p:nvSpPr>
          <p:cNvPr id="19" name="Shape 17"/>
          <p:cNvSpPr/>
          <p:nvPr/>
        </p:nvSpPr>
        <p:spPr>
          <a:xfrm>
            <a:off x="6400800" y="2834640"/>
            <a:ext cx="91440" cy="274320"/>
          </a:xfrm>
          <a:prstGeom prst="rect">
            <a:avLst/>
          </a:prstGeom>
          <a:solidFill>
            <a:srgbClr val="D97E2B"/>
          </a:solidFill>
          <a:ln/>
        </p:spPr>
      </p:sp>
      <p:sp>
        <p:nvSpPr>
          <p:cNvPr id="20" name="Text 18"/>
          <p:cNvSpPr/>
          <p:nvPr/>
        </p:nvSpPr>
        <p:spPr>
          <a:xfrm>
            <a:off x="6629400" y="278892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Średnia wartość koszyka (AOV)</a:t>
            </a:r>
            <a:endParaRPr lang="en-US" sz="1500" dirty="0"/>
          </a:p>
        </p:txBody>
      </p:sp>
      <p:sp>
        <p:nvSpPr>
          <p:cNvPr id="21" name="Shape 19"/>
          <p:cNvSpPr/>
          <p:nvPr/>
        </p:nvSpPr>
        <p:spPr>
          <a:xfrm>
            <a:off x="6400800" y="3246120"/>
            <a:ext cx="91440" cy="274320"/>
          </a:xfrm>
          <a:prstGeom prst="rect">
            <a:avLst/>
          </a:prstGeom>
          <a:solidFill>
            <a:srgbClr val="D97E2B"/>
          </a:solidFill>
          <a:ln/>
        </p:spPr>
      </p:sp>
      <p:sp>
        <p:nvSpPr>
          <p:cNvPr id="22" name="Text 20"/>
          <p:cNvSpPr/>
          <p:nvPr/>
        </p:nvSpPr>
        <p:spPr>
          <a:xfrm>
            <a:off x="6629400" y="320040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Koszt pozyskania klienta (CPA)</a:t>
            </a:r>
            <a:endParaRPr lang="en-US" sz="1500" dirty="0"/>
          </a:p>
        </p:txBody>
      </p:sp>
      <p:sp>
        <p:nvSpPr>
          <p:cNvPr id="23" name="Shape 21"/>
          <p:cNvSpPr/>
          <p:nvPr/>
        </p:nvSpPr>
        <p:spPr>
          <a:xfrm>
            <a:off x="6400800" y="3657600"/>
            <a:ext cx="91440" cy="274320"/>
          </a:xfrm>
          <a:prstGeom prst="rect">
            <a:avLst/>
          </a:prstGeom>
          <a:solidFill>
            <a:srgbClr val="D97E2B"/>
          </a:solidFill>
          <a:ln/>
        </p:spPr>
      </p:sp>
      <p:sp>
        <p:nvSpPr>
          <p:cNvPr id="24" name="Text 22"/>
          <p:cNvSpPr/>
          <p:nvPr/>
        </p:nvSpPr>
        <p:spPr>
          <a:xfrm>
            <a:off x="6629400" y="361188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Porzucone koszyki</a:t>
            </a:r>
            <a:endParaRPr lang="en-US" sz="1500" dirty="0"/>
          </a:p>
        </p:txBody>
      </p:sp>
      <p:sp>
        <p:nvSpPr>
          <p:cNvPr id="25" name="Shape 23"/>
          <p:cNvSpPr/>
          <p:nvPr/>
        </p:nvSpPr>
        <p:spPr>
          <a:xfrm>
            <a:off x="6400800" y="4069080"/>
            <a:ext cx="91440" cy="274320"/>
          </a:xfrm>
          <a:prstGeom prst="rect">
            <a:avLst/>
          </a:prstGeom>
          <a:solidFill>
            <a:srgbClr val="D97E2B"/>
          </a:solidFill>
          <a:ln/>
        </p:spPr>
      </p:sp>
      <p:sp>
        <p:nvSpPr>
          <p:cNvPr id="26" name="Text 24"/>
          <p:cNvSpPr/>
          <p:nvPr/>
        </p:nvSpPr>
        <p:spPr>
          <a:xfrm>
            <a:off x="6629400" y="402336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ROAS</a:t>
            </a:r>
            <a:endParaRPr lang="en-US" sz="1500" dirty="0"/>
          </a:p>
        </p:txBody>
      </p:sp>
      <p:sp>
        <p:nvSpPr>
          <p:cNvPr id="27" name="Shape 25"/>
          <p:cNvSpPr/>
          <p:nvPr/>
        </p:nvSpPr>
        <p:spPr>
          <a:xfrm>
            <a:off x="548640" y="5394960"/>
            <a:ext cx="11064240" cy="822960"/>
          </a:xfrm>
          <a:prstGeom prst="rect">
            <a:avLst/>
          </a:prstGeom>
          <a:solidFill>
            <a:srgbClr val="D97E2B"/>
          </a:solidFill>
          <a:ln/>
        </p:spPr>
      </p:sp>
      <p:sp>
        <p:nvSpPr>
          <p:cNvPr id="28" name="Text 26"/>
          <p:cNvSpPr/>
          <p:nvPr/>
        </p:nvSpPr>
        <p:spPr>
          <a:xfrm>
            <a:off x="548640" y="5394960"/>
            <a:ext cx="368808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77% wizyt = mobile</a:t>
            </a:r>
            <a:endParaRPr lang="en-US" sz="1500" dirty="0"/>
          </a:p>
        </p:txBody>
      </p:sp>
      <p:sp>
        <p:nvSpPr>
          <p:cNvPr id="29" name="Text 27"/>
          <p:cNvSpPr/>
          <p:nvPr/>
        </p:nvSpPr>
        <p:spPr>
          <a:xfrm>
            <a:off x="4236720" y="5394960"/>
            <a:ext cx="368808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68% BLIK w e-commerce (+5pp r/r)</a:t>
            </a:r>
            <a:endParaRPr lang="en-US" sz="1500" dirty="0"/>
          </a:p>
        </p:txBody>
      </p:sp>
      <p:sp>
        <p:nvSpPr>
          <p:cNvPr id="30" name="Text 28"/>
          <p:cNvSpPr/>
          <p:nvPr/>
        </p:nvSpPr>
        <p:spPr>
          <a:xfrm>
            <a:off x="7924800" y="5394960"/>
            <a:ext cx="368808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81% Polaków woli Paczkomat</a:t>
            </a:r>
            <a:endParaRPr lang="en-US" sz="1500" dirty="0"/>
          </a:p>
        </p:txBody>
      </p:sp>
      <p:sp>
        <p:nvSpPr>
          <p:cNvPr id="31" name="Text 29"/>
          <p:cNvSpPr/>
          <p:nvPr/>
        </p:nvSpPr>
        <p:spPr>
          <a:xfrm>
            <a:off x="548640" y="6263640"/>
            <a:ext cx="11064240" cy="182880"/>
          </a:xfrm>
          <a:prstGeom prst="rect">
            <a:avLst/>
          </a:prstGeom>
          <a:noFill/>
          <a:ln/>
        </p:spPr>
        <p:txBody>
          <a:bodyPr wrap="square"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Źródła: Shopify/Statista 2025 · Gemius/PBI/IAB Polska E-commerce 2024</a:t>
            </a:r>
            <a:endParaRPr lang="en-US" sz="1000" dirty="0"/>
          </a:p>
        </p:txBody>
      </p:sp>
      <p:sp>
        <p:nvSpPr>
          <p:cNvPr id="32" name="Text 30"/>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33" name="Text 31"/>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8 / 16</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D97E2B"/>
                </a:solidFill>
                <a:latin typeface="Calibri" pitchFamily="34" charset="0"/>
                <a:ea typeface="Calibri" pitchFamily="34" charset="-122"/>
                <a:cs typeface="Calibri" pitchFamily="34" charset="-120"/>
              </a:rPr>
              <a:t>C — CONVERT · CASE STUDY</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Zalando: darmowe zwroty jako architektura konwersji</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Decyzja produktowa, nie promocja. Od 2008 roku.</a:t>
            </a:r>
            <a:endParaRPr lang="en-US" sz="1500" dirty="0"/>
          </a:p>
        </p:txBody>
      </p:sp>
      <p:sp>
        <p:nvSpPr>
          <p:cNvPr id="5" name="Shape 3"/>
          <p:cNvSpPr/>
          <p:nvPr/>
        </p:nvSpPr>
        <p:spPr>
          <a:xfrm>
            <a:off x="548640" y="2011680"/>
            <a:ext cx="11064240" cy="822960"/>
          </a:xfrm>
          <a:prstGeom prst="rect">
            <a:avLst/>
          </a:prstGeom>
          <a:solidFill>
            <a:srgbClr val="FFF0E4"/>
          </a:solidFill>
          <a:ln/>
        </p:spPr>
      </p:sp>
      <p:sp>
        <p:nvSpPr>
          <p:cNvPr id="6" name="Shape 4"/>
          <p:cNvSpPr/>
          <p:nvPr/>
        </p:nvSpPr>
        <p:spPr>
          <a:xfrm>
            <a:off x="548640" y="2011680"/>
            <a:ext cx="137160" cy="822960"/>
          </a:xfrm>
          <a:prstGeom prst="rect">
            <a:avLst/>
          </a:prstGeom>
          <a:solidFill>
            <a:srgbClr val="C0392B"/>
          </a:solidFill>
          <a:ln/>
        </p:spPr>
      </p:sp>
      <p:sp>
        <p:nvSpPr>
          <p:cNvPr id="7" name="Text 5"/>
          <p:cNvSpPr/>
          <p:nvPr/>
        </p:nvSpPr>
        <p:spPr>
          <a:xfrm>
            <a:off x="777240" y="2011680"/>
            <a:ext cx="2011680" cy="822960"/>
          </a:xfrm>
          <a:prstGeom prst="rect">
            <a:avLst/>
          </a:prstGeom>
          <a:noFill/>
          <a:ln/>
        </p:spPr>
        <p:txBody>
          <a:bodyPr wrap="square" lIns="0" tIns="0" rIns="0" bIns="0" rtlCol="0" anchor="ctr"/>
          <a:lstStyle/>
          <a:p>
            <a:pPr indent="0" marL="0">
              <a:buNone/>
            </a:pPr>
            <a:r>
              <a:rPr lang="en-US" sz="1200" b="1" spc="300" kern="0" dirty="0">
                <a:solidFill>
                  <a:srgbClr val="C0392B"/>
                </a:solidFill>
                <a:latin typeface="Calibri" pitchFamily="34" charset="0"/>
                <a:ea typeface="Calibri" pitchFamily="34" charset="-122"/>
                <a:cs typeface="Calibri" pitchFamily="34" charset="-120"/>
              </a:rPr>
              <a:t>PROBLEM  ·  </a:t>
            </a:r>
            <a:endParaRPr lang="en-US" sz="1200" dirty="0"/>
          </a:p>
        </p:txBody>
      </p:sp>
      <p:sp>
        <p:nvSpPr>
          <p:cNvPr id="8" name="Text 6"/>
          <p:cNvSpPr/>
          <p:nvPr/>
        </p:nvSpPr>
        <p:spPr>
          <a:xfrm>
            <a:off x="2011680" y="2011680"/>
            <a:ext cx="9601200" cy="82296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Klient w modzie online nie wie, czy rozmiar pasuje. Ryzyko zwrotu blokuje decyzję zakupową.</a:t>
            </a:r>
            <a:endParaRPr lang="en-US" sz="1600" dirty="0"/>
          </a:p>
        </p:txBody>
      </p:sp>
      <p:sp>
        <p:nvSpPr>
          <p:cNvPr id="9" name="Shape 7"/>
          <p:cNvSpPr/>
          <p:nvPr/>
        </p:nvSpPr>
        <p:spPr>
          <a:xfrm>
            <a:off x="548640" y="3017520"/>
            <a:ext cx="11064240" cy="822960"/>
          </a:xfrm>
          <a:prstGeom prst="rect">
            <a:avLst/>
          </a:prstGeom>
          <a:solidFill>
            <a:srgbClr val="E8F5EA"/>
          </a:solidFill>
          <a:ln/>
        </p:spPr>
      </p:sp>
      <p:sp>
        <p:nvSpPr>
          <p:cNvPr id="10" name="Shape 8"/>
          <p:cNvSpPr/>
          <p:nvPr/>
        </p:nvSpPr>
        <p:spPr>
          <a:xfrm>
            <a:off x="548640" y="3017520"/>
            <a:ext cx="137160" cy="822960"/>
          </a:xfrm>
          <a:prstGeom prst="rect">
            <a:avLst/>
          </a:prstGeom>
          <a:solidFill>
            <a:srgbClr val="2D7A4F"/>
          </a:solidFill>
          <a:ln/>
        </p:spPr>
      </p:sp>
      <p:sp>
        <p:nvSpPr>
          <p:cNvPr id="11" name="Text 9"/>
          <p:cNvSpPr/>
          <p:nvPr/>
        </p:nvSpPr>
        <p:spPr>
          <a:xfrm>
            <a:off x="777240" y="3017520"/>
            <a:ext cx="2468880" cy="822960"/>
          </a:xfrm>
          <a:prstGeom prst="rect">
            <a:avLst/>
          </a:prstGeom>
          <a:noFill/>
          <a:ln/>
        </p:spPr>
        <p:txBody>
          <a:bodyPr wrap="square" lIns="0" tIns="0" rIns="0" bIns="0" rtlCol="0" anchor="ctr"/>
          <a:lstStyle/>
          <a:p>
            <a:pPr indent="0" marL="0">
              <a:buNone/>
            </a:pPr>
            <a:r>
              <a:rPr lang="en-US" sz="1200" b="1" spc="300" kern="0" dirty="0">
                <a:solidFill>
                  <a:srgbClr val="2D7A4F"/>
                </a:solidFill>
                <a:latin typeface="Calibri" pitchFamily="34" charset="0"/>
                <a:ea typeface="Calibri" pitchFamily="34" charset="-122"/>
                <a:cs typeface="Calibri" pitchFamily="34" charset="-120"/>
              </a:rPr>
              <a:t>ROZWIĄZANIE  ·  </a:t>
            </a:r>
            <a:endParaRPr lang="en-US" sz="1200" dirty="0"/>
          </a:p>
        </p:txBody>
      </p:sp>
      <p:sp>
        <p:nvSpPr>
          <p:cNvPr id="12" name="Text 10"/>
          <p:cNvSpPr/>
          <p:nvPr/>
        </p:nvSpPr>
        <p:spPr>
          <a:xfrm>
            <a:off x="2468880" y="3017520"/>
            <a:ext cx="9144000" cy="82296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Darmowe zwroty od 2008 — eliminują ryzyko. Konwersja rośnie.</a:t>
            </a:r>
            <a:endParaRPr lang="en-US" sz="1600" dirty="0"/>
          </a:p>
        </p:txBody>
      </p:sp>
      <p:sp>
        <p:nvSpPr>
          <p:cNvPr id="13" name="Shape 11"/>
          <p:cNvSpPr/>
          <p:nvPr/>
        </p:nvSpPr>
        <p:spPr>
          <a:xfrm>
            <a:off x="548640" y="4114800"/>
            <a:ext cx="11064240" cy="1005840"/>
          </a:xfrm>
          <a:prstGeom prst="rect">
            <a:avLst/>
          </a:prstGeom>
          <a:solidFill>
            <a:srgbClr val="1C2541"/>
          </a:solidFill>
          <a:ln/>
        </p:spPr>
      </p:sp>
      <p:sp>
        <p:nvSpPr>
          <p:cNvPr id="14" name="Text 12"/>
          <p:cNvSpPr/>
          <p:nvPr/>
        </p:nvSpPr>
        <p:spPr>
          <a:xfrm>
            <a:off x="548640" y="4114800"/>
            <a:ext cx="11064240" cy="1005840"/>
          </a:xfrm>
          <a:prstGeom prst="rect">
            <a:avLst/>
          </a:prstGeom>
          <a:noFill/>
          <a:ln/>
        </p:spPr>
        <p:txBody>
          <a:bodyPr wrap="square" lIns="0" tIns="0" rIns="0" bIns="0" rtlCol="0" anchor="ctr"/>
          <a:lstStyle/>
          <a:p>
            <a:pPr algn="ctr" indent="0" marL="0">
              <a:buNone/>
            </a:pPr>
            <a:r>
              <a:rPr lang="en-US" sz="2200" b="1" i="1" dirty="0">
                <a:solidFill>
                  <a:srgbClr val="FFFFFF"/>
                </a:solidFill>
                <a:latin typeface="Calibri" pitchFamily="34" charset="0"/>
                <a:ea typeface="Calibri" pitchFamily="34" charset="-122"/>
                <a:cs typeface="Calibri" pitchFamily="34" charset="-120"/>
              </a:rPr>
              <a:t>"Infrastruktura konwersji = inwestycja strategiczna, nie koszt."</a:t>
            </a:r>
            <a:endParaRPr lang="en-US" sz="2200" dirty="0"/>
          </a:p>
        </p:txBody>
      </p:sp>
      <p:sp>
        <p:nvSpPr>
          <p:cNvPr id="15" name="Text 13"/>
          <p:cNvSpPr/>
          <p:nvPr/>
        </p:nvSpPr>
        <p:spPr>
          <a:xfrm>
            <a:off x="548640" y="5943600"/>
            <a:ext cx="11064240" cy="274320"/>
          </a:xfrm>
          <a:prstGeom prst="rect">
            <a:avLst/>
          </a:prstGeom>
          <a:noFill/>
          <a:ln/>
        </p:spPr>
        <p:txBody>
          <a:bodyPr wrap="square"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Zalando: €10,6B przychodów (2024) · 51M+ aktywnych użytkowników · 25 rynków europejskich</a:t>
            </a:r>
            <a:endParaRPr lang="en-US" sz="1200" dirty="0"/>
          </a:p>
        </p:txBody>
      </p:sp>
      <p:sp>
        <p:nvSpPr>
          <p:cNvPr id="16" name="Text 14"/>
          <p:cNvSpPr/>
          <p:nvPr/>
        </p:nvSpPr>
        <p:spPr>
          <a:xfrm>
            <a:off x="548640" y="6263640"/>
            <a:ext cx="11064240" cy="182880"/>
          </a:xfrm>
          <a:prstGeom prst="rect">
            <a:avLst/>
          </a:prstGeom>
          <a:noFill/>
          <a:ln/>
        </p:spPr>
        <p:txBody>
          <a:bodyPr wrap="square"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Źródło: Zalando / FourWeekMBA</a:t>
            </a:r>
            <a:endParaRPr lang="en-US" sz="1000" dirty="0"/>
          </a:p>
        </p:txBody>
      </p:sp>
      <p:sp>
        <p:nvSpPr>
          <p:cNvPr id="17" name="Text 15"/>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18" name="Text 16"/>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9 / 16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7A3F8F"/>
                </a:solidFill>
                <a:latin typeface="Calibri" pitchFamily="34" charset="0"/>
                <a:ea typeface="Calibri" pitchFamily="34" charset="-122"/>
                <a:cs typeface="Calibri" pitchFamily="34" charset="-120"/>
              </a:rPr>
              <a:t>E — ENGAGE</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Zaangażowanie — co dzieje się PO zakupie?</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Większość firm traktuje Engage jak 'miły dodatek'. To jeden z najkosztowniejszych błędów.</a:t>
            </a:r>
            <a:endParaRPr lang="en-US" sz="1500" dirty="0"/>
          </a:p>
        </p:txBody>
      </p:sp>
      <p:sp>
        <p:nvSpPr>
          <p:cNvPr id="5" name="Text 3"/>
          <p:cNvSpPr/>
          <p:nvPr/>
        </p:nvSpPr>
        <p:spPr>
          <a:xfrm>
            <a:off x="548640" y="1920240"/>
            <a:ext cx="5029200" cy="320040"/>
          </a:xfrm>
          <a:prstGeom prst="rect">
            <a:avLst/>
          </a:prstGeom>
          <a:noFill/>
          <a:ln/>
        </p:spPr>
        <p:txBody>
          <a:bodyPr wrap="square" lIns="0" tIns="0" rIns="0" bIns="0" rtlCol="0" anchor="ctr"/>
          <a:lstStyle/>
          <a:p>
            <a:pPr indent="0" marL="0">
              <a:buNone/>
            </a:pPr>
            <a:r>
              <a:rPr lang="en-US" sz="1200" b="1" spc="300" kern="0" dirty="0">
                <a:solidFill>
                  <a:srgbClr val="7A3F8F"/>
                </a:solidFill>
                <a:latin typeface="Calibri" pitchFamily="34" charset="0"/>
                <a:ea typeface="Calibri" pitchFamily="34" charset="-122"/>
                <a:cs typeface="Calibri" pitchFamily="34" charset="-120"/>
              </a:rPr>
              <a:t>KANAŁY</a:t>
            </a:r>
            <a:endParaRPr lang="en-US" sz="1200" dirty="0"/>
          </a:p>
        </p:txBody>
      </p:sp>
      <p:sp>
        <p:nvSpPr>
          <p:cNvPr id="6" name="Shape 4"/>
          <p:cNvSpPr/>
          <p:nvPr/>
        </p:nvSpPr>
        <p:spPr>
          <a:xfrm>
            <a:off x="548640" y="2423160"/>
            <a:ext cx="91440" cy="274320"/>
          </a:xfrm>
          <a:prstGeom prst="rect">
            <a:avLst/>
          </a:prstGeom>
          <a:solidFill>
            <a:srgbClr val="7A3F8F"/>
          </a:solidFill>
          <a:ln/>
        </p:spPr>
      </p:sp>
      <p:sp>
        <p:nvSpPr>
          <p:cNvPr id="7" name="Text 5"/>
          <p:cNvSpPr/>
          <p:nvPr/>
        </p:nvSpPr>
        <p:spPr>
          <a:xfrm>
            <a:off x="777240" y="237744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Email Automation (retencja)</a:t>
            </a:r>
            <a:endParaRPr lang="en-US" sz="1500" dirty="0"/>
          </a:p>
        </p:txBody>
      </p:sp>
      <p:sp>
        <p:nvSpPr>
          <p:cNvPr id="8" name="Shape 6"/>
          <p:cNvSpPr/>
          <p:nvPr/>
        </p:nvSpPr>
        <p:spPr>
          <a:xfrm>
            <a:off x="548640" y="2834640"/>
            <a:ext cx="91440" cy="274320"/>
          </a:xfrm>
          <a:prstGeom prst="rect">
            <a:avLst/>
          </a:prstGeom>
          <a:solidFill>
            <a:srgbClr val="7A3F8F"/>
          </a:solidFill>
          <a:ln/>
        </p:spPr>
      </p:sp>
      <p:sp>
        <p:nvSpPr>
          <p:cNvPr id="9" name="Text 7"/>
          <p:cNvSpPr/>
          <p:nvPr/>
        </p:nvSpPr>
        <p:spPr>
          <a:xfrm>
            <a:off x="777240" y="278892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Program lojalnościowy</a:t>
            </a:r>
            <a:endParaRPr lang="en-US" sz="1500" dirty="0"/>
          </a:p>
        </p:txBody>
      </p:sp>
      <p:sp>
        <p:nvSpPr>
          <p:cNvPr id="10" name="Shape 8"/>
          <p:cNvSpPr/>
          <p:nvPr/>
        </p:nvSpPr>
        <p:spPr>
          <a:xfrm>
            <a:off x="548640" y="3246120"/>
            <a:ext cx="91440" cy="274320"/>
          </a:xfrm>
          <a:prstGeom prst="rect">
            <a:avLst/>
          </a:prstGeom>
          <a:solidFill>
            <a:srgbClr val="7A3F8F"/>
          </a:solidFill>
          <a:ln/>
        </p:spPr>
      </p:sp>
      <p:sp>
        <p:nvSpPr>
          <p:cNvPr id="11" name="Text 9"/>
          <p:cNvSpPr/>
          <p:nvPr/>
        </p:nvSpPr>
        <p:spPr>
          <a:xfrm>
            <a:off x="777240" y="320040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Budowanie społeczności</a:t>
            </a:r>
            <a:endParaRPr lang="en-US" sz="1500" dirty="0"/>
          </a:p>
        </p:txBody>
      </p:sp>
      <p:sp>
        <p:nvSpPr>
          <p:cNvPr id="12" name="Shape 10"/>
          <p:cNvSpPr/>
          <p:nvPr/>
        </p:nvSpPr>
        <p:spPr>
          <a:xfrm>
            <a:off x="548640" y="3657600"/>
            <a:ext cx="91440" cy="274320"/>
          </a:xfrm>
          <a:prstGeom prst="rect">
            <a:avLst/>
          </a:prstGeom>
          <a:solidFill>
            <a:srgbClr val="7A3F8F"/>
          </a:solidFill>
          <a:ln/>
        </p:spPr>
      </p:sp>
      <p:sp>
        <p:nvSpPr>
          <p:cNvPr id="13" name="Text 11"/>
          <p:cNvSpPr/>
          <p:nvPr/>
        </p:nvSpPr>
        <p:spPr>
          <a:xfrm>
            <a:off x="777240" y="361188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Treści ekskluzywne dla klientów</a:t>
            </a:r>
            <a:endParaRPr lang="en-US" sz="1500" dirty="0"/>
          </a:p>
        </p:txBody>
      </p:sp>
      <p:sp>
        <p:nvSpPr>
          <p:cNvPr id="14" name="Shape 12"/>
          <p:cNvSpPr/>
          <p:nvPr/>
        </p:nvSpPr>
        <p:spPr>
          <a:xfrm>
            <a:off x="548640" y="4069080"/>
            <a:ext cx="91440" cy="274320"/>
          </a:xfrm>
          <a:prstGeom prst="rect">
            <a:avLst/>
          </a:prstGeom>
          <a:solidFill>
            <a:srgbClr val="7A3F8F"/>
          </a:solidFill>
          <a:ln/>
        </p:spPr>
      </p:sp>
      <p:sp>
        <p:nvSpPr>
          <p:cNvPr id="15" name="Text 13"/>
          <p:cNvSpPr/>
          <p:nvPr/>
        </p:nvSpPr>
        <p:spPr>
          <a:xfrm>
            <a:off x="777240" y="4023360"/>
            <a:ext cx="457200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NPS / feedback loop</a:t>
            </a:r>
            <a:endParaRPr lang="en-US" sz="1500" dirty="0"/>
          </a:p>
        </p:txBody>
      </p:sp>
      <p:sp>
        <p:nvSpPr>
          <p:cNvPr id="16" name="Text 14"/>
          <p:cNvSpPr/>
          <p:nvPr/>
        </p:nvSpPr>
        <p:spPr>
          <a:xfrm>
            <a:off x="6400800" y="1920240"/>
            <a:ext cx="5120640" cy="320040"/>
          </a:xfrm>
          <a:prstGeom prst="rect">
            <a:avLst/>
          </a:prstGeom>
          <a:noFill/>
          <a:ln/>
        </p:spPr>
        <p:txBody>
          <a:bodyPr wrap="square" lIns="0" tIns="0" rIns="0" bIns="0" rtlCol="0" anchor="ctr"/>
          <a:lstStyle/>
          <a:p>
            <a:pPr indent="0" marL="0">
              <a:buNone/>
            </a:pPr>
            <a:r>
              <a:rPr lang="en-US" sz="1200" b="1" spc="300" kern="0" dirty="0">
                <a:solidFill>
                  <a:srgbClr val="7A3F8F"/>
                </a:solidFill>
                <a:latin typeface="Calibri" pitchFamily="34" charset="0"/>
                <a:ea typeface="Calibri" pitchFamily="34" charset="-122"/>
                <a:cs typeface="Calibri" pitchFamily="34" charset="-120"/>
              </a:rPr>
              <a:t>KPI</a:t>
            </a:r>
            <a:endParaRPr lang="en-US" sz="1200" dirty="0"/>
          </a:p>
        </p:txBody>
      </p:sp>
      <p:sp>
        <p:nvSpPr>
          <p:cNvPr id="17" name="Shape 15"/>
          <p:cNvSpPr/>
          <p:nvPr/>
        </p:nvSpPr>
        <p:spPr>
          <a:xfrm>
            <a:off x="6400800" y="2423160"/>
            <a:ext cx="91440" cy="274320"/>
          </a:xfrm>
          <a:prstGeom prst="rect">
            <a:avLst/>
          </a:prstGeom>
          <a:solidFill>
            <a:srgbClr val="7A3F8F"/>
          </a:solidFill>
          <a:ln/>
        </p:spPr>
      </p:sp>
      <p:sp>
        <p:nvSpPr>
          <p:cNvPr id="18" name="Text 16"/>
          <p:cNvSpPr/>
          <p:nvPr/>
        </p:nvSpPr>
        <p:spPr>
          <a:xfrm>
            <a:off x="6629400" y="237744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Customer Lifetime Value (CLV)</a:t>
            </a:r>
            <a:endParaRPr lang="en-US" sz="1500" dirty="0"/>
          </a:p>
        </p:txBody>
      </p:sp>
      <p:sp>
        <p:nvSpPr>
          <p:cNvPr id="19" name="Shape 17"/>
          <p:cNvSpPr/>
          <p:nvPr/>
        </p:nvSpPr>
        <p:spPr>
          <a:xfrm>
            <a:off x="6400800" y="2834640"/>
            <a:ext cx="91440" cy="274320"/>
          </a:xfrm>
          <a:prstGeom prst="rect">
            <a:avLst/>
          </a:prstGeom>
          <a:solidFill>
            <a:srgbClr val="7A3F8F"/>
          </a:solidFill>
          <a:ln/>
        </p:spPr>
      </p:sp>
      <p:sp>
        <p:nvSpPr>
          <p:cNvPr id="20" name="Text 18"/>
          <p:cNvSpPr/>
          <p:nvPr/>
        </p:nvSpPr>
        <p:spPr>
          <a:xfrm>
            <a:off x="6629400" y="278892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Net Promoter Score (NPS)</a:t>
            </a:r>
            <a:endParaRPr lang="en-US" sz="1500" dirty="0"/>
          </a:p>
        </p:txBody>
      </p:sp>
      <p:sp>
        <p:nvSpPr>
          <p:cNvPr id="21" name="Shape 19"/>
          <p:cNvSpPr/>
          <p:nvPr/>
        </p:nvSpPr>
        <p:spPr>
          <a:xfrm>
            <a:off x="6400800" y="3246120"/>
            <a:ext cx="91440" cy="274320"/>
          </a:xfrm>
          <a:prstGeom prst="rect">
            <a:avLst/>
          </a:prstGeom>
          <a:solidFill>
            <a:srgbClr val="7A3F8F"/>
          </a:solidFill>
          <a:ln/>
        </p:spPr>
      </p:sp>
      <p:sp>
        <p:nvSpPr>
          <p:cNvPr id="22" name="Text 20"/>
          <p:cNvSpPr/>
          <p:nvPr/>
        </p:nvSpPr>
        <p:spPr>
          <a:xfrm>
            <a:off x="6629400" y="320040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Wskaźnik powtórnych zakupów</a:t>
            </a:r>
            <a:endParaRPr lang="en-US" sz="1500" dirty="0"/>
          </a:p>
        </p:txBody>
      </p:sp>
      <p:sp>
        <p:nvSpPr>
          <p:cNvPr id="23" name="Shape 21"/>
          <p:cNvSpPr/>
          <p:nvPr/>
        </p:nvSpPr>
        <p:spPr>
          <a:xfrm>
            <a:off x="6400800" y="3657600"/>
            <a:ext cx="91440" cy="274320"/>
          </a:xfrm>
          <a:prstGeom prst="rect">
            <a:avLst/>
          </a:prstGeom>
          <a:solidFill>
            <a:srgbClr val="7A3F8F"/>
          </a:solidFill>
          <a:ln/>
        </p:spPr>
      </p:sp>
      <p:sp>
        <p:nvSpPr>
          <p:cNvPr id="24" name="Text 22"/>
          <p:cNvSpPr/>
          <p:nvPr/>
        </p:nvSpPr>
        <p:spPr>
          <a:xfrm>
            <a:off x="6629400" y="361188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Churn rate</a:t>
            </a:r>
            <a:endParaRPr lang="en-US" sz="1500" dirty="0"/>
          </a:p>
        </p:txBody>
      </p:sp>
      <p:sp>
        <p:nvSpPr>
          <p:cNvPr id="25" name="Shape 23"/>
          <p:cNvSpPr/>
          <p:nvPr/>
        </p:nvSpPr>
        <p:spPr>
          <a:xfrm>
            <a:off x="6400800" y="4069080"/>
            <a:ext cx="91440" cy="274320"/>
          </a:xfrm>
          <a:prstGeom prst="rect">
            <a:avLst/>
          </a:prstGeom>
          <a:solidFill>
            <a:srgbClr val="7A3F8F"/>
          </a:solidFill>
          <a:ln/>
        </p:spPr>
      </p:sp>
      <p:sp>
        <p:nvSpPr>
          <p:cNvPr id="26" name="Text 24"/>
          <p:cNvSpPr/>
          <p:nvPr/>
        </p:nvSpPr>
        <p:spPr>
          <a:xfrm>
            <a:off x="6629400" y="4023360"/>
            <a:ext cx="4846320" cy="3657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Open rate + CTR retencyjnych</a:t>
            </a:r>
            <a:endParaRPr lang="en-US" sz="1500" dirty="0"/>
          </a:p>
        </p:txBody>
      </p:sp>
      <p:sp>
        <p:nvSpPr>
          <p:cNvPr id="27" name="Shape 25"/>
          <p:cNvSpPr/>
          <p:nvPr/>
        </p:nvSpPr>
        <p:spPr>
          <a:xfrm>
            <a:off x="548640" y="5394960"/>
            <a:ext cx="11064240" cy="822960"/>
          </a:xfrm>
          <a:prstGeom prst="rect">
            <a:avLst/>
          </a:prstGeom>
          <a:solidFill>
            <a:srgbClr val="7A3F8F"/>
          </a:solidFill>
          <a:ln/>
        </p:spPr>
      </p:sp>
      <p:sp>
        <p:nvSpPr>
          <p:cNvPr id="28" name="Text 26"/>
          <p:cNvSpPr/>
          <p:nvPr/>
        </p:nvSpPr>
        <p:spPr>
          <a:xfrm>
            <a:off x="548640" y="5394960"/>
            <a:ext cx="11064240" cy="82296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Email ROI: $36–$50 zwrotu na każdy $1  </a:t>
            </a:r>
            <a:pPr algn="ctr" indent="0" marL="0">
              <a:buNone/>
            </a:pPr>
            <a:r>
              <a:rPr lang="en-US" sz="2000" dirty="0">
                <a:solidFill>
                  <a:srgbClr val="FFD4A8"/>
                </a:solidFill>
                <a:latin typeface="Calibri" pitchFamily="34" charset="0"/>
                <a:ea typeface="Calibri" pitchFamily="34" charset="-122"/>
                <a:cs typeface="Calibri" pitchFamily="34" charset="-120"/>
              </a:rPr>
              <a:t>→  </a:t>
            </a:r>
            <a:pPr algn="ctr" indent="0" marL="0">
              <a:buNone/>
            </a:pPr>
            <a:r>
              <a:rPr lang="en-US" sz="1500" i="1" dirty="0">
                <a:solidFill>
                  <a:srgbClr val="FFFFFF"/>
                </a:solidFill>
                <a:latin typeface="Calibri" pitchFamily="34" charset="0"/>
                <a:ea typeface="Calibri" pitchFamily="34" charset="-122"/>
                <a:cs typeface="Calibri" pitchFamily="34" charset="-120"/>
              </a:rPr>
              <a:t>Zaangażowanie tworzy nowy Zasięg (pętla RACE)</a:t>
            </a:r>
            <a:endParaRPr lang="en-US" sz="1700" dirty="0"/>
          </a:p>
        </p:txBody>
      </p:sp>
      <p:sp>
        <p:nvSpPr>
          <p:cNvPr id="29" name="Text 27"/>
          <p:cNvSpPr/>
          <p:nvPr/>
        </p:nvSpPr>
        <p:spPr>
          <a:xfrm>
            <a:off x="548640" y="6263640"/>
            <a:ext cx="11064240" cy="182880"/>
          </a:xfrm>
          <a:prstGeom prst="rect">
            <a:avLst/>
          </a:prstGeom>
          <a:noFill/>
          <a:ln/>
        </p:spPr>
        <p:txBody>
          <a:bodyPr wrap="square"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Źródło: Litmus State of Email 2025</a:t>
            </a:r>
            <a:endParaRPr lang="en-US" sz="1000" dirty="0"/>
          </a:p>
        </p:txBody>
      </p:sp>
      <p:sp>
        <p:nvSpPr>
          <p:cNvPr id="30" name="Text 28"/>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31" name="Text 29"/>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10 / 16</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7A3F8F"/>
                </a:solidFill>
                <a:latin typeface="Calibri" pitchFamily="34" charset="0"/>
                <a:ea typeface="Calibri" pitchFamily="34" charset="-122"/>
                <a:cs typeface="Calibri" pitchFamily="34" charset="-120"/>
              </a:rPr>
              <a:t>E — ENGAGE · CASE STUDY</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Spotify Wrapped — Engage tworzy Zasięg</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12 miesięcy słuchania → 1 wydarzenie tożsamościowe → 1,2M+ postów</a:t>
            </a:r>
            <a:endParaRPr lang="en-US" sz="1500" dirty="0"/>
          </a:p>
        </p:txBody>
      </p:sp>
      <p:sp>
        <p:nvSpPr>
          <p:cNvPr id="5" name="Shape 3"/>
          <p:cNvSpPr/>
          <p:nvPr/>
        </p:nvSpPr>
        <p:spPr>
          <a:xfrm>
            <a:off x="548640" y="2011680"/>
            <a:ext cx="5303520" cy="2743200"/>
          </a:xfrm>
          <a:prstGeom prst="rect">
            <a:avLst/>
          </a:prstGeom>
          <a:solidFill>
            <a:srgbClr val="F3E8FA"/>
          </a:solidFill>
          <a:ln/>
        </p:spPr>
      </p:sp>
      <p:sp>
        <p:nvSpPr>
          <p:cNvPr id="6" name="Shape 4"/>
          <p:cNvSpPr/>
          <p:nvPr/>
        </p:nvSpPr>
        <p:spPr>
          <a:xfrm>
            <a:off x="548640" y="2011680"/>
            <a:ext cx="137160" cy="2743200"/>
          </a:xfrm>
          <a:prstGeom prst="rect">
            <a:avLst/>
          </a:prstGeom>
          <a:solidFill>
            <a:srgbClr val="7A3F8F"/>
          </a:solidFill>
          <a:ln/>
        </p:spPr>
      </p:sp>
      <p:sp>
        <p:nvSpPr>
          <p:cNvPr id="7" name="Text 5"/>
          <p:cNvSpPr/>
          <p:nvPr/>
        </p:nvSpPr>
        <p:spPr>
          <a:xfrm>
            <a:off x="777240" y="2194560"/>
            <a:ext cx="4846320" cy="320040"/>
          </a:xfrm>
          <a:prstGeom prst="rect">
            <a:avLst/>
          </a:prstGeom>
          <a:noFill/>
          <a:ln/>
        </p:spPr>
        <p:txBody>
          <a:bodyPr wrap="square" lIns="0" tIns="0" rIns="0" bIns="0" rtlCol="0" anchor="ctr"/>
          <a:lstStyle/>
          <a:p>
            <a:pPr indent="0" marL="0">
              <a:buNone/>
            </a:pPr>
            <a:r>
              <a:rPr lang="en-US" sz="1200" b="1" spc="300" kern="0" dirty="0">
                <a:solidFill>
                  <a:srgbClr val="7A3F8F"/>
                </a:solidFill>
                <a:latin typeface="Calibri" pitchFamily="34" charset="0"/>
                <a:ea typeface="Calibri" pitchFamily="34" charset="-122"/>
                <a:cs typeface="Calibri" pitchFamily="34" charset="-120"/>
              </a:rPr>
              <a:t>MECHANIKA</a:t>
            </a:r>
            <a:endParaRPr lang="en-US" sz="1200" dirty="0"/>
          </a:p>
        </p:txBody>
      </p:sp>
      <p:sp>
        <p:nvSpPr>
          <p:cNvPr id="8" name="Text 6"/>
          <p:cNvSpPr/>
          <p:nvPr/>
        </p:nvSpPr>
        <p:spPr>
          <a:xfrm>
            <a:off x="777240" y="2560320"/>
            <a:ext cx="4846320" cy="640080"/>
          </a:xfrm>
          <a:prstGeom prst="rect">
            <a:avLst/>
          </a:prstGeom>
          <a:noFill/>
          <a:ln/>
        </p:spPr>
        <p:txBody>
          <a:bodyPr wrap="square" lIns="0" tIns="0" rIns="0" bIns="0" rtlCol="0" anchor="t"/>
          <a:lstStyle/>
          <a:p>
            <a:pPr indent="0" marL="0">
              <a:buNone/>
            </a:pPr>
            <a:r>
              <a:rPr lang="en-US" sz="2000" b="1" dirty="0">
                <a:solidFill>
                  <a:srgbClr val="1E293B"/>
                </a:solidFill>
                <a:latin typeface="Calibri" pitchFamily="34" charset="0"/>
                <a:ea typeface="Calibri" pitchFamily="34" charset="-122"/>
                <a:cs typeface="Calibri" pitchFamily="34" charset="-120"/>
              </a:rPr>
              <a:t>12 miesięcy słuchania → 1 wydarzenie tożsamościowe.</a:t>
            </a:r>
            <a:endParaRPr lang="en-US" sz="2000" dirty="0"/>
          </a:p>
        </p:txBody>
      </p:sp>
      <p:sp>
        <p:nvSpPr>
          <p:cNvPr id="9" name="Text 7"/>
          <p:cNvSpPr/>
          <p:nvPr/>
        </p:nvSpPr>
        <p:spPr>
          <a:xfrm>
            <a:off x="777240" y="3383280"/>
            <a:ext cx="4846320" cy="1188720"/>
          </a:xfrm>
          <a:prstGeom prst="rect">
            <a:avLst/>
          </a:prstGeom>
          <a:noFill/>
          <a:ln/>
        </p:spPr>
        <p:txBody>
          <a:bodyPr wrap="square" lIns="0" tIns="0" rIns="0" bIns="0" rtlCol="0" anchor="t"/>
          <a:lstStyle/>
          <a:p>
            <a:pPr indent="0" marL="0">
              <a:buNone/>
            </a:pPr>
            <a:r>
              <a:rPr lang="en-US" sz="1400" dirty="0">
                <a:solidFill>
                  <a:srgbClr val="475569"/>
                </a:solidFill>
                <a:latin typeface="Calibri" pitchFamily="34" charset="0"/>
                <a:ea typeface="Calibri" pitchFamily="34" charset="-122"/>
                <a:cs typeface="Calibri" pitchFamily="34" charset="-120"/>
              </a:rPr>
              <a:t>Personalizacja danych słuchacza jako treść do publicznego udostępnienia. To nie statystyka — to lustro tożsamości.</a:t>
            </a:r>
            <a:endParaRPr lang="en-US" sz="1400" dirty="0"/>
          </a:p>
        </p:txBody>
      </p:sp>
      <p:sp>
        <p:nvSpPr>
          <p:cNvPr id="10" name="Shape 8"/>
          <p:cNvSpPr/>
          <p:nvPr/>
        </p:nvSpPr>
        <p:spPr>
          <a:xfrm>
            <a:off x="6309360" y="2011680"/>
            <a:ext cx="5303520" cy="2743200"/>
          </a:xfrm>
          <a:prstGeom prst="rect">
            <a:avLst/>
          </a:prstGeom>
          <a:solidFill>
            <a:srgbClr val="7A3F8F"/>
          </a:solidFill>
          <a:ln/>
        </p:spPr>
      </p:sp>
      <p:sp>
        <p:nvSpPr>
          <p:cNvPr id="11" name="Text 9"/>
          <p:cNvSpPr/>
          <p:nvPr/>
        </p:nvSpPr>
        <p:spPr>
          <a:xfrm>
            <a:off x="6537960" y="2194560"/>
            <a:ext cx="4846320" cy="320040"/>
          </a:xfrm>
          <a:prstGeom prst="rect">
            <a:avLst/>
          </a:prstGeom>
          <a:noFill/>
          <a:ln/>
        </p:spPr>
        <p:txBody>
          <a:bodyPr wrap="square" lIns="0" tIns="0" rIns="0" bIns="0" rtlCol="0" anchor="ctr"/>
          <a:lstStyle/>
          <a:p>
            <a:pPr indent="0" marL="0">
              <a:buNone/>
            </a:pPr>
            <a:r>
              <a:rPr lang="en-US" sz="1200" b="1" spc="300" kern="0" dirty="0">
                <a:solidFill>
                  <a:srgbClr val="F3E8FA"/>
                </a:solidFill>
                <a:latin typeface="Calibri" pitchFamily="34" charset="0"/>
                <a:ea typeface="Calibri" pitchFamily="34" charset="-122"/>
                <a:cs typeface="Calibri" pitchFamily="34" charset="-120"/>
              </a:rPr>
              <a:t>EFEKT  ·  grudzień 2019</a:t>
            </a:r>
            <a:endParaRPr lang="en-US" sz="1200" dirty="0"/>
          </a:p>
        </p:txBody>
      </p:sp>
      <p:sp>
        <p:nvSpPr>
          <p:cNvPr id="12" name="Text 10"/>
          <p:cNvSpPr/>
          <p:nvPr/>
        </p:nvSpPr>
        <p:spPr>
          <a:xfrm>
            <a:off x="6537960" y="2651760"/>
            <a:ext cx="4846320" cy="1097280"/>
          </a:xfrm>
          <a:prstGeom prst="rect">
            <a:avLst/>
          </a:prstGeom>
          <a:noFill/>
          <a:ln/>
        </p:spPr>
        <p:txBody>
          <a:bodyPr wrap="square" lIns="0" tIns="0" rIns="0" bIns="0" rtlCol="0" anchor="ctr"/>
          <a:lstStyle/>
          <a:p>
            <a:pPr indent="0" marL="0">
              <a:buNone/>
            </a:pPr>
            <a:r>
              <a:rPr lang="en-US" sz="7000" b="1" dirty="0">
                <a:solidFill>
                  <a:srgbClr val="FFFFFF"/>
                </a:solidFill>
                <a:latin typeface="Calibri" pitchFamily="34" charset="0"/>
                <a:ea typeface="Calibri" pitchFamily="34" charset="-122"/>
                <a:cs typeface="Calibri" pitchFamily="34" charset="-120"/>
              </a:rPr>
              <a:t>1,2 mln+</a:t>
            </a:r>
            <a:endParaRPr lang="en-US" sz="7000" dirty="0"/>
          </a:p>
        </p:txBody>
      </p:sp>
      <p:sp>
        <p:nvSpPr>
          <p:cNvPr id="13" name="Text 11"/>
          <p:cNvSpPr/>
          <p:nvPr/>
        </p:nvSpPr>
        <p:spPr>
          <a:xfrm>
            <a:off x="6537960" y="3749040"/>
            <a:ext cx="4846320" cy="822960"/>
          </a:xfrm>
          <a:prstGeom prst="rect">
            <a:avLst/>
          </a:prstGeom>
          <a:noFill/>
          <a:ln/>
        </p:spPr>
        <p:txBody>
          <a:bodyPr wrap="square" lIns="0" tIns="0" rIns="0" bIns="0" rtlCol="0" anchor="t"/>
          <a:lstStyle/>
          <a:p>
            <a:pPr indent="0" marL="0">
              <a:buNone/>
            </a:pPr>
            <a:r>
              <a:rPr lang="en-US" sz="1400" dirty="0">
                <a:solidFill>
                  <a:srgbClr val="F3E8FA"/>
                </a:solidFill>
                <a:latin typeface="Calibri" pitchFamily="34" charset="0"/>
                <a:ea typeface="Calibri" pitchFamily="34" charset="-122"/>
                <a:cs typeface="Calibri" pitchFamily="34" charset="-120"/>
              </a:rPr>
              <a:t>postów na Twitterze — organicznie, bez płatnej dystrybucji</a:t>
            </a:r>
            <a:endParaRPr lang="en-US" sz="1400" dirty="0"/>
          </a:p>
        </p:txBody>
      </p:sp>
      <p:sp>
        <p:nvSpPr>
          <p:cNvPr id="14" name="Shape 12"/>
          <p:cNvSpPr/>
          <p:nvPr/>
        </p:nvSpPr>
        <p:spPr>
          <a:xfrm>
            <a:off x="548640" y="5486400"/>
            <a:ext cx="11064240" cy="640080"/>
          </a:xfrm>
          <a:prstGeom prst="rect">
            <a:avLst/>
          </a:prstGeom>
          <a:solidFill>
            <a:srgbClr val="1C2541"/>
          </a:solidFill>
          <a:ln/>
        </p:spPr>
      </p:sp>
      <p:sp>
        <p:nvSpPr>
          <p:cNvPr id="15" name="Text 13"/>
          <p:cNvSpPr/>
          <p:nvPr/>
        </p:nvSpPr>
        <p:spPr>
          <a:xfrm>
            <a:off x="548640" y="5486400"/>
            <a:ext cx="11064240" cy="640080"/>
          </a:xfrm>
          <a:prstGeom prst="rect">
            <a:avLst/>
          </a:prstGeom>
          <a:noFill/>
          <a:ln/>
        </p:spPr>
        <p:txBody>
          <a:bodyPr wrap="square" lIns="0" tIns="0" rIns="0" bIns="0" rtlCol="0" anchor="ctr"/>
          <a:lstStyle/>
          <a:p>
            <a:pPr algn="ctr" indent="0" marL="0">
              <a:buNone/>
            </a:pPr>
            <a:r>
              <a:rPr lang="en-US" sz="1600" b="1" i="1" dirty="0">
                <a:solidFill>
                  <a:srgbClr val="FFFFFF"/>
                </a:solidFill>
                <a:latin typeface="Calibri" pitchFamily="34" charset="0"/>
                <a:ea typeface="Calibri" pitchFamily="34" charset="-122"/>
                <a:cs typeface="Calibri" pitchFamily="34" charset="-120"/>
              </a:rPr>
              <a:t>Engage → Reach: lojalni klienci = nowy zasięg. RACE w pełnym cyklu.</a:t>
            </a:r>
            <a:endParaRPr lang="en-US" sz="1600" dirty="0"/>
          </a:p>
        </p:txBody>
      </p:sp>
      <p:sp>
        <p:nvSpPr>
          <p:cNvPr id="16" name="Text 14"/>
          <p:cNvSpPr/>
          <p:nvPr/>
        </p:nvSpPr>
        <p:spPr>
          <a:xfrm>
            <a:off x="548640" y="6263640"/>
            <a:ext cx="11064240" cy="182880"/>
          </a:xfrm>
          <a:prstGeom prst="rect">
            <a:avLst/>
          </a:prstGeom>
          <a:noFill/>
          <a:ln/>
        </p:spPr>
        <p:txBody>
          <a:bodyPr wrap="square" rtlCol="0" anchor="ctr"/>
          <a:lstStyle/>
          <a:p>
            <a:pPr algn="r" indent="0" marL="0">
              <a:buNone/>
            </a:pPr>
            <a:r>
              <a:rPr lang="en-US" sz="1000" i="1" dirty="0">
                <a:solidFill>
                  <a:srgbClr val="94A3B8"/>
                </a:solidFill>
                <a:latin typeface="Calibri" pitchFamily="34" charset="0"/>
                <a:ea typeface="Calibri" pitchFamily="34" charset="-122"/>
                <a:cs typeface="Calibri" pitchFamily="34" charset="-120"/>
              </a:rPr>
              <a:t>Spotify: 713M MAU · 281M płatnych subskrybentów (Q3 2025)  ·  Źródło: Backlinko Spotify Statistics 2025</a:t>
            </a:r>
            <a:endParaRPr lang="en-US" sz="1000" dirty="0"/>
          </a:p>
        </p:txBody>
      </p:sp>
      <p:sp>
        <p:nvSpPr>
          <p:cNvPr id="17" name="Text 15"/>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18" name="Text 16"/>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11 / 16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SOSTAC × RACE</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Jak SOSTAC i RACE się łączą</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"SOSTAC to framework planowania. RACE to mapa egzekucji w ramach tego planu." — Dave Chaffey</a:t>
            </a:r>
            <a:endParaRPr lang="en-US" sz="1500" dirty="0"/>
          </a:p>
        </p:txBody>
      </p:sp>
      <p:sp>
        <p:nvSpPr>
          <p:cNvPr id="5" name="Shape 3"/>
          <p:cNvSpPr/>
          <p:nvPr/>
        </p:nvSpPr>
        <p:spPr>
          <a:xfrm>
            <a:off x="548640" y="1920240"/>
            <a:ext cx="2926080" cy="548640"/>
          </a:xfrm>
          <a:prstGeom prst="rect">
            <a:avLst/>
          </a:prstGeom>
          <a:solidFill>
            <a:srgbClr val="1A3A5C"/>
          </a:solidFill>
          <a:ln/>
        </p:spPr>
      </p:sp>
      <p:sp>
        <p:nvSpPr>
          <p:cNvPr id="6" name="Text 4"/>
          <p:cNvSpPr/>
          <p:nvPr/>
        </p:nvSpPr>
        <p:spPr>
          <a:xfrm>
            <a:off x="640080" y="1920240"/>
            <a:ext cx="274320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Etap SOSTAC</a:t>
            </a:r>
            <a:endParaRPr lang="en-US" sz="1300" dirty="0"/>
          </a:p>
        </p:txBody>
      </p:sp>
      <p:sp>
        <p:nvSpPr>
          <p:cNvPr id="7" name="Shape 5"/>
          <p:cNvSpPr/>
          <p:nvPr/>
        </p:nvSpPr>
        <p:spPr>
          <a:xfrm>
            <a:off x="3474720" y="1920240"/>
            <a:ext cx="8138160" cy="548640"/>
          </a:xfrm>
          <a:prstGeom prst="rect">
            <a:avLst/>
          </a:prstGeom>
          <a:solidFill>
            <a:srgbClr val="1A7A8A"/>
          </a:solidFill>
          <a:ln/>
        </p:spPr>
      </p:sp>
      <p:sp>
        <p:nvSpPr>
          <p:cNvPr id="8" name="Text 6"/>
          <p:cNvSpPr/>
          <p:nvPr/>
        </p:nvSpPr>
        <p:spPr>
          <a:xfrm>
            <a:off x="3566160" y="1920240"/>
            <a:ext cx="7955280" cy="54864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Implikacja dla RACE</a:t>
            </a:r>
            <a:endParaRPr lang="en-US" sz="1300" dirty="0"/>
          </a:p>
        </p:txBody>
      </p:sp>
      <p:sp>
        <p:nvSpPr>
          <p:cNvPr id="9" name="Text 7"/>
          <p:cNvSpPr/>
          <p:nvPr/>
        </p:nvSpPr>
        <p:spPr>
          <a:xfrm>
            <a:off x="640080" y="2468880"/>
            <a:ext cx="274320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Sytuacja (S)</a:t>
            </a:r>
            <a:endParaRPr lang="en-US" sz="1200" dirty="0"/>
          </a:p>
        </p:txBody>
      </p:sp>
      <p:sp>
        <p:nvSpPr>
          <p:cNvPr id="10" name="Text 8"/>
          <p:cNvSpPr/>
          <p:nvPr/>
        </p:nvSpPr>
        <p:spPr>
          <a:xfrm>
            <a:off x="3566160" y="2468880"/>
            <a:ext cx="795528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Audyt bieżącej wydajności na każdym z 4 etapów RACE — gdzie dziś mamy największe luki?</a:t>
            </a:r>
            <a:endParaRPr lang="en-US" sz="1200" dirty="0"/>
          </a:p>
        </p:txBody>
      </p:sp>
      <p:sp>
        <p:nvSpPr>
          <p:cNvPr id="11" name="Shape 9"/>
          <p:cNvSpPr/>
          <p:nvPr/>
        </p:nvSpPr>
        <p:spPr>
          <a:xfrm>
            <a:off x="548640" y="3032760"/>
            <a:ext cx="11064240" cy="563880"/>
          </a:xfrm>
          <a:prstGeom prst="rect">
            <a:avLst/>
          </a:prstGeom>
          <a:solidFill>
            <a:srgbClr val="F5F7FA"/>
          </a:solidFill>
          <a:ln/>
        </p:spPr>
      </p:sp>
      <p:sp>
        <p:nvSpPr>
          <p:cNvPr id="12" name="Text 10"/>
          <p:cNvSpPr/>
          <p:nvPr/>
        </p:nvSpPr>
        <p:spPr>
          <a:xfrm>
            <a:off x="640080" y="3032760"/>
            <a:ext cx="274320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Cele (O)</a:t>
            </a:r>
            <a:endParaRPr lang="en-US" sz="1200" dirty="0"/>
          </a:p>
        </p:txBody>
      </p:sp>
      <p:sp>
        <p:nvSpPr>
          <p:cNvPr id="13" name="Text 11"/>
          <p:cNvSpPr/>
          <p:nvPr/>
        </p:nvSpPr>
        <p:spPr>
          <a:xfrm>
            <a:off x="3566160" y="3032760"/>
            <a:ext cx="795528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Wyznacz ≥1 KPI na każdy etap RACE — nie tylko cel sprzedażowy</a:t>
            </a:r>
            <a:endParaRPr lang="en-US" sz="1200" dirty="0"/>
          </a:p>
        </p:txBody>
      </p:sp>
      <p:sp>
        <p:nvSpPr>
          <p:cNvPr id="14" name="Text 12"/>
          <p:cNvSpPr/>
          <p:nvPr/>
        </p:nvSpPr>
        <p:spPr>
          <a:xfrm>
            <a:off x="640080" y="3596640"/>
            <a:ext cx="274320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Strategia (S)</a:t>
            </a:r>
            <a:endParaRPr lang="en-US" sz="1200" dirty="0"/>
          </a:p>
        </p:txBody>
      </p:sp>
      <p:sp>
        <p:nvSpPr>
          <p:cNvPr id="15" name="Text 13"/>
          <p:cNvSpPr/>
          <p:nvPr/>
        </p:nvSpPr>
        <p:spPr>
          <a:xfrm>
            <a:off x="3566160" y="3596640"/>
            <a:ext cx="795528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Zdecyduj, które etapy RACE priorytetyzujesz i jak się różnicujesz</a:t>
            </a:r>
            <a:endParaRPr lang="en-US" sz="1200" dirty="0"/>
          </a:p>
        </p:txBody>
      </p:sp>
      <p:sp>
        <p:nvSpPr>
          <p:cNvPr id="16" name="Shape 14"/>
          <p:cNvSpPr/>
          <p:nvPr/>
        </p:nvSpPr>
        <p:spPr>
          <a:xfrm>
            <a:off x="548640" y="4160520"/>
            <a:ext cx="11064240" cy="563880"/>
          </a:xfrm>
          <a:prstGeom prst="rect">
            <a:avLst/>
          </a:prstGeom>
          <a:solidFill>
            <a:srgbClr val="F5F7FA"/>
          </a:solidFill>
          <a:ln/>
        </p:spPr>
      </p:sp>
      <p:sp>
        <p:nvSpPr>
          <p:cNvPr id="17" name="Text 15"/>
          <p:cNvSpPr/>
          <p:nvPr/>
        </p:nvSpPr>
        <p:spPr>
          <a:xfrm>
            <a:off x="640080" y="4160520"/>
            <a:ext cx="274320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Taktyki (T)</a:t>
            </a:r>
            <a:endParaRPr lang="en-US" sz="1200" dirty="0"/>
          </a:p>
        </p:txBody>
      </p:sp>
      <p:sp>
        <p:nvSpPr>
          <p:cNvPr id="18" name="Text 16"/>
          <p:cNvSpPr/>
          <p:nvPr/>
        </p:nvSpPr>
        <p:spPr>
          <a:xfrm>
            <a:off x="3566160" y="4160520"/>
            <a:ext cx="795528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Przypisz konkretne kanały i treści do każdego etapu RACE</a:t>
            </a:r>
            <a:endParaRPr lang="en-US" sz="1200" dirty="0"/>
          </a:p>
        </p:txBody>
      </p:sp>
      <p:sp>
        <p:nvSpPr>
          <p:cNvPr id="19" name="Text 17"/>
          <p:cNvSpPr/>
          <p:nvPr/>
        </p:nvSpPr>
        <p:spPr>
          <a:xfrm>
            <a:off x="640080" y="4724400"/>
            <a:ext cx="274320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Działania (A)</a:t>
            </a:r>
            <a:endParaRPr lang="en-US" sz="1200" dirty="0"/>
          </a:p>
        </p:txBody>
      </p:sp>
      <p:sp>
        <p:nvSpPr>
          <p:cNvPr id="20" name="Text 18"/>
          <p:cNvSpPr/>
          <p:nvPr/>
        </p:nvSpPr>
        <p:spPr>
          <a:xfrm>
            <a:off x="3566160" y="4724400"/>
            <a:ext cx="795528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Wyznacz właścicieli i budżety dla taktyk każdego etapu RACE</a:t>
            </a:r>
            <a:endParaRPr lang="en-US" sz="1200" dirty="0"/>
          </a:p>
        </p:txBody>
      </p:sp>
      <p:sp>
        <p:nvSpPr>
          <p:cNvPr id="21" name="Shape 19"/>
          <p:cNvSpPr/>
          <p:nvPr/>
        </p:nvSpPr>
        <p:spPr>
          <a:xfrm>
            <a:off x="548640" y="5288280"/>
            <a:ext cx="11064240" cy="563880"/>
          </a:xfrm>
          <a:prstGeom prst="rect">
            <a:avLst/>
          </a:prstGeom>
          <a:solidFill>
            <a:srgbClr val="F5F7FA"/>
          </a:solidFill>
          <a:ln/>
        </p:spPr>
      </p:sp>
      <p:sp>
        <p:nvSpPr>
          <p:cNvPr id="22" name="Text 20"/>
          <p:cNvSpPr/>
          <p:nvPr/>
        </p:nvSpPr>
        <p:spPr>
          <a:xfrm>
            <a:off x="640080" y="5288280"/>
            <a:ext cx="274320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Kontrola (C)</a:t>
            </a:r>
            <a:endParaRPr lang="en-US" sz="1200" dirty="0"/>
          </a:p>
        </p:txBody>
      </p:sp>
      <p:sp>
        <p:nvSpPr>
          <p:cNvPr id="23" name="Text 21"/>
          <p:cNvSpPr/>
          <p:nvPr/>
        </p:nvSpPr>
        <p:spPr>
          <a:xfrm>
            <a:off x="3566160" y="5288280"/>
            <a:ext cx="7955280" cy="563880"/>
          </a:xfrm>
          <a:prstGeom prst="rect">
            <a:avLst/>
          </a:prstGeom>
          <a:noFill/>
          <a:ln/>
        </p:spPr>
        <p:txBody>
          <a:bodyPr wrap="square" lIns="0" tIns="0" rIns="0" bIns="0" rtlCol="0" anchor="ctr"/>
          <a:lstStyle/>
          <a:p>
            <a:pPr algn="l" indent="0" marL="0">
              <a:buNone/>
            </a:pPr>
            <a:r>
              <a:rPr lang="en-US" sz="1200" dirty="0">
                <a:solidFill>
                  <a:srgbClr val="1E293B"/>
                </a:solidFill>
                <a:latin typeface="Calibri" pitchFamily="34" charset="0"/>
                <a:ea typeface="Calibri" pitchFamily="34" charset="-122"/>
                <a:cs typeface="Calibri" pitchFamily="34" charset="-120"/>
              </a:rPr>
              <a:t>Zbuduj dashboard śledzący KPI dla każdego etapu RACE</a:t>
            </a:r>
            <a:endParaRPr lang="en-US" sz="1200" dirty="0"/>
          </a:p>
        </p:txBody>
      </p:sp>
      <p:sp>
        <p:nvSpPr>
          <p:cNvPr id="24" name="Text 22"/>
          <p:cNvSpPr/>
          <p:nvPr/>
        </p:nvSpPr>
        <p:spPr>
          <a:xfrm>
            <a:off x="548640" y="6080760"/>
            <a:ext cx="11064240" cy="274320"/>
          </a:xfrm>
          <a:prstGeom prst="rect">
            <a:avLst/>
          </a:prstGeom>
          <a:noFill/>
          <a:ln/>
        </p:spPr>
        <p:txBody>
          <a:bodyPr wrap="square" rtlCol="0" anchor="ctr"/>
          <a:lstStyle/>
          <a:p>
            <a:pPr algn="l" indent="0" marL="0">
              <a:buNone/>
            </a:pPr>
            <a:r>
              <a:rPr lang="en-US" sz="1000" i="1" dirty="0">
                <a:solidFill>
                  <a:srgbClr val="94A3B8"/>
                </a:solidFill>
                <a:latin typeface="Calibri" pitchFamily="34" charset="0"/>
                <a:ea typeface="Calibri" pitchFamily="34" charset="-122"/>
                <a:cs typeface="Calibri" pitchFamily="34" charset="-120"/>
              </a:rPr>
              <a:t>Źródło: Dave Chaffey / Smart Insights</a:t>
            </a:r>
            <a:endParaRPr lang="en-US" sz="1000" dirty="0"/>
          </a:p>
        </p:txBody>
      </p:sp>
      <p:sp>
        <p:nvSpPr>
          <p:cNvPr id="25" name="Text 23"/>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26" name="Text 24"/>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12 / 16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DASHBOARD REFERENCYJNY</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RACE KPI Dashboard — szablon do zabrania</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Jeden KPI na etap, mierzony razem — nie osobno. Zróbcie zdjęcie lub zaznaczcie.</a:t>
            </a:r>
            <a:endParaRPr lang="en-US" sz="1500" dirty="0"/>
          </a:p>
        </p:txBody>
      </p:sp>
      <p:sp>
        <p:nvSpPr>
          <p:cNvPr id="5" name="Shape 3"/>
          <p:cNvSpPr/>
          <p:nvPr/>
        </p:nvSpPr>
        <p:spPr>
          <a:xfrm>
            <a:off x="548640" y="2011680"/>
            <a:ext cx="2674620" cy="640080"/>
          </a:xfrm>
          <a:prstGeom prst="rect">
            <a:avLst/>
          </a:prstGeom>
          <a:solidFill>
            <a:srgbClr val="2E5D9F"/>
          </a:solidFill>
          <a:ln/>
        </p:spPr>
      </p:sp>
      <p:sp>
        <p:nvSpPr>
          <p:cNvPr id="6" name="Text 4"/>
          <p:cNvSpPr/>
          <p:nvPr/>
        </p:nvSpPr>
        <p:spPr>
          <a:xfrm>
            <a:off x="685800" y="2011680"/>
            <a:ext cx="240030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Zasięg (Reach)</a:t>
            </a:r>
            <a:endParaRPr lang="en-US" sz="1500" dirty="0"/>
          </a:p>
        </p:txBody>
      </p:sp>
      <p:sp>
        <p:nvSpPr>
          <p:cNvPr id="7" name="Shape 5"/>
          <p:cNvSpPr/>
          <p:nvPr/>
        </p:nvSpPr>
        <p:spPr>
          <a:xfrm>
            <a:off x="548640" y="2788920"/>
            <a:ext cx="2674620" cy="411480"/>
          </a:xfrm>
          <a:prstGeom prst="rect">
            <a:avLst/>
          </a:prstGeom>
          <a:solidFill>
            <a:srgbClr val="F5F7FA"/>
          </a:solidFill>
          <a:ln/>
        </p:spPr>
      </p:sp>
      <p:sp>
        <p:nvSpPr>
          <p:cNvPr id="8" name="Shape 6"/>
          <p:cNvSpPr/>
          <p:nvPr/>
        </p:nvSpPr>
        <p:spPr>
          <a:xfrm>
            <a:off x="548640" y="2788920"/>
            <a:ext cx="73152" cy="411480"/>
          </a:xfrm>
          <a:prstGeom prst="rect">
            <a:avLst/>
          </a:prstGeom>
          <a:solidFill>
            <a:srgbClr val="2E5D9F"/>
          </a:solidFill>
          <a:ln/>
        </p:spPr>
      </p:sp>
      <p:sp>
        <p:nvSpPr>
          <p:cNvPr id="9" name="Text 7"/>
          <p:cNvSpPr/>
          <p:nvPr/>
        </p:nvSpPr>
        <p:spPr>
          <a:xfrm>
            <a:off x="731520" y="278892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Ruch organiczny</a:t>
            </a:r>
            <a:endParaRPr lang="en-US" sz="1300" dirty="0"/>
          </a:p>
        </p:txBody>
      </p:sp>
      <p:sp>
        <p:nvSpPr>
          <p:cNvPr id="10" name="Shape 8"/>
          <p:cNvSpPr/>
          <p:nvPr/>
        </p:nvSpPr>
        <p:spPr>
          <a:xfrm>
            <a:off x="548640" y="3291840"/>
            <a:ext cx="2674620" cy="411480"/>
          </a:xfrm>
          <a:prstGeom prst="rect">
            <a:avLst/>
          </a:prstGeom>
          <a:solidFill>
            <a:srgbClr val="F5F7FA"/>
          </a:solidFill>
          <a:ln/>
        </p:spPr>
      </p:sp>
      <p:sp>
        <p:nvSpPr>
          <p:cNvPr id="11" name="Shape 9"/>
          <p:cNvSpPr/>
          <p:nvPr/>
        </p:nvSpPr>
        <p:spPr>
          <a:xfrm>
            <a:off x="548640" y="3291840"/>
            <a:ext cx="73152" cy="411480"/>
          </a:xfrm>
          <a:prstGeom prst="rect">
            <a:avLst/>
          </a:prstGeom>
          <a:solidFill>
            <a:srgbClr val="2E5D9F"/>
          </a:solidFill>
          <a:ln/>
        </p:spPr>
      </p:sp>
      <p:sp>
        <p:nvSpPr>
          <p:cNvPr id="12" name="Text 10"/>
          <p:cNvSpPr/>
          <p:nvPr/>
        </p:nvSpPr>
        <p:spPr>
          <a:xfrm>
            <a:off x="731520" y="329184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Impresje</a:t>
            </a:r>
            <a:endParaRPr lang="en-US" sz="1300" dirty="0"/>
          </a:p>
        </p:txBody>
      </p:sp>
      <p:sp>
        <p:nvSpPr>
          <p:cNvPr id="13" name="Shape 11"/>
          <p:cNvSpPr/>
          <p:nvPr/>
        </p:nvSpPr>
        <p:spPr>
          <a:xfrm>
            <a:off x="548640" y="3794760"/>
            <a:ext cx="2674620" cy="411480"/>
          </a:xfrm>
          <a:prstGeom prst="rect">
            <a:avLst/>
          </a:prstGeom>
          <a:solidFill>
            <a:srgbClr val="F5F7FA"/>
          </a:solidFill>
          <a:ln/>
        </p:spPr>
      </p:sp>
      <p:sp>
        <p:nvSpPr>
          <p:cNvPr id="14" name="Shape 12"/>
          <p:cNvSpPr/>
          <p:nvPr/>
        </p:nvSpPr>
        <p:spPr>
          <a:xfrm>
            <a:off x="548640" y="3794760"/>
            <a:ext cx="73152" cy="411480"/>
          </a:xfrm>
          <a:prstGeom prst="rect">
            <a:avLst/>
          </a:prstGeom>
          <a:solidFill>
            <a:srgbClr val="2E5D9F"/>
          </a:solidFill>
          <a:ln/>
        </p:spPr>
      </p:sp>
      <p:sp>
        <p:nvSpPr>
          <p:cNvPr id="15" name="Text 13"/>
          <p:cNvSpPr/>
          <p:nvPr/>
        </p:nvSpPr>
        <p:spPr>
          <a:xfrm>
            <a:off x="731520" y="379476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Share of Voice</a:t>
            </a:r>
            <a:endParaRPr lang="en-US" sz="1300" dirty="0"/>
          </a:p>
        </p:txBody>
      </p:sp>
      <p:sp>
        <p:nvSpPr>
          <p:cNvPr id="16" name="Shape 14"/>
          <p:cNvSpPr/>
          <p:nvPr/>
        </p:nvSpPr>
        <p:spPr>
          <a:xfrm>
            <a:off x="548640" y="4297680"/>
            <a:ext cx="2674620" cy="411480"/>
          </a:xfrm>
          <a:prstGeom prst="rect">
            <a:avLst/>
          </a:prstGeom>
          <a:solidFill>
            <a:srgbClr val="F5F7FA"/>
          </a:solidFill>
          <a:ln/>
        </p:spPr>
      </p:sp>
      <p:sp>
        <p:nvSpPr>
          <p:cNvPr id="17" name="Shape 15"/>
          <p:cNvSpPr/>
          <p:nvPr/>
        </p:nvSpPr>
        <p:spPr>
          <a:xfrm>
            <a:off x="548640" y="4297680"/>
            <a:ext cx="73152" cy="411480"/>
          </a:xfrm>
          <a:prstGeom prst="rect">
            <a:avLst/>
          </a:prstGeom>
          <a:solidFill>
            <a:srgbClr val="2E5D9F"/>
          </a:solidFill>
          <a:ln/>
        </p:spPr>
      </p:sp>
      <p:sp>
        <p:nvSpPr>
          <p:cNvPr id="18" name="Text 16"/>
          <p:cNvSpPr/>
          <p:nvPr/>
        </p:nvSpPr>
        <p:spPr>
          <a:xfrm>
            <a:off x="731520" y="429768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Wzrost obserwujących</a:t>
            </a:r>
            <a:endParaRPr lang="en-US" sz="1300" dirty="0"/>
          </a:p>
        </p:txBody>
      </p:sp>
      <p:sp>
        <p:nvSpPr>
          <p:cNvPr id="19" name="Text 17"/>
          <p:cNvSpPr/>
          <p:nvPr/>
        </p:nvSpPr>
        <p:spPr>
          <a:xfrm>
            <a:off x="548640" y="5029200"/>
            <a:ext cx="2674620" cy="228600"/>
          </a:xfrm>
          <a:prstGeom prst="rect">
            <a:avLst/>
          </a:prstGeom>
          <a:noFill/>
          <a:ln/>
        </p:spPr>
        <p:txBody>
          <a:bodyPr wrap="square" lIns="0" tIns="0" rIns="0" bIns="0" rtlCol="0" anchor="ctr"/>
          <a:lstStyle/>
          <a:p>
            <a:pPr indent="0" marL="0">
              <a:buNone/>
            </a:pPr>
            <a:r>
              <a:rPr lang="en-US" sz="1000" b="1" spc="200" kern="0" dirty="0">
                <a:solidFill>
                  <a:srgbClr val="2E5D9F"/>
                </a:solidFill>
                <a:latin typeface="Calibri" pitchFamily="34" charset="0"/>
                <a:ea typeface="Calibri" pitchFamily="34" charset="-122"/>
                <a:cs typeface="Calibri" pitchFamily="34" charset="-120"/>
              </a:rPr>
              <a:t>NARZĘDZIE</a:t>
            </a:r>
            <a:endParaRPr lang="en-US" sz="1000" dirty="0"/>
          </a:p>
        </p:txBody>
      </p:sp>
      <p:sp>
        <p:nvSpPr>
          <p:cNvPr id="20" name="Text 18"/>
          <p:cNvSpPr/>
          <p:nvPr/>
        </p:nvSpPr>
        <p:spPr>
          <a:xfrm>
            <a:off x="548640" y="5257800"/>
            <a:ext cx="2674620" cy="457200"/>
          </a:xfrm>
          <a:prstGeom prst="rect">
            <a:avLst/>
          </a:prstGeom>
          <a:noFill/>
          <a:ln/>
        </p:spPr>
        <p:txBody>
          <a:bodyPr wrap="square" lIns="0" tIns="0" rIns="0" bIns="0" rtlCol="0" anchor="t"/>
          <a:lstStyle/>
          <a:p>
            <a:pPr indent="0" marL="0">
              <a:buNone/>
            </a:pPr>
            <a:r>
              <a:rPr lang="en-US" sz="1200" i="1" dirty="0">
                <a:solidFill>
                  <a:srgbClr val="475569"/>
                </a:solidFill>
                <a:latin typeface="Calibri" pitchFamily="34" charset="0"/>
                <a:ea typeface="Calibri" pitchFamily="34" charset="-122"/>
                <a:cs typeface="Calibri" pitchFamily="34" charset="-120"/>
              </a:rPr>
              <a:t>Google Analytics · SEMrush</a:t>
            </a:r>
            <a:endParaRPr lang="en-US" sz="1200" dirty="0"/>
          </a:p>
        </p:txBody>
      </p:sp>
      <p:sp>
        <p:nvSpPr>
          <p:cNvPr id="21" name="Shape 19"/>
          <p:cNvSpPr/>
          <p:nvPr/>
        </p:nvSpPr>
        <p:spPr>
          <a:xfrm>
            <a:off x="3314700" y="2011680"/>
            <a:ext cx="2674620" cy="640080"/>
          </a:xfrm>
          <a:prstGeom prst="rect">
            <a:avLst/>
          </a:prstGeom>
          <a:solidFill>
            <a:srgbClr val="2D7A4F"/>
          </a:solidFill>
          <a:ln/>
        </p:spPr>
      </p:sp>
      <p:sp>
        <p:nvSpPr>
          <p:cNvPr id="22" name="Text 20"/>
          <p:cNvSpPr/>
          <p:nvPr/>
        </p:nvSpPr>
        <p:spPr>
          <a:xfrm>
            <a:off x="3451860" y="2011680"/>
            <a:ext cx="240030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Aktywacja (Act)</a:t>
            </a:r>
            <a:endParaRPr lang="en-US" sz="1500" dirty="0"/>
          </a:p>
        </p:txBody>
      </p:sp>
      <p:sp>
        <p:nvSpPr>
          <p:cNvPr id="23" name="Shape 21"/>
          <p:cNvSpPr/>
          <p:nvPr/>
        </p:nvSpPr>
        <p:spPr>
          <a:xfrm>
            <a:off x="3314700" y="2788920"/>
            <a:ext cx="2674620" cy="411480"/>
          </a:xfrm>
          <a:prstGeom prst="rect">
            <a:avLst/>
          </a:prstGeom>
          <a:solidFill>
            <a:srgbClr val="F5F7FA"/>
          </a:solidFill>
          <a:ln/>
        </p:spPr>
      </p:sp>
      <p:sp>
        <p:nvSpPr>
          <p:cNvPr id="24" name="Shape 22"/>
          <p:cNvSpPr/>
          <p:nvPr/>
        </p:nvSpPr>
        <p:spPr>
          <a:xfrm>
            <a:off x="3314700" y="2788920"/>
            <a:ext cx="73152" cy="411480"/>
          </a:xfrm>
          <a:prstGeom prst="rect">
            <a:avLst/>
          </a:prstGeom>
          <a:solidFill>
            <a:srgbClr val="2D7A4F"/>
          </a:solidFill>
          <a:ln/>
        </p:spPr>
      </p:sp>
      <p:sp>
        <p:nvSpPr>
          <p:cNvPr id="25" name="Text 23"/>
          <p:cNvSpPr/>
          <p:nvPr/>
        </p:nvSpPr>
        <p:spPr>
          <a:xfrm>
            <a:off x="3497580" y="278892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Czas na stronie</a:t>
            </a:r>
            <a:endParaRPr lang="en-US" sz="1300" dirty="0"/>
          </a:p>
        </p:txBody>
      </p:sp>
      <p:sp>
        <p:nvSpPr>
          <p:cNvPr id="26" name="Shape 24"/>
          <p:cNvSpPr/>
          <p:nvPr/>
        </p:nvSpPr>
        <p:spPr>
          <a:xfrm>
            <a:off x="3314700" y="3291840"/>
            <a:ext cx="2674620" cy="411480"/>
          </a:xfrm>
          <a:prstGeom prst="rect">
            <a:avLst/>
          </a:prstGeom>
          <a:solidFill>
            <a:srgbClr val="F5F7FA"/>
          </a:solidFill>
          <a:ln/>
        </p:spPr>
      </p:sp>
      <p:sp>
        <p:nvSpPr>
          <p:cNvPr id="27" name="Shape 25"/>
          <p:cNvSpPr/>
          <p:nvPr/>
        </p:nvSpPr>
        <p:spPr>
          <a:xfrm>
            <a:off x="3314700" y="3291840"/>
            <a:ext cx="73152" cy="411480"/>
          </a:xfrm>
          <a:prstGeom prst="rect">
            <a:avLst/>
          </a:prstGeom>
          <a:solidFill>
            <a:srgbClr val="2D7A4F"/>
          </a:solidFill>
          <a:ln/>
        </p:spPr>
      </p:sp>
      <p:sp>
        <p:nvSpPr>
          <p:cNvPr id="28" name="Text 26"/>
          <p:cNvSpPr/>
          <p:nvPr/>
        </p:nvSpPr>
        <p:spPr>
          <a:xfrm>
            <a:off x="3497580" y="329184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Strony / sesja</a:t>
            </a:r>
            <a:endParaRPr lang="en-US" sz="1300" dirty="0"/>
          </a:p>
        </p:txBody>
      </p:sp>
      <p:sp>
        <p:nvSpPr>
          <p:cNvPr id="29" name="Shape 27"/>
          <p:cNvSpPr/>
          <p:nvPr/>
        </p:nvSpPr>
        <p:spPr>
          <a:xfrm>
            <a:off x="3314700" y="3794760"/>
            <a:ext cx="2674620" cy="411480"/>
          </a:xfrm>
          <a:prstGeom prst="rect">
            <a:avLst/>
          </a:prstGeom>
          <a:solidFill>
            <a:srgbClr val="F5F7FA"/>
          </a:solidFill>
          <a:ln/>
        </p:spPr>
      </p:sp>
      <p:sp>
        <p:nvSpPr>
          <p:cNvPr id="30" name="Shape 28"/>
          <p:cNvSpPr/>
          <p:nvPr/>
        </p:nvSpPr>
        <p:spPr>
          <a:xfrm>
            <a:off x="3314700" y="3794760"/>
            <a:ext cx="73152" cy="411480"/>
          </a:xfrm>
          <a:prstGeom prst="rect">
            <a:avLst/>
          </a:prstGeom>
          <a:solidFill>
            <a:srgbClr val="2D7A4F"/>
          </a:solidFill>
          <a:ln/>
        </p:spPr>
      </p:sp>
      <p:sp>
        <p:nvSpPr>
          <p:cNvPr id="31" name="Text 29"/>
          <p:cNvSpPr/>
          <p:nvPr/>
        </p:nvSpPr>
        <p:spPr>
          <a:xfrm>
            <a:off x="3497580" y="379476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CTR emaila</a:t>
            </a:r>
            <a:endParaRPr lang="en-US" sz="1300" dirty="0"/>
          </a:p>
        </p:txBody>
      </p:sp>
      <p:sp>
        <p:nvSpPr>
          <p:cNvPr id="32" name="Shape 30"/>
          <p:cNvSpPr/>
          <p:nvPr/>
        </p:nvSpPr>
        <p:spPr>
          <a:xfrm>
            <a:off x="3314700" y="4297680"/>
            <a:ext cx="2674620" cy="411480"/>
          </a:xfrm>
          <a:prstGeom prst="rect">
            <a:avLst/>
          </a:prstGeom>
          <a:solidFill>
            <a:srgbClr val="F5F7FA"/>
          </a:solidFill>
          <a:ln/>
        </p:spPr>
      </p:sp>
      <p:sp>
        <p:nvSpPr>
          <p:cNvPr id="33" name="Shape 31"/>
          <p:cNvSpPr/>
          <p:nvPr/>
        </p:nvSpPr>
        <p:spPr>
          <a:xfrm>
            <a:off x="3314700" y="4297680"/>
            <a:ext cx="73152" cy="411480"/>
          </a:xfrm>
          <a:prstGeom prst="rect">
            <a:avLst/>
          </a:prstGeom>
          <a:solidFill>
            <a:srgbClr val="2D7A4F"/>
          </a:solidFill>
          <a:ln/>
        </p:spPr>
      </p:sp>
      <p:sp>
        <p:nvSpPr>
          <p:cNvPr id="34" name="Text 32"/>
          <p:cNvSpPr/>
          <p:nvPr/>
        </p:nvSpPr>
        <p:spPr>
          <a:xfrm>
            <a:off x="3497580" y="429768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Pobrania lead magnetu</a:t>
            </a:r>
            <a:endParaRPr lang="en-US" sz="1300" dirty="0"/>
          </a:p>
        </p:txBody>
      </p:sp>
      <p:sp>
        <p:nvSpPr>
          <p:cNvPr id="35" name="Text 33"/>
          <p:cNvSpPr/>
          <p:nvPr/>
        </p:nvSpPr>
        <p:spPr>
          <a:xfrm>
            <a:off x="3314700" y="5029200"/>
            <a:ext cx="2674620" cy="228600"/>
          </a:xfrm>
          <a:prstGeom prst="rect">
            <a:avLst/>
          </a:prstGeom>
          <a:noFill/>
          <a:ln/>
        </p:spPr>
        <p:txBody>
          <a:bodyPr wrap="square" lIns="0" tIns="0" rIns="0" bIns="0" rtlCol="0" anchor="ctr"/>
          <a:lstStyle/>
          <a:p>
            <a:pPr indent="0" marL="0">
              <a:buNone/>
            </a:pPr>
            <a:r>
              <a:rPr lang="en-US" sz="1000" b="1" spc="200" kern="0" dirty="0">
                <a:solidFill>
                  <a:srgbClr val="2D7A4F"/>
                </a:solidFill>
                <a:latin typeface="Calibri" pitchFamily="34" charset="0"/>
                <a:ea typeface="Calibri" pitchFamily="34" charset="-122"/>
                <a:cs typeface="Calibri" pitchFamily="34" charset="-120"/>
              </a:rPr>
              <a:t>NARZĘDZIE</a:t>
            </a:r>
            <a:endParaRPr lang="en-US" sz="1000" dirty="0"/>
          </a:p>
        </p:txBody>
      </p:sp>
      <p:sp>
        <p:nvSpPr>
          <p:cNvPr id="36" name="Text 34"/>
          <p:cNvSpPr/>
          <p:nvPr/>
        </p:nvSpPr>
        <p:spPr>
          <a:xfrm>
            <a:off x="3314700" y="5257800"/>
            <a:ext cx="2674620" cy="457200"/>
          </a:xfrm>
          <a:prstGeom prst="rect">
            <a:avLst/>
          </a:prstGeom>
          <a:noFill/>
          <a:ln/>
        </p:spPr>
        <p:txBody>
          <a:bodyPr wrap="square" lIns="0" tIns="0" rIns="0" bIns="0" rtlCol="0" anchor="t"/>
          <a:lstStyle/>
          <a:p>
            <a:pPr indent="0" marL="0">
              <a:buNone/>
            </a:pPr>
            <a:r>
              <a:rPr lang="en-US" sz="1200" i="1" dirty="0">
                <a:solidFill>
                  <a:srgbClr val="475569"/>
                </a:solidFill>
                <a:latin typeface="Calibri" pitchFamily="34" charset="0"/>
                <a:ea typeface="Calibri" pitchFamily="34" charset="-122"/>
                <a:cs typeface="Calibri" pitchFamily="34" charset="-120"/>
              </a:rPr>
              <a:t>GA4 · platforma email</a:t>
            </a:r>
            <a:endParaRPr lang="en-US" sz="1200" dirty="0"/>
          </a:p>
        </p:txBody>
      </p:sp>
      <p:sp>
        <p:nvSpPr>
          <p:cNvPr id="37" name="Shape 35"/>
          <p:cNvSpPr/>
          <p:nvPr/>
        </p:nvSpPr>
        <p:spPr>
          <a:xfrm>
            <a:off x="6080760" y="2011680"/>
            <a:ext cx="2674620" cy="640080"/>
          </a:xfrm>
          <a:prstGeom prst="rect">
            <a:avLst/>
          </a:prstGeom>
          <a:solidFill>
            <a:srgbClr val="D97E2B"/>
          </a:solidFill>
          <a:ln/>
        </p:spPr>
      </p:sp>
      <p:sp>
        <p:nvSpPr>
          <p:cNvPr id="38" name="Text 36"/>
          <p:cNvSpPr/>
          <p:nvPr/>
        </p:nvSpPr>
        <p:spPr>
          <a:xfrm>
            <a:off x="6217920" y="2011680"/>
            <a:ext cx="240030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Konwersja (Convert)</a:t>
            </a:r>
            <a:endParaRPr lang="en-US" sz="1500" dirty="0"/>
          </a:p>
        </p:txBody>
      </p:sp>
      <p:sp>
        <p:nvSpPr>
          <p:cNvPr id="39" name="Shape 37"/>
          <p:cNvSpPr/>
          <p:nvPr/>
        </p:nvSpPr>
        <p:spPr>
          <a:xfrm>
            <a:off x="6080760" y="2788920"/>
            <a:ext cx="2674620" cy="411480"/>
          </a:xfrm>
          <a:prstGeom prst="rect">
            <a:avLst/>
          </a:prstGeom>
          <a:solidFill>
            <a:srgbClr val="F5F7FA"/>
          </a:solidFill>
          <a:ln/>
        </p:spPr>
      </p:sp>
      <p:sp>
        <p:nvSpPr>
          <p:cNvPr id="40" name="Shape 38"/>
          <p:cNvSpPr/>
          <p:nvPr/>
        </p:nvSpPr>
        <p:spPr>
          <a:xfrm>
            <a:off x="6080760" y="2788920"/>
            <a:ext cx="73152" cy="411480"/>
          </a:xfrm>
          <a:prstGeom prst="rect">
            <a:avLst/>
          </a:prstGeom>
          <a:solidFill>
            <a:srgbClr val="D97E2B"/>
          </a:solidFill>
          <a:ln/>
        </p:spPr>
      </p:sp>
      <p:sp>
        <p:nvSpPr>
          <p:cNvPr id="41" name="Text 39"/>
          <p:cNvSpPr/>
          <p:nvPr/>
        </p:nvSpPr>
        <p:spPr>
          <a:xfrm>
            <a:off x="6263640" y="278892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Współczynnik konwersji</a:t>
            </a:r>
            <a:endParaRPr lang="en-US" sz="1300" dirty="0"/>
          </a:p>
        </p:txBody>
      </p:sp>
      <p:sp>
        <p:nvSpPr>
          <p:cNvPr id="42" name="Shape 40"/>
          <p:cNvSpPr/>
          <p:nvPr/>
        </p:nvSpPr>
        <p:spPr>
          <a:xfrm>
            <a:off x="6080760" y="3291840"/>
            <a:ext cx="2674620" cy="411480"/>
          </a:xfrm>
          <a:prstGeom prst="rect">
            <a:avLst/>
          </a:prstGeom>
          <a:solidFill>
            <a:srgbClr val="F5F7FA"/>
          </a:solidFill>
          <a:ln/>
        </p:spPr>
      </p:sp>
      <p:sp>
        <p:nvSpPr>
          <p:cNvPr id="43" name="Shape 41"/>
          <p:cNvSpPr/>
          <p:nvPr/>
        </p:nvSpPr>
        <p:spPr>
          <a:xfrm>
            <a:off x="6080760" y="3291840"/>
            <a:ext cx="73152" cy="411480"/>
          </a:xfrm>
          <a:prstGeom prst="rect">
            <a:avLst/>
          </a:prstGeom>
          <a:solidFill>
            <a:srgbClr val="D97E2B"/>
          </a:solidFill>
          <a:ln/>
        </p:spPr>
      </p:sp>
      <p:sp>
        <p:nvSpPr>
          <p:cNvPr id="44" name="Text 42"/>
          <p:cNvSpPr/>
          <p:nvPr/>
        </p:nvSpPr>
        <p:spPr>
          <a:xfrm>
            <a:off x="6263640" y="329184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AOV</a:t>
            </a:r>
            <a:endParaRPr lang="en-US" sz="1300" dirty="0"/>
          </a:p>
        </p:txBody>
      </p:sp>
      <p:sp>
        <p:nvSpPr>
          <p:cNvPr id="45" name="Shape 43"/>
          <p:cNvSpPr/>
          <p:nvPr/>
        </p:nvSpPr>
        <p:spPr>
          <a:xfrm>
            <a:off x="6080760" y="3794760"/>
            <a:ext cx="2674620" cy="411480"/>
          </a:xfrm>
          <a:prstGeom prst="rect">
            <a:avLst/>
          </a:prstGeom>
          <a:solidFill>
            <a:srgbClr val="F5F7FA"/>
          </a:solidFill>
          <a:ln/>
        </p:spPr>
      </p:sp>
      <p:sp>
        <p:nvSpPr>
          <p:cNvPr id="46" name="Shape 44"/>
          <p:cNvSpPr/>
          <p:nvPr/>
        </p:nvSpPr>
        <p:spPr>
          <a:xfrm>
            <a:off x="6080760" y="3794760"/>
            <a:ext cx="73152" cy="411480"/>
          </a:xfrm>
          <a:prstGeom prst="rect">
            <a:avLst/>
          </a:prstGeom>
          <a:solidFill>
            <a:srgbClr val="D97E2B"/>
          </a:solidFill>
          <a:ln/>
        </p:spPr>
      </p:sp>
      <p:sp>
        <p:nvSpPr>
          <p:cNvPr id="47" name="Text 45"/>
          <p:cNvSpPr/>
          <p:nvPr/>
        </p:nvSpPr>
        <p:spPr>
          <a:xfrm>
            <a:off x="6263640" y="379476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CPA</a:t>
            </a:r>
            <a:endParaRPr lang="en-US" sz="1300" dirty="0"/>
          </a:p>
        </p:txBody>
      </p:sp>
      <p:sp>
        <p:nvSpPr>
          <p:cNvPr id="48" name="Shape 46"/>
          <p:cNvSpPr/>
          <p:nvPr/>
        </p:nvSpPr>
        <p:spPr>
          <a:xfrm>
            <a:off x="6080760" y="4297680"/>
            <a:ext cx="2674620" cy="411480"/>
          </a:xfrm>
          <a:prstGeom prst="rect">
            <a:avLst/>
          </a:prstGeom>
          <a:solidFill>
            <a:srgbClr val="F5F7FA"/>
          </a:solidFill>
          <a:ln/>
        </p:spPr>
      </p:sp>
      <p:sp>
        <p:nvSpPr>
          <p:cNvPr id="49" name="Shape 47"/>
          <p:cNvSpPr/>
          <p:nvPr/>
        </p:nvSpPr>
        <p:spPr>
          <a:xfrm>
            <a:off x="6080760" y="4297680"/>
            <a:ext cx="73152" cy="411480"/>
          </a:xfrm>
          <a:prstGeom prst="rect">
            <a:avLst/>
          </a:prstGeom>
          <a:solidFill>
            <a:srgbClr val="D97E2B"/>
          </a:solidFill>
          <a:ln/>
        </p:spPr>
      </p:sp>
      <p:sp>
        <p:nvSpPr>
          <p:cNvPr id="50" name="Text 48"/>
          <p:cNvSpPr/>
          <p:nvPr/>
        </p:nvSpPr>
        <p:spPr>
          <a:xfrm>
            <a:off x="6263640" y="429768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Porzucone koszyki</a:t>
            </a:r>
            <a:endParaRPr lang="en-US" sz="1300" dirty="0"/>
          </a:p>
        </p:txBody>
      </p:sp>
      <p:sp>
        <p:nvSpPr>
          <p:cNvPr id="51" name="Text 49"/>
          <p:cNvSpPr/>
          <p:nvPr/>
        </p:nvSpPr>
        <p:spPr>
          <a:xfrm>
            <a:off x="6080760" y="5029200"/>
            <a:ext cx="2674620" cy="228600"/>
          </a:xfrm>
          <a:prstGeom prst="rect">
            <a:avLst/>
          </a:prstGeom>
          <a:noFill/>
          <a:ln/>
        </p:spPr>
        <p:txBody>
          <a:bodyPr wrap="square" lIns="0" tIns="0" rIns="0" bIns="0" rtlCol="0" anchor="ctr"/>
          <a:lstStyle/>
          <a:p>
            <a:pPr indent="0" marL="0">
              <a:buNone/>
            </a:pPr>
            <a:r>
              <a:rPr lang="en-US" sz="1000" b="1" spc="200" kern="0" dirty="0">
                <a:solidFill>
                  <a:srgbClr val="D97E2B"/>
                </a:solidFill>
                <a:latin typeface="Calibri" pitchFamily="34" charset="0"/>
                <a:ea typeface="Calibri" pitchFamily="34" charset="-122"/>
                <a:cs typeface="Calibri" pitchFamily="34" charset="-120"/>
              </a:rPr>
              <a:t>NARZĘDZIE</a:t>
            </a:r>
            <a:endParaRPr lang="en-US" sz="1000" dirty="0"/>
          </a:p>
        </p:txBody>
      </p:sp>
      <p:sp>
        <p:nvSpPr>
          <p:cNvPr id="52" name="Text 50"/>
          <p:cNvSpPr/>
          <p:nvPr/>
        </p:nvSpPr>
        <p:spPr>
          <a:xfrm>
            <a:off x="6080760" y="5257800"/>
            <a:ext cx="2674620" cy="457200"/>
          </a:xfrm>
          <a:prstGeom prst="rect">
            <a:avLst/>
          </a:prstGeom>
          <a:noFill/>
          <a:ln/>
        </p:spPr>
        <p:txBody>
          <a:bodyPr wrap="square" lIns="0" tIns="0" rIns="0" bIns="0" rtlCol="0" anchor="t"/>
          <a:lstStyle/>
          <a:p>
            <a:pPr indent="0" marL="0">
              <a:buNone/>
            </a:pPr>
            <a:r>
              <a:rPr lang="en-US" sz="1200" i="1" dirty="0">
                <a:solidFill>
                  <a:srgbClr val="475569"/>
                </a:solidFill>
                <a:latin typeface="Calibri" pitchFamily="34" charset="0"/>
                <a:ea typeface="Calibri" pitchFamily="34" charset="-122"/>
                <a:cs typeface="Calibri" pitchFamily="34" charset="-120"/>
              </a:rPr>
              <a:t>GA4 · platforma e-commerce</a:t>
            </a:r>
            <a:endParaRPr lang="en-US" sz="1200" dirty="0"/>
          </a:p>
        </p:txBody>
      </p:sp>
      <p:sp>
        <p:nvSpPr>
          <p:cNvPr id="53" name="Shape 51"/>
          <p:cNvSpPr/>
          <p:nvPr/>
        </p:nvSpPr>
        <p:spPr>
          <a:xfrm>
            <a:off x="8846820" y="2011680"/>
            <a:ext cx="2674620" cy="640080"/>
          </a:xfrm>
          <a:prstGeom prst="rect">
            <a:avLst/>
          </a:prstGeom>
          <a:solidFill>
            <a:srgbClr val="7A3F8F"/>
          </a:solidFill>
          <a:ln/>
        </p:spPr>
      </p:sp>
      <p:sp>
        <p:nvSpPr>
          <p:cNvPr id="54" name="Text 52"/>
          <p:cNvSpPr/>
          <p:nvPr/>
        </p:nvSpPr>
        <p:spPr>
          <a:xfrm>
            <a:off x="8983980" y="2011680"/>
            <a:ext cx="2400300" cy="64008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Zaangażowanie (Engage)</a:t>
            </a:r>
            <a:endParaRPr lang="en-US" sz="1500" dirty="0"/>
          </a:p>
        </p:txBody>
      </p:sp>
      <p:sp>
        <p:nvSpPr>
          <p:cNvPr id="55" name="Shape 53"/>
          <p:cNvSpPr/>
          <p:nvPr/>
        </p:nvSpPr>
        <p:spPr>
          <a:xfrm>
            <a:off x="8846820" y="2788920"/>
            <a:ext cx="2674620" cy="411480"/>
          </a:xfrm>
          <a:prstGeom prst="rect">
            <a:avLst/>
          </a:prstGeom>
          <a:solidFill>
            <a:srgbClr val="F5F7FA"/>
          </a:solidFill>
          <a:ln/>
        </p:spPr>
      </p:sp>
      <p:sp>
        <p:nvSpPr>
          <p:cNvPr id="56" name="Shape 54"/>
          <p:cNvSpPr/>
          <p:nvPr/>
        </p:nvSpPr>
        <p:spPr>
          <a:xfrm>
            <a:off x="8846820" y="2788920"/>
            <a:ext cx="73152" cy="411480"/>
          </a:xfrm>
          <a:prstGeom prst="rect">
            <a:avLst/>
          </a:prstGeom>
          <a:solidFill>
            <a:srgbClr val="7A3F8F"/>
          </a:solidFill>
          <a:ln/>
        </p:spPr>
      </p:sp>
      <p:sp>
        <p:nvSpPr>
          <p:cNvPr id="57" name="Text 55"/>
          <p:cNvSpPr/>
          <p:nvPr/>
        </p:nvSpPr>
        <p:spPr>
          <a:xfrm>
            <a:off x="9029700" y="278892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CLV</a:t>
            </a:r>
            <a:endParaRPr lang="en-US" sz="1300" dirty="0"/>
          </a:p>
        </p:txBody>
      </p:sp>
      <p:sp>
        <p:nvSpPr>
          <p:cNvPr id="58" name="Shape 56"/>
          <p:cNvSpPr/>
          <p:nvPr/>
        </p:nvSpPr>
        <p:spPr>
          <a:xfrm>
            <a:off x="8846820" y="3291840"/>
            <a:ext cx="2674620" cy="411480"/>
          </a:xfrm>
          <a:prstGeom prst="rect">
            <a:avLst/>
          </a:prstGeom>
          <a:solidFill>
            <a:srgbClr val="F5F7FA"/>
          </a:solidFill>
          <a:ln/>
        </p:spPr>
      </p:sp>
      <p:sp>
        <p:nvSpPr>
          <p:cNvPr id="59" name="Shape 57"/>
          <p:cNvSpPr/>
          <p:nvPr/>
        </p:nvSpPr>
        <p:spPr>
          <a:xfrm>
            <a:off x="8846820" y="3291840"/>
            <a:ext cx="73152" cy="411480"/>
          </a:xfrm>
          <a:prstGeom prst="rect">
            <a:avLst/>
          </a:prstGeom>
          <a:solidFill>
            <a:srgbClr val="7A3F8F"/>
          </a:solidFill>
          <a:ln/>
        </p:spPr>
      </p:sp>
      <p:sp>
        <p:nvSpPr>
          <p:cNvPr id="60" name="Text 58"/>
          <p:cNvSpPr/>
          <p:nvPr/>
        </p:nvSpPr>
        <p:spPr>
          <a:xfrm>
            <a:off x="9029700" y="329184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NPS</a:t>
            </a:r>
            <a:endParaRPr lang="en-US" sz="1300" dirty="0"/>
          </a:p>
        </p:txBody>
      </p:sp>
      <p:sp>
        <p:nvSpPr>
          <p:cNvPr id="61" name="Shape 59"/>
          <p:cNvSpPr/>
          <p:nvPr/>
        </p:nvSpPr>
        <p:spPr>
          <a:xfrm>
            <a:off x="8846820" y="3794760"/>
            <a:ext cx="2674620" cy="411480"/>
          </a:xfrm>
          <a:prstGeom prst="rect">
            <a:avLst/>
          </a:prstGeom>
          <a:solidFill>
            <a:srgbClr val="F5F7FA"/>
          </a:solidFill>
          <a:ln/>
        </p:spPr>
      </p:sp>
      <p:sp>
        <p:nvSpPr>
          <p:cNvPr id="62" name="Shape 60"/>
          <p:cNvSpPr/>
          <p:nvPr/>
        </p:nvSpPr>
        <p:spPr>
          <a:xfrm>
            <a:off x="8846820" y="3794760"/>
            <a:ext cx="73152" cy="411480"/>
          </a:xfrm>
          <a:prstGeom prst="rect">
            <a:avLst/>
          </a:prstGeom>
          <a:solidFill>
            <a:srgbClr val="7A3F8F"/>
          </a:solidFill>
          <a:ln/>
        </p:spPr>
      </p:sp>
      <p:sp>
        <p:nvSpPr>
          <p:cNvPr id="63" name="Text 61"/>
          <p:cNvSpPr/>
          <p:nvPr/>
        </p:nvSpPr>
        <p:spPr>
          <a:xfrm>
            <a:off x="9029700" y="379476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Wskaźnik powtórnych zakupów</a:t>
            </a:r>
            <a:endParaRPr lang="en-US" sz="1300" dirty="0"/>
          </a:p>
        </p:txBody>
      </p:sp>
      <p:sp>
        <p:nvSpPr>
          <p:cNvPr id="64" name="Shape 62"/>
          <p:cNvSpPr/>
          <p:nvPr/>
        </p:nvSpPr>
        <p:spPr>
          <a:xfrm>
            <a:off x="8846820" y="4297680"/>
            <a:ext cx="2674620" cy="411480"/>
          </a:xfrm>
          <a:prstGeom prst="rect">
            <a:avLst/>
          </a:prstGeom>
          <a:solidFill>
            <a:srgbClr val="F5F7FA"/>
          </a:solidFill>
          <a:ln/>
        </p:spPr>
      </p:sp>
      <p:sp>
        <p:nvSpPr>
          <p:cNvPr id="65" name="Shape 63"/>
          <p:cNvSpPr/>
          <p:nvPr/>
        </p:nvSpPr>
        <p:spPr>
          <a:xfrm>
            <a:off x="8846820" y="4297680"/>
            <a:ext cx="73152" cy="411480"/>
          </a:xfrm>
          <a:prstGeom prst="rect">
            <a:avLst/>
          </a:prstGeom>
          <a:solidFill>
            <a:srgbClr val="7A3F8F"/>
          </a:solidFill>
          <a:ln/>
        </p:spPr>
      </p:sp>
      <p:sp>
        <p:nvSpPr>
          <p:cNvPr id="66" name="Text 64"/>
          <p:cNvSpPr/>
          <p:nvPr/>
        </p:nvSpPr>
        <p:spPr>
          <a:xfrm>
            <a:off x="9029700" y="4297680"/>
            <a:ext cx="2491740" cy="4114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Churn rate</a:t>
            </a:r>
            <a:endParaRPr lang="en-US" sz="1300" dirty="0"/>
          </a:p>
        </p:txBody>
      </p:sp>
      <p:sp>
        <p:nvSpPr>
          <p:cNvPr id="67" name="Text 65"/>
          <p:cNvSpPr/>
          <p:nvPr/>
        </p:nvSpPr>
        <p:spPr>
          <a:xfrm>
            <a:off x="8846820" y="5029200"/>
            <a:ext cx="2674620" cy="228600"/>
          </a:xfrm>
          <a:prstGeom prst="rect">
            <a:avLst/>
          </a:prstGeom>
          <a:noFill/>
          <a:ln/>
        </p:spPr>
        <p:txBody>
          <a:bodyPr wrap="square" lIns="0" tIns="0" rIns="0" bIns="0" rtlCol="0" anchor="ctr"/>
          <a:lstStyle/>
          <a:p>
            <a:pPr indent="0" marL="0">
              <a:buNone/>
            </a:pPr>
            <a:r>
              <a:rPr lang="en-US" sz="1000" b="1" spc="200" kern="0" dirty="0">
                <a:solidFill>
                  <a:srgbClr val="7A3F8F"/>
                </a:solidFill>
                <a:latin typeface="Calibri" pitchFamily="34" charset="0"/>
                <a:ea typeface="Calibri" pitchFamily="34" charset="-122"/>
                <a:cs typeface="Calibri" pitchFamily="34" charset="-120"/>
              </a:rPr>
              <a:t>NARZĘDZIE</a:t>
            </a:r>
            <a:endParaRPr lang="en-US" sz="1000" dirty="0"/>
          </a:p>
        </p:txBody>
      </p:sp>
      <p:sp>
        <p:nvSpPr>
          <p:cNvPr id="68" name="Text 66"/>
          <p:cNvSpPr/>
          <p:nvPr/>
        </p:nvSpPr>
        <p:spPr>
          <a:xfrm>
            <a:off x="8846820" y="5257800"/>
            <a:ext cx="2674620" cy="457200"/>
          </a:xfrm>
          <a:prstGeom prst="rect">
            <a:avLst/>
          </a:prstGeom>
          <a:noFill/>
          <a:ln/>
        </p:spPr>
        <p:txBody>
          <a:bodyPr wrap="square" lIns="0" tIns="0" rIns="0" bIns="0" rtlCol="0" anchor="t"/>
          <a:lstStyle/>
          <a:p>
            <a:pPr indent="0" marL="0">
              <a:buNone/>
            </a:pPr>
            <a:r>
              <a:rPr lang="en-US" sz="1200" i="1" dirty="0">
                <a:solidFill>
                  <a:srgbClr val="475569"/>
                </a:solidFill>
                <a:latin typeface="Calibri" pitchFamily="34" charset="0"/>
                <a:ea typeface="Calibri" pitchFamily="34" charset="-122"/>
                <a:cs typeface="Calibri" pitchFamily="34" charset="-120"/>
              </a:rPr>
              <a:t>CRM · NPS tool</a:t>
            </a:r>
            <a:endParaRPr lang="en-US" sz="1200" dirty="0"/>
          </a:p>
        </p:txBody>
      </p:sp>
      <p:sp>
        <p:nvSpPr>
          <p:cNvPr id="69" name="Text 67"/>
          <p:cNvSpPr/>
          <p:nvPr/>
        </p:nvSpPr>
        <p:spPr>
          <a:xfrm>
            <a:off x="548640" y="5989320"/>
            <a:ext cx="11064240" cy="274320"/>
          </a:xfrm>
          <a:prstGeom prst="rect">
            <a:avLst/>
          </a:prstGeom>
          <a:noFill/>
          <a:ln/>
        </p:spPr>
        <p:txBody>
          <a:bodyPr wrap="square" rtlCol="0" anchor="ctr"/>
          <a:lstStyle/>
          <a:p>
            <a:pPr algn="ctr" indent="0" marL="0">
              <a:buNone/>
            </a:pPr>
            <a:r>
              <a:rPr lang="en-US" sz="1300" b="1" i="1" dirty="0">
                <a:solidFill>
                  <a:srgbClr val="1A7A8A"/>
                </a:solidFill>
                <a:latin typeface="Calibri" pitchFamily="34" charset="0"/>
                <a:ea typeface="Calibri" pitchFamily="34" charset="-122"/>
                <a:cs typeface="Calibri" pitchFamily="34" charset="-120"/>
              </a:rPr>
              <a:t>Zabierz ten slajd — to punkt wyjścia do dashboardu KPI dla waszej marki z Ćwiczenia 2.</a:t>
            </a:r>
            <a:endParaRPr lang="en-US" sz="1300" dirty="0"/>
          </a:p>
        </p:txBody>
      </p:sp>
      <p:sp>
        <p:nvSpPr>
          <p:cNvPr id="70" name="Text 68"/>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71" name="Text 69"/>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13 / 16</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E33"/>
        </a:solidFill>
      </p:bgPr>
    </p:bg>
    <p:spTree>
      <p:nvGrpSpPr>
        <p:cNvPr id="1" name=""/>
        <p:cNvGrpSpPr/>
        <p:nvPr/>
      </p:nvGrpSpPr>
      <p:grpSpPr>
        <a:xfrm>
          <a:off x="0" y="0"/>
          <a:ext cx="0" cy="0"/>
          <a:chOff x="0" y="0"/>
          <a:chExt cx="0" cy="0"/>
        </a:xfrm>
      </p:grpSpPr>
      <p:sp>
        <p:nvSpPr>
          <p:cNvPr id="2" name="Shape 0"/>
          <p:cNvSpPr/>
          <p:nvPr/>
        </p:nvSpPr>
        <p:spPr>
          <a:xfrm>
            <a:off x="0" y="0"/>
            <a:ext cx="182880" cy="6858000"/>
          </a:xfrm>
          <a:prstGeom prst="rect">
            <a:avLst/>
          </a:prstGeom>
          <a:solidFill>
            <a:srgbClr val="E8A838"/>
          </a:solidFill>
          <a:ln/>
        </p:spPr>
      </p:sp>
      <p:sp>
        <p:nvSpPr>
          <p:cNvPr id="3" name="Text 1"/>
          <p:cNvSpPr/>
          <p:nvPr/>
        </p:nvSpPr>
        <p:spPr>
          <a:xfrm>
            <a:off x="731520" y="1463040"/>
            <a:ext cx="10698480" cy="365760"/>
          </a:xfrm>
          <a:prstGeom prst="rect">
            <a:avLst/>
          </a:prstGeom>
          <a:noFill/>
          <a:ln/>
        </p:spPr>
        <p:txBody>
          <a:bodyPr wrap="square" rtlCol="0" anchor="ctr"/>
          <a:lstStyle/>
          <a:p>
            <a:pPr algn="l" indent="0" marL="0">
              <a:buNone/>
            </a:pPr>
            <a:r>
              <a:rPr lang="en-US" sz="1400" b="1" spc="400" kern="0" dirty="0">
                <a:solidFill>
                  <a:srgbClr val="E8A838"/>
                </a:solidFill>
                <a:latin typeface="Calibri" pitchFamily="34" charset="0"/>
                <a:ea typeface="Calibri" pitchFamily="34" charset="-122"/>
                <a:cs typeface="Calibri" pitchFamily="34" charset="-120"/>
              </a:rPr>
              <a:t>WARSZTAT 2 · 40 MIN</a:t>
            </a:r>
            <a:endParaRPr lang="en-US" sz="1400" dirty="0"/>
          </a:p>
        </p:txBody>
      </p:sp>
      <p:sp>
        <p:nvSpPr>
          <p:cNvPr id="4" name="Text 2"/>
          <p:cNvSpPr/>
          <p:nvPr/>
        </p:nvSpPr>
        <p:spPr>
          <a:xfrm>
            <a:off x="731520" y="1920240"/>
            <a:ext cx="10698480" cy="2011680"/>
          </a:xfrm>
          <a:prstGeom prst="rect">
            <a:avLst/>
          </a:prstGeom>
          <a:noFill/>
          <a:ln/>
        </p:spPr>
        <p:txBody>
          <a:bodyPr wrap="square" lIns="0" tIns="0" rIns="0" bIns="0" rtlCol="0" anchor="t"/>
          <a:lstStyle/>
          <a:p>
            <a:pPr algn="l" indent="0" marL="0">
              <a:buNone/>
            </a:pPr>
            <a:r>
              <a:rPr lang="en-US" sz="5400" b="1" dirty="0">
                <a:solidFill>
                  <a:srgbClr val="FFFFFF"/>
                </a:solidFill>
                <a:latin typeface="Calibri" pitchFamily="34" charset="0"/>
                <a:ea typeface="Calibri" pitchFamily="34" charset="-122"/>
                <a:cs typeface="Calibri" pitchFamily="34" charset="-120"/>
              </a:rPr>
              <a:t>Czas na ćwiczenia</a:t>
            </a:r>
            <a:endParaRPr lang="en-US" sz="5400" dirty="0"/>
          </a:p>
        </p:txBody>
      </p:sp>
      <p:sp>
        <p:nvSpPr>
          <p:cNvPr id="5" name="Text 3"/>
          <p:cNvSpPr/>
          <p:nvPr/>
        </p:nvSpPr>
        <p:spPr>
          <a:xfrm>
            <a:off x="731520" y="4206240"/>
            <a:ext cx="10698480" cy="1097280"/>
          </a:xfrm>
          <a:prstGeom prst="rect">
            <a:avLst/>
          </a:prstGeom>
          <a:noFill/>
          <a:ln/>
        </p:spPr>
        <p:txBody>
          <a:bodyPr wrap="square" rtlCol="0" anchor="t"/>
          <a:lstStyle/>
          <a:p>
            <a:pPr algn="l" indent="0" marL="0">
              <a:buNone/>
            </a:pPr>
            <a:r>
              <a:rPr lang="en-US" sz="2200" dirty="0">
                <a:solidFill>
                  <a:srgbClr val="94A3B8"/>
                </a:solidFill>
                <a:latin typeface="Calibri" pitchFamily="34" charset="0"/>
                <a:ea typeface="Calibri" pitchFamily="34" charset="-122"/>
                <a:cs typeface="Calibri" pitchFamily="34" charset="-120"/>
              </a:rPr>
              <a:t>Mapa Podróży Klienta RACE — dla waszej marki</a:t>
            </a:r>
            <a:endParaRPr lang="en-US" sz="2200" dirty="0"/>
          </a:p>
        </p:txBody>
      </p:sp>
      <p:sp>
        <p:nvSpPr>
          <p:cNvPr id="6" name="Text 4"/>
          <p:cNvSpPr/>
          <p:nvPr/>
        </p:nvSpPr>
        <p:spPr>
          <a:xfrm>
            <a:off x="731520" y="5852160"/>
            <a:ext cx="10698480" cy="365760"/>
          </a:xfrm>
          <a:prstGeom prst="rect">
            <a:avLst/>
          </a:prstGeom>
          <a:noFill/>
          <a:ln/>
        </p:spPr>
        <p:txBody>
          <a:bodyPr wrap="square" rtlCol="0" anchor="ctr"/>
          <a:lstStyle/>
          <a:p>
            <a:pPr algn="l" indent="0" marL="0">
              <a:buNone/>
            </a:pPr>
            <a:r>
              <a:rPr lang="en-US" sz="1300" i="1" dirty="0">
                <a:solidFill>
                  <a:srgbClr val="94A3B8"/>
                </a:solidFill>
                <a:latin typeface="Calibri" pitchFamily="34" charset="0"/>
                <a:ea typeface="Calibri" pitchFamily="34" charset="-122"/>
                <a:cs typeface="Calibri" pitchFamily="34" charset="-120"/>
              </a:rPr>
              <a:t>Ta sama marka, co w Warsztacie 1 · Kontynuacja przez cały dzień</a:t>
            </a:r>
            <a:endParaRPr lang="en-US" sz="1300" dirty="0"/>
          </a:p>
        </p:txBody>
      </p:sp>
      <p:sp>
        <p:nvSpPr>
          <p:cNvPr id="7" name="Text 5"/>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14 / 16</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E33"/>
        </a:solidFill>
      </p:bgPr>
    </p:bg>
    <p:spTree>
      <p:nvGrpSpPr>
        <p:cNvPr id="1" name=""/>
        <p:cNvGrpSpPr/>
        <p:nvPr/>
      </p:nvGrpSpPr>
      <p:grpSpPr>
        <a:xfrm>
          <a:off x="0" y="0"/>
          <a:ext cx="0" cy="0"/>
          <a:chOff x="0" y="0"/>
          <a:chExt cx="0" cy="0"/>
        </a:xfrm>
      </p:grpSpPr>
      <p:sp>
        <p:nvSpPr>
          <p:cNvPr id="2" name="Shape 0"/>
          <p:cNvSpPr/>
          <p:nvPr/>
        </p:nvSpPr>
        <p:spPr>
          <a:xfrm>
            <a:off x="0" y="0"/>
            <a:ext cx="12161520" cy="1645920"/>
          </a:xfrm>
          <a:prstGeom prst="rect">
            <a:avLst/>
          </a:prstGeom>
          <a:solidFill>
            <a:srgbClr val="0F1E33"/>
          </a:solidFill>
          <a:ln/>
        </p:spPr>
      </p:sp>
      <p:sp>
        <p:nvSpPr>
          <p:cNvPr id="3" name="Text 1"/>
          <p:cNvSpPr/>
          <p:nvPr/>
        </p:nvSpPr>
        <p:spPr>
          <a:xfrm>
            <a:off x="548640" y="365760"/>
            <a:ext cx="11064240" cy="274320"/>
          </a:xfrm>
          <a:prstGeom prst="rect">
            <a:avLst/>
          </a:prstGeom>
          <a:noFill/>
          <a:ln/>
        </p:spPr>
        <p:txBody>
          <a:bodyPr wrap="square" lIns="0" tIns="0" rIns="0" bIns="0" rtlCol="0" anchor="ctr"/>
          <a:lstStyle/>
          <a:p>
            <a:pPr indent="0" marL="0">
              <a:buNone/>
            </a:pPr>
            <a:r>
              <a:rPr lang="en-US" sz="1200" b="1" spc="400" kern="0" dirty="0">
                <a:solidFill>
                  <a:srgbClr val="E8A838"/>
                </a:solidFill>
                <a:latin typeface="Calibri" pitchFamily="34" charset="0"/>
                <a:ea typeface="Calibri" pitchFamily="34" charset="-122"/>
                <a:cs typeface="Calibri" pitchFamily="34" charset="-120"/>
              </a:rPr>
              <a:t>WARSZTAT 2 · 40 MIN · CANVA WHITEBOARD</a:t>
            </a:r>
            <a:endParaRPr lang="en-US" sz="1200" dirty="0"/>
          </a:p>
        </p:txBody>
      </p:sp>
      <p:sp>
        <p:nvSpPr>
          <p:cNvPr id="4" name="Text 2"/>
          <p:cNvSpPr/>
          <p:nvPr/>
        </p:nvSpPr>
        <p:spPr>
          <a:xfrm>
            <a:off x="548640" y="640080"/>
            <a:ext cx="11064240"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Mapa Podróży Klienta RACE</a:t>
            </a:r>
            <a:endParaRPr lang="en-US" sz="3200" dirty="0"/>
          </a:p>
        </p:txBody>
      </p:sp>
      <p:sp>
        <p:nvSpPr>
          <p:cNvPr id="5" name="Shape 3"/>
          <p:cNvSpPr/>
          <p:nvPr/>
        </p:nvSpPr>
        <p:spPr>
          <a:xfrm>
            <a:off x="548640" y="1737360"/>
            <a:ext cx="11064240" cy="777240"/>
          </a:xfrm>
          <a:prstGeom prst="rect">
            <a:avLst/>
          </a:prstGeom>
          <a:solidFill>
            <a:srgbClr val="1A2F4F"/>
          </a:solidFill>
          <a:ln/>
        </p:spPr>
      </p:sp>
      <p:sp>
        <p:nvSpPr>
          <p:cNvPr id="6" name="Shape 4"/>
          <p:cNvSpPr/>
          <p:nvPr/>
        </p:nvSpPr>
        <p:spPr>
          <a:xfrm>
            <a:off x="548640" y="1737360"/>
            <a:ext cx="109728" cy="777240"/>
          </a:xfrm>
          <a:prstGeom prst="rect">
            <a:avLst/>
          </a:prstGeom>
          <a:solidFill>
            <a:srgbClr val="2E5D9F"/>
          </a:solidFill>
          <a:ln/>
        </p:spPr>
      </p:sp>
      <p:sp>
        <p:nvSpPr>
          <p:cNvPr id="7" name="Text 5"/>
          <p:cNvSpPr/>
          <p:nvPr/>
        </p:nvSpPr>
        <p:spPr>
          <a:xfrm>
            <a:off x="777240" y="1828800"/>
            <a:ext cx="2194560" cy="320040"/>
          </a:xfrm>
          <a:prstGeom prst="rect">
            <a:avLst/>
          </a:prstGeom>
          <a:noFill/>
          <a:ln/>
        </p:spPr>
        <p:txBody>
          <a:bodyPr wrap="square" lIns="0" tIns="0" rIns="0" bIns="0" rtlCol="0" anchor="ctr"/>
          <a:lstStyle/>
          <a:p>
            <a:pPr indent="0" marL="0">
              <a:buNone/>
            </a:pPr>
            <a:r>
              <a:rPr lang="en-US" sz="1200" b="1" spc="300" kern="0" dirty="0">
                <a:solidFill>
                  <a:srgbClr val="2E5D9F"/>
                </a:solidFill>
                <a:latin typeface="Calibri" pitchFamily="34" charset="0"/>
                <a:ea typeface="Calibri" pitchFamily="34" charset="-122"/>
                <a:cs typeface="Calibri" pitchFamily="34" charset="-120"/>
              </a:rPr>
              <a:t>ZADANIE</a:t>
            </a:r>
            <a:endParaRPr lang="en-US" sz="1200" dirty="0"/>
          </a:p>
        </p:txBody>
      </p:sp>
      <p:sp>
        <p:nvSpPr>
          <p:cNvPr id="8" name="Text 6"/>
          <p:cNvSpPr/>
          <p:nvPr/>
        </p:nvSpPr>
        <p:spPr>
          <a:xfrm>
            <a:off x="777240" y="2103120"/>
            <a:ext cx="10607040" cy="3200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Zmapujcie ścieżkę klienta dla waszej marki przez 4 etapy RACE (Reach → Act → Convert → Engage) — w każdym: kanały, emocje klienta, punkty tarcia.</a:t>
            </a:r>
            <a:endParaRPr lang="en-US" sz="1500" dirty="0"/>
          </a:p>
        </p:txBody>
      </p:sp>
      <p:sp>
        <p:nvSpPr>
          <p:cNvPr id="9" name="Shape 7"/>
          <p:cNvSpPr/>
          <p:nvPr/>
        </p:nvSpPr>
        <p:spPr>
          <a:xfrm>
            <a:off x="548640" y="2606040"/>
            <a:ext cx="11064240" cy="777240"/>
          </a:xfrm>
          <a:prstGeom prst="rect">
            <a:avLst/>
          </a:prstGeom>
          <a:solidFill>
            <a:srgbClr val="1A2F4F"/>
          </a:solidFill>
          <a:ln/>
        </p:spPr>
      </p:sp>
      <p:sp>
        <p:nvSpPr>
          <p:cNvPr id="10" name="Shape 8"/>
          <p:cNvSpPr/>
          <p:nvPr/>
        </p:nvSpPr>
        <p:spPr>
          <a:xfrm>
            <a:off x="548640" y="2606040"/>
            <a:ext cx="109728" cy="777240"/>
          </a:xfrm>
          <a:prstGeom prst="rect">
            <a:avLst/>
          </a:prstGeom>
          <a:solidFill>
            <a:srgbClr val="2D7A4F"/>
          </a:solidFill>
          <a:ln/>
        </p:spPr>
      </p:sp>
      <p:sp>
        <p:nvSpPr>
          <p:cNvPr id="11" name="Text 9"/>
          <p:cNvSpPr/>
          <p:nvPr/>
        </p:nvSpPr>
        <p:spPr>
          <a:xfrm>
            <a:off x="777240" y="2697480"/>
            <a:ext cx="2194560" cy="320040"/>
          </a:xfrm>
          <a:prstGeom prst="rect">
            <a:avLst/>
          </a:prstGeom>
          <a:noFill/>
          <a:ln/>
        </p:spPr>
        <p:txBody>
          <a:bodyPr wrap="square" lIns="0" tIns="0" rIns="0" bIns="0" rtlCol="0" anchor="ctr"/>
          <a:lstStyle/>
          <a:p>
            <a:pPr indent="0" marL="0">
              <a:buNone/>
            </a:pPr>
            <a:r>
              <a:rPr lang="en-US" sz="1200" b="1" spc="300" kern="0" dirty="0">
                <a:solidFill>
                  <a:srgbClr val="2D7A4F"/>
                </a:solidFill>
                <a:latin typeface="Calibri" pitchFamily="34" charset="0"/>
                <a:ea typeface="Calibri" pitchFamily="34" charset="-122"/>
                <a:cs typeface="Calibri" pitchFamily="34" charset="-120"/>
              </a:rPr>
              <a:t>CZAS / OUTPUT</a:t>
            </a:r>
            <a:endParaRPr lang="en-US" sz="1200" dirty="0"/>
          </a:p>
        </p:txBody>
      </p:sp>
      <p:sp>
        <p:nvSpPr>
          <p:cNvPr id="12" name="Text 10"/>
          <p:cNvSpPr/>
          <p:nvPr/>
        </p:nvSpPr>
        <p:spPr>
          <a:xfrm>
            <a:off x="777240" y="2971800"/>
            <a:ext cx="10607040" cy="3200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40 minut · do 12:30. Wynik: 4 swim lanes × 3 pod-strefy (Kanały · Emocje · Tarcie) + 1 KPI na etap.</a:t>
            </a:r>
            <a:endParaRPr lang="en-US" sz="1500" dirty="0"/>
          </a:p>
        </p:txBody>
      </p:sp>
      <p:sp>
        <p:nvSpPr>
          <p:cNvPr id="13" name="Shape 11"/>
          <p:cNvSpPr/>
          <p:nvPr/>
        </p:nvSpPr>
        <p:spPr>
          <a:xfrm>
            <a:off x="548640" y="3474720"/>
            <a:ext cx="11064240" cy="777240"/>
          </a:xfrm>
          <a:prstGeom prst="rect">
            <a:avLst/>
          </a:prstGeom>
          <a:solidFill>
            <a:srgbClr val="1A2F4F"/>
          </a:solidFill>
          <a:ln/>
        </p:spPr>
      </p:sp>
      <p:sp>
        <p:nvSpPr>
          <p:cNvPr id="14" name="Shape 12"/>
          <p:cNvSpPr/>
          <p:nvPr/>
        </p:nvSpPr>
        <p:spPr>
          <a:xfrm>
            <a:off x="548640" y="3474720"/>
            <a:ext cx="109728" cy="777240"/>
          </a:xfrm>
          <a:prstGeom prst="rect">
            <a:avLst/>
          </a:prstGeom>
          <a:solidFill>
            <a:srgbClr val="D97E2B"/>
          </a:solidFill>
          <a:ln/>
        </p:spPr>
      </p:sp>
      <p:sp>
        <p:nvSpPr>
          <p:cNvPr id="15" name="Text 13"/>
          <p:cNvSpPr/>
          <p:nvPr/>
        </p:nvSpPr>
        <p:spPr>
          <a:xfrm>
            <a:off x="777240" y="3566160"/>
            <a:ext cx="2194560" cy="320040"/>
          </a:xfrm>
          <a:prstGeom prst="rect">
            <a:avLst/>
          </a:prstGeom>
          <a:noFill/>
          <a:ln/>
        </p:spPr>
        <p:txBody>
          <a:bodyPr wrap="square" lIns="0" tIns="0" rIns="0" bIns="0" rtlCol="0" anchor="ctr"/>
          <a:lstStyle/>
          <a:p>
            <a:pPr indent="0" marL="0">
              <a:buNone/>
            </a:pPr>
            <a:r>
              <a:rPr lang="en-US" sz="1200" b="1" spc="300" kern="0" dirty="0">
                <a:solidFill>
                  <a:srgbClr val="D97E2B"/>
                </a:solidFill>
                <a:latin typeface="Calibri" pitchFamily="34" charset="0"/>
                <a:ea typeface="Calibri" pitchFamily="34" charset="-122"/>
                <a:cs typeface="Calibri" pitchFamily="34" charset="-120"/>
              </a:rPr>
              <a:t>NARZĘDZIE</a:t>
            </a:r>
            <a:endParaRPr lang="en-US" sz="1200" dirty="0"/>
          </a:p>
        </p:txBody>
      </p:sp>
      <p:sp>
        <p:nvSpPr>
          <p:cNvPr id="16" name="Text 14"/>
          <p:cNvSpPr/>
          <p:nvPr/>
        </p:nvSpPr>
        <p:spPr>
          <a:xfrm>
            <a:off x="777240" y="3840480"/>
            <a:ext cx="10607040" cy="3200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Canva Whiteboard — poziome swim lanes w kolorach RACE. Wejdź przez QR kod.</a:t>
            </a:r>
            <a:endParaRPr lang="en-US" sz="1500" dirty="0"/>
          </a:p>
        </p:txBody>
      </p:sp>
      <p:sp>
        <p:nvSpPr>
          <p:cNvPr id="17" name="Shape 15"/>
          <p:cNvSpPr/>
          <p:nvPr/>
        </p:nvSpPr>
        <p:spPr>
          <a:xfrm>
            <a:off x="548640" y="4343400"/>
            <a:ext cx="11064240" cy="777240"/>
          </a:xfrm>
          <a:prstGeom prst="rect">
            <a:avLst/>
          </a:prstGeom>
          <a:solidFill>
            <a:srgbClr val="1A2F4F"/>
          </a:solidFill>
          <a:ln/>
        </p:spPr>
      </p:sp>
      <p:sp>
        <p:nvSpPr>
          <p:cNvPr id="18" name="Shape 16"/>
          <p:cNvSpPr/>
          <p:nvPr/>
        </p:nvSpPr>
        <p:spPr>
          <a:xfrm>
            <a:off x="548640" y="4343400"/>
            <a:ext cx="109728" cy="777240"/>
          </a:xfrm>
          <a:prstGeom prst="rect">
            <a:avLst/>
          </a:prstGeom>
          <a:solidFill>
            <a:srgbClr val="7A3F8F"/>
          </a:solidFill>
          <a:ln/>
        </p:spPr>
      </p:sp>
      <p:sp>
        <p:nvSpPr>
          <p:cNvPr id="19" name="Text 17"/>
          <p:cNvSpPr/>
          <p:nvPr/>
        </p:nvSpPr>
        <p:spPr>
          <a:xfrm>
            <a:off x="777240" y="4434840"/>
            <a:ext cx="2194560" cy="320040"/>
          </a:xfrm>
          <a:prstGeom prst="rect">
            <a:avLst/>
          </a:prstGeom>
          <a:noFill/>
          <a:ln/>
        </p:spPr>
        <p:txBody>
          <a:bodyPr wrap="square" lIns="0" tIns="0" rIns="0" bIns="0" rtlCol="0" anchor="ctr"/>
          <a:lstStyle/>
          <a:p>
            <a:pPr indent="0" marL="0">
              <a:buNone/>
            </a:pPr>
            <a:r>
              <a:rPr lang="en-US" sz="1200" b="1" spc="300" kern="0" dirty="0">
                <a:solidFill>
                  <a:srgbClr val="7A3F8F"/>
                </a:solidFill>
                <a:latin typeface="Calibri" pitchFamily="34" charset="0"/>
                <a:ea typeface="Calibri" pitchFamily="34" charset="-122"/>
                <a:cs typeface="Calibri" pitchFamily="34" charset="-120"/>
              </a:rPr>
              <a:t>PERSONA</a:t>
            </a:r>
            <a:endParaRPr lang="en-US" sz="1200" dirty="0"/>
          </a:p>
        </p:txBody>
      </p:sp>
      <p:sp>
        <p:nvSpPr>
          <p:cNvPr id="20" name="Text 18"/>
          <p:cNvSpPr/>
          <p:nvPr/>
        </p:nvSpPr>
        <p:spPr>
          <a:xfrm>
            <a:off x="777240" y="4709160"/>
            <a:ext cx="10607040" cy="320040"/>
          </a:xfrm>
          <a:prstGeom prst="rect">
            <a:avLst/>
          </a:prstGeom>
          <a:noFill/>
          <a:ln/>
        </p:spPr>
        <p:txBody>
          <a:bodyPr wrap="square" lIns="0" tIns="0" rIns="0" bIns="0" rtlCol="0" anchor="t"/>
          <a:lstStyle/>
          <a:p>
            <a:pPr indent="0" marL="0">
              <a:buNone/>
            </a:pPr>
            <a:r>
              <a:rPr lang="en-US" sz="1500" dirty="0">
                <a:solidFill>
                  <a:srgbClr val="FFFFFF"/>
                </a:solidFill>
                <a:latin typeface="Calibri" pitchFamily="34" charset="0"/>
                <a:ea typeface="Calibri" pitchFamily="34" charset="-122"/>
                <a:cs typeface="Calibri" pitchFamily="34" charset="-120"/>
              </a:rPr>
              <a:t>Zdefiniujcie personę ZANIM zaczniecie: imię, wiek, miasto, kontekst. Bez tego mapa jest zbyt ogólna, żeby być użyteczna.</a:t>
            </a:r>
            <a:endParaRPr lang="en-US" sz="1500" dirty="0"/>
          </a:p>
        </p:txBody>
      </p:sp>
      <p:sp>
        <p:nvSpPr>
          <p:cNvPr id="21" name="Shape 19"/>
          <p:cNvSpPr/>
          <p:nvPr/>
        </p:nvSpPr>
        <p:spPr>
          <a:xfrm>
            <a:off x="548640" y="5303520"/>
            <a:ext cx="11064240" cy="822960"/>
          </a:xfrm>
          <a:prstGeom prst="rect">
            <a:avLst/>
          </a:prstGeom>
          <a:solidFill>
            <a:srgbClr val="E8A838"/>
          </a:solidFill>
          <a:ln/>
        </p:spPr>
      </p:sp>
      <p:sp>
        <p:nvSpPr>
          <p:cNvPr id="22" name="Text 20"/>
          <p:cNvSpPr/>
          <p:nvPr/>
        </p:nvSpPr>
        <p:spPr>
          <a:xfrm>
            <a:off x="777240" y="5303520"/>
            <a:ext cx="10607040" cy="822960"/>
          </a:xfrm>
          <a:prstGeom prst="rect">
            <a:avLst/>
          </a:prstGeom>
          <a:noFill/>
          <a:ln/>
        </p:spPr>
        <p:txBody>
          <a:bodyPr wrap="square" lIns="0" tIns="0" rIns="0" bIns="0" rtlCol="0" anchor="ctr"/>
          <a:lstStyle/>
          <a:p>
            <a:pPr indent="0" marL="0">
              <a:buNone/>
            </a:pPr>
            <a:r>
              <a:rPr lang="en-US" sz="1600" b="1" dirty="0">
                <a:solidFill>
                  <a:srgbClr val="0F1E33"/>
                </a:solidFill>
                <a:latin typeface="Calibri" pitchFamily="34" charset="0"/>
                <a:ea typeface="Calibri" pitchFamily="34" charset="-122"/>
                <a:cs typeface="Calibri" pitchFamily="34" charset="-120"/>
              </a:rPr>
              <a:t>Kontynuujcie pracę z marką wybraną w Ćwiczeniu 1 — ta sama marka przez cały dzień.</a:t>
            </a:r>
            <a:endParaRPr lang="en-US" sz="1600" dirty="0"/>
          </a:p>
        </p:txBody>
      </p:sp>
      <p:sp>
        <p:nvSpPr>
          <p:cNvPr id="23" name="Text 21"/>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15 / 16</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11064240" cy="274320"/>
          </a:xfrm>
          <a:prstGeom prst="rect">
            <a:avLst/>
          </a:prstGeom>
          <a:noFill/>
          <a:ln/>
        </p:spPr>
        <p:txBody>
          <a:bodyPr wrap="square" lIns="0" tIns="0" rIns="0" bIns="0" rtlCol="0" anchor="ctr"/>
          <a:lstStyle/>
          <a:p>
            <a:pPr algn="l" indent="0" marL="0">
              <a:buNone/>
            </a:pPr>
            <a:r>
              <a:rPr lang="en-US" sz="1100" b="1" spc="300" kern="0" dirty="0">
                <a:solidFill>
                  <a:srgbClr val="1A7A8A"/>
                </a:solidFill>
                <a:latin typeface="Calibri" pitchFamily="34" charset="0"/>
                <a:ea typeface="Calibri" pitchFamily="34" charset="-122"/>
                <a:cs typeface="Calibri" pitchFamily="34" charset="-120"/>
              </a:rPr>
              <a:t>WARSZTAT 2 · PRZYKŁAD ROBOCZY</a:t>
            </a:r>
            <a:endParaRPr lang="en-US" sz="1100" dirty="0"/>
          </a:p>
        </p:txBody>
      </p:sp>
      <p:sp>
        <p:nvSpPr>
          <p:cNvPr id="3" name="Text 1"/>
          <p:cNvSpPr/>
          <p:nvPr/>
        </p:nvSpPr>
        <p:spPr>
          <a:xfrm>
            <a:off x="548640" y="594360"/>
            <a:ext cx="11064240" cy="777240"/>
          </a:xfrm>
          <a:prstGeom prst="rect">
            <a:avLst/>
          </a:prstGeom>
          <a:noFill/>
          <a:ln/>
        </p:spPr>
        <p:txBody>
          <a:bodyPr wrap="square" lIns="0" tIns="0" rIns="0" bIns="0" rtlCol="0" anchor="t"/>
          <a:lstStyle/>
          <a:p>
            <a:pPr algn="l" indent="0" marL="0">
              <a:buNone/>
            </a:pPr>
            <a:r>
              <a:rPr lang="en-US" sz="3000" b="1" dirty="0">
                <a:solidFill>
                  <a:srgbClr val="1E293B"/>
                </a:solidFill>
                <a:latin typeface="Calibri" pitchFamily="34" charset="0"/>
                <a:ea typeface="Calibri" pitchFamily="34" charset="-122"/>
                <a:cs typeface="Calibri" pitchFamily="34" charset="-120"/>
              </a:rPr>
              <a:t>Żappka — mapa RACE dla persony Ani</a:t>
            </a:r>
            <a:endParaRPr lang="en-US" sz="30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algn="l" indent="0" marL="0">
              <a:buNone/>
            </a:pPr>
            <a:r>
              <a:rPr lang="en-US" sz="1500" i="1" dirty="0">
                <a:solidFill>
                  <a:srgbClr val="475569"/>
                </a:solidFill>
                <a:latin typeface="Calibri" pitchFamily="34" charset="0"/>
                <a:ea typeface="Calibri" pitchFamily="34" charset="-122"/>
                <a:cs typeface="Calibri" pitchFamily="34" charset="-120"/>
              </a:rPr>
              <a:t>Persona: Ania, 32 lata, Warszawa, zakupy w Żabce ~4x/tydzień. Wzór formatu dla waszej pracy.</a:t>
            </a:r>
            <a:endParaRPr lang="en-US" sz="1500" dirty="0"/>
          </a:p>
        </p:txBody>
      </p:sp>
      <p:sp>
        <p:nvSpPr>
          <p:cNvPr id="5" name="Shape 3"/>
          <p:cNvSpPr/>
          <p:nvPr/>
        </p:nvSpPr>
        <p:spPr>
          <a:xfrm>
            <a:off x="548640" y="1920240"/>
            <a:ext cx="1828800" cy="886968"/>
          </a:xfrm>
          <a:prstGeom prst="rect">
            <a:avLst/>
          </a:prstGeom>
          <a:solidFill>
            <a:srgbClr val="2E5D9F"/>
          </a:solidFill>
          <a:ln/>
        </p:spPr>
      </p:sp>
      <p:sp>
        <p:nvSpPr>
          <p:cNvPr id="6" name="Text 4"/>
          <p:cNvSpPr/>
          <p:nvPr/>
        </p:nvSpPr>
        <p:spPr>
          <a:xfrm>
            <a:off x="548640" y="1920240"/>
            <a:ext cx="1828800" cy="8869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Zasięg</a:t>
            </a:r>
            <a:endParaRPr lang="en-US" sz="1400" dirty="0"/>
          </a:p>
        </p:txBody>
      </p:sp>
      <p:sp>
        <p:nvSpPr>
          <p:cNvPr id="7" name="Shape 5"/>
          <p:cNvSpPr/>
          <p:nvPr/>
        </p:nvSpPr>
        <p:spPr>
          <a:xfrm>
            <a:off x="2468880" y="1920240"/>
            <a:ext cx="3048000" cy="886968"/>
          </a:xfrm>
          <a:prstGeom prst="rect">
            <a:avLst/>
          </a:prstGeom>
          <a:solidFill>
            <a:srgbClr val="F5F7FA"/>
          </a:solidFill>
          <a:ln/>
        </p:spPr>
      </p:sp>
      <p:sp>
        <p:nvSpPr>
          <p:cNvPr id="8" name="Shape 6"/>
          <p:cNvSpPr/>
          <p:nvPr/>
        </p:nvSpPr>
        <p:spPr>
          <a:xfrm>
            <a:off x="2468880" y="1920240"/>
            <a:ext cx="54864" cy="886968"/>
          </a:xfrm>
          <a:prstGeom prst="rect">
            <a:avLst/>
          </a:prstGeom>
          <a:solidFill>
            <a:srgbClr val="2E5D9F"/>
          </a:solidFill>
          <a:ln/>
        </p:spPr>
      </p:sp>
      <p:sp>
        <p:nvSpPr>
          <p:cNvPr id="9" name="Text 7"/>
          <p:cNvSpPr/>
          <p:nvPr/>
        </p:nvSpPr>
        <p:spPr>
          <a:xfrm>
            <a:off x="2606040" y="1993392"/>
            <a:ext cx="2865120" cy="228600"/>
          </a:xfrm>
          <a:prstGeom prst="rect">
            <a:avLst/>
          </a:prstGeom>
          <a:noFill/>
          <a:ln/>
        </p:spPr>
        <p:txBody>
          <a:bodyPr wrap="square" lIns="0" tIns="0" rIns="0" bIns="0" rtlCol="0" anchor="ctr"/>
          <a:lstStyle/>
          <a:p>
            <a:pPr indent="0" marL="0">
              <a:buNone/>
            </a:pPr>
            <a:r>
              <a:rPr lang="en-US" sz="900" b="1" spc="200" kern="0" dirty="0">
                <a:solidFill>
                  <a:srgbClr val="2E5D9F"/>
                </a:solidFill>
                <a:latin typeface="Calibri" pitchFamily="34" charset="0"/>
                <a:ea typeface="Calibri" pitchFamily="34" charset="-122"/>
                <a:cs typeface="Calibri" pitchFamily="34" charset="-120"/>
              </a:rPr>
              <a:t>KANAŁY</a:t>
            </a:r>
            <a:endParaRPr lang="en-US" sz="900" dirty="0"/>
          </a:p>
        </p:txBody>
      </p:sp>
      <p:sp>
        <p:nvSpPr>
          <p:cNvPr id="10" name="Text 8"/>
          <p:cNvSpPr/>
          <p:nvPr/>
        </p:nvSpPr>
        <p:spPr>
          <a:xfrm>
            <a:off x="2606040" y="221284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TikTok reklamy Żappki, witryny Żabki przy przystankach, polecenie znajomego</a:t>
            </a:r>
            <a:endParaRPr lang="en-US" sz="1100" dirty="0"/>
          </a:p>
        </p:txBody>
      </p:sp>
      <p:sp>
        <p:nvSpPr>
          <p:cNvPr id="11" name="Shape 9"/>
          <p:cNvSpPr/>
          <p:nvPr/>
        </p:nvSpPr>
        <p:spPr>
          <a:xfrm>
            <a:off x="5562600" y="1920240"/>
            <a:ext cx="3048000" cy="886968"/>
          </a:xfrm>
          <a:prstGeom prst="rect">
            <a:avLst/>
          </a:prstGeom>
          <a:solidFill>
            <a:srgbClr val="F5F7FA"/>
          </a:solidFill>
          <a:ln/>
        </p:spPr>
      </p:sp>
      <p:sp>
        <p:nvSpPr>
          <p:cNvPr id="12" name="Shape 10"/>
          <p:cNvSpPr/>
          <p:nvPr/>
        </p:nvSpPr>
        <p:spPr>
          <a:xfrm>
            <a:off x="5562600" y="1920240"/>
            <a:ext cx="54864" cy="886968"/>
          </a:xfrm>
          <a:prstGeom prst="rect">
            <a:avLst/>
          </a:prstGeom>
          <a:solidFill>
            <a:srgbClr val="2E5D9F"/>
          </a:solidFill>
          <a:ln/>
        </p:spPr>
      </p:sp>
      <p:sp>
        <p:nvSpPr>
          <p:cNvPr id="13" name="Text 11"/>
          <p:cNvSpPr/>
          <p:nvPr/>
        </p:nvSpPr>
        <p:spPr>
          <a:xfrm>
            <a:off x="5699760" y="1993392"/>
            <a:ext cx="2865120" cy="228600"/>
          </a:xfrm>
          <a:prstGeom prst="rect">
            <a:avLst/>
          </a:prstGeom>
          <a:noFill/>
          <a:ln/>
        </p:spPr>
        <p:txBody>
          <a:bodyPr wrap="square" lIns="0" tIns="0" rIns="0" bIns="0" rtlCol="0" anchor="ctr"/>
          <a:lstStyle/>
          <a:p>
            <a:pPr indent="0" marL="0">
              <a:buNone/>
            </a:pPr>
            <a:r>
              <a:rPr lang="en-US" sz="900" b="1" spc="200" kern="0" dirty="0">
                <a:solidFill>
                  <a:srgbClr val="2E5D9F"/>
                </a:solidFill>
                <a:latin typeface="Calibri" pitchFamily="34" charset="0"/>
                <a:ea typeface="Calibri" pitchFamily="34" charset="-122"/>
                <a:cs typeface="Calibri" pitchFamily="34" charset="-120"/>
              </a:rPr>
              <a:t>EMOCJE</a:t>
            </a:r>
            <a:endParaRPr lang="en-US" sz="900" dirty="0"/>
          </a:p>
        </p:txBody>
      </p:sp>
      <p:sp>
        <p:nvSpPr>
          <p:cNvPr id="14" name="Text 12"/>
          <p:cNvSpPr/>
          <p:nvPr/>
        </p:nvSpPr>
        <p:spPr>
          <a:xfrm>
            <a:off x="5699760" y="221284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Ciekawość — 'czy to naprawdę tańsze?'</a:t>
            </a:r>
            <a:endParaRPr lang="en-US" sz="1100" dirty="0"/>
          </a:p>
        </p:txBody>
      </p:sp>
      <p:sp>
        <p:nvSpPr>
          <p:cNvPr id="15" name="Shape 13"/>
          <p:cNvSpPr/>
          <p:nvPr/>
        </p:nvSpPr>
        <p:spPr>
          <a:xfrm>
            <a:off x="8656320" y="1920240"/>
            <a:ext cx="3048000" cy="886968"/>
          </a:xfrm>
          <a:prstGeom prst="rect">
            <a:avLst/>
          </a:prstGeom>
          <a:solidFill>
            <a:srgbClr val="F5F7FA"/>
          </a:solidFill>
          <a:ln/>
        </p:spPr>
      </p:sp>
      <p:sp>
        <p:nvSpPr>
          <p:cNvPr id="16" name="Shape 14"/>
          <p:cNvSpPr/>
          <p:nvPr/>
        </p:nvSpPr>
        <p:spPr>
          <a:xfrm>
            <a:off x="8656320" y="1920240"/>
            <a:ext cx="54864" cy="886968"/>
          </a:xfrm>
          <a:prstGeom prst="rect">
            <a:avLst/>
          </a:prstGeom>
          <a:solidFill>
            <a:srgbClr val="2E5D9F"/>
          </a:solidFill>
          <a:ln/>
        </p:spPr>
      </p:sp>
      <p:sp>
        <p:nvSpPr>
          <p:cNvPr id="17" name="Text 15"/>
          <p:cNvSpPr/>
          <p:nvPr/>
        </p:nvSpPr>
        <p:spPr>
          <a:xfrm>
            <a:off x="8793480" y="1993392"/>
            <a:ext cx="2865120" cy="228600"/>
          </a:xfrm>
          <a:prstGeom prst="rect">
            <a:avLst/>
          </a:prstGeom>
          <a:noFill/>
          <a:ln/>
        </p:spPr>
        <p:txBody>
          <a:bodyPr wrap="square" lIns="0" tIns="0" rIns="0" bIns="0" rtlCol="0" anchor="ctr"/>
          <a:lstStyle/>
          <a:p>
            <a:pPr indent="0" marL="0">
              <a:buNone/>
            </a:pPr>
            <a:r>
              <a:rPr lang="en-US" sz="900" b="1" spc="200" kern="0" dirty="0">
                <a:solidFill>
                  <a:srgbClr val="2E5D9F"/>
                </a:solidFill>
                <a:latin typeface="Calibri" pitchFamily="34" charset="0"/>
                <a:ea typeface="Calibri" pitchFamily="34" charset="-122"/>
                <a:cs typeface="Calibri" pitchFamily="34" charset="-120"/>
              </a:rPr>
              <a:t>TARCIE</a:t>
            </a:r>
            <a:endParaRPr lang="en-US" sz="900" dirty="0"/>
          </a:p>
        </p:txBody>
      </p:sp>
      <p:sp>
        <p:nvSpPr>
          <p:cNvPr id="18" name="Text 16"/>
          <p:cNvSpPr/>
          <p:nvPr/>
        </p:nvSpPr>
        <p:spPr>
          <a:xfrm>
            <a:off x="8793480" y="221284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Nie znam aplikacji — po co kolejna?</a:t>
            </a:r>
            <a:endParaRPr lang="en-US" sz="1100" dirty="0"/>
          </a:p>
        </p:txBody>
      </p:sp>
      <p:sp>
        <p:nvSpPr>
          <p:cNvPr id="19" name="Shape 17"/>
          <p:cNvSpPr/>
          <p:nvPr/>
        </p:nvSpPr>
        <p:spPr>
          <a:xfrm>
            <a:off x="548640" y="2880360"/>
            <a:ext cx="1828800" cy="886968"/>
          </a:xfrm>
          <a:prstGeom prst="rect">
            <a:avLst/>
          </a:prstGeom>
          <a:solidFill>
            <a:srgbClr val="2D7A4F"/>
          </a:solidFill>
          <a:ln/>
        </p:spPr>
      </p:sp>
      <p:sp>
        <p:nvSpPr>
          <p:cNvPr id="20" name="Text 18"/>
          <p:cNvSpPr/>
          <p:nvPr/>
        </p:nvSpPr>
        <p:spPr>
          <a:xfrm>
            <a:off x="548640" y="2880360"/>
            <a:ext cx="1828800" cy="8869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Aktywacja</a:t>
            </a:r>
            <a:endParaRPr lang="en-US" sz="1400" dirty="0"/>
          </a:p>
        </p:txBody>
      </p:sp>
      <p:sp>
        <p:nvSpPr>
          <p:cNvPr id="21" name="Shape 19"/>
          <p:cNvSpPr/>
          <p:nvPr/>
        </p:nvSpPr>
        <p:spPr>
          <a:xfrm>
            <a:off x="2468880" y="2880360"/>
            <a:ext cx="3048000" cy="886968"/>
          </a:xfrm>
          <a:prstGeom prst="rect">
            <a:avLst/>
          </a:prstGeom>
          <a:solidFill>
            <a:srgbClr val="F5F7FA"/>
          </a:solidFill>
          <a:ln/>
        </p:spPr>
      </p:sp>
      <p:sp>
        <p:nvSpPr>
          <p:cNvPr id="22" name="Shape 20"/>
          <p:cNvSpPr/>
          <p:nvPr/>
        </p:nvSpPr>
        <p:spPr>
          <a:xfrm>
            <a:off x="2468880" y="2880360"/>
            <a:ext cx="54864" cy="886968"/>
          </a:xfrm>
          <a:prstGeom prst="rect">
            <a:avLst/>
          </a:prstGeom>
          <a:solidFill>
            <a:srgbClr val="2D7A4F"/>
          </a:solidFill>
          <a:ln/>
        </p:spPr>
      </p:sp>
      <p:sp>
        <p:nvSpPr>
          <p:cNvPr id="23" name="Text 21"/>
          <p:cNvSpPr/>
          <p:nvPr/>
        </p:nvSpPr>
        <p:spPr>
          <a:xfrm>
            <a:off x="2606040" y="2953512"/>
            <a:ext cx="2865120" cy="228600"/>
          </a:xfrm>
          <a:prstGeom prst="rect">
            <a:avLst/>
          </a:prstGeom>
          <a:noFill/>
          <a:ln/>
        </p:spPr>
        <p:txBody>
          <a:bodyPr wrap="square" lIns="0" tIns="0" rIns="0" bIns="0" rtlCol="0" anchor="ctr"/>
          <a:lstStyle/>
          <a:p>
            <a:pPr indent="0" marL="0">
              <a:buNone/>
            </a:pPr>
            <a:r>
              <a:rPr lang="en-US" sz="900" b="1" spc="200" kern="0" dirty="0">
                <a:solidFill>
                  <a:srgbClr val="2D7A4F"/>
                </a:solidFill>
                <a:latin typeface="Calibri" pitchFamily="34" charset="0"/>
                <a:ea typeface="Calibri" pitchFamily="34" charset="-122"/>
                <a:cs typeface="Calibri" pitchFamily="34" charset="-120"/>
              </a:rPr>
              <a:t>KANAŁY</a:t>
            </a:r>
            <a:endParaRPr lang="en-US" sz="900" dirty="0"/>
          </a:p>
        </p:txBody>
      </p:sp>
      <p:sp>
        <p:nvSpPr>
          <p:cNvPr id="24" name="Text 22"/>
          <p:cNvSpPr/>
          <p:nvPr/>
        </p:nvSpPr>
        <p:spPr>
          <a:xfrm>
            <a:off x="2606040" y="317296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Strona www Żappka, Instagram Żabki, powiadomienia push po instalacji</a:t>
            </a:r>
            <a:endParaRPr lang="en-US" sz="1100" dirty="0"/>
          </a:p>
        </p:txBody>
      </p:sp>
      <p:sp>
        <p:nvSpPr>
          <p:cNvPr id="25" name="Shape 23"/>
          <p:cNvSpPr/>
          <p:nvPr/>
        </p:nvSpPr>
        <p:spPr>
          <a:xfrm>
            <a:off x="5562600" y="2880360"/>
            <a:ext cx="3048000" cy="886968"/>
          </a:xfrm>
          <a:prstGeom prst="rect">
            <a:avLst/>
          </a:prstGeom>
          <a:solidFill>
            <a:srgbClr val="F5F7FA"/>
          </a:solidFill>
          <a:ln/>
        </p:spPr>
      </p:sp>
      <p:sp>
        <p:nvSpPr>
          <p:cNvPr id="26" name="Shape 24"/>
          <p:cNvSpPr/>
          <p:nvPr/>
        </p:nvSpPr>
        <p:spPr>
          <a:xfrm>
            <a:off x="5562600" y="2880360"/>
            <a:ext cx="54864" cy="886968"/>
          </a:xfrm>
          <a:prstGeom prst="rect">
            <a:avLst/>
          </a:prstGeom>
          <a:solidFill>
            <a:srgbClr val="2D7A4F"/>
          </a:solidFill>
          <a:ln/>
        </p:spPr>
      </p:sp>
      <p:sp>
        <p:nvSpPr>
          <p:cNvPr id="27" name="Text 25"/>
          <p:cNvSpPr/>
          <p:nvPr/>
        </p:nvSpPr>
        <p:spPr>
          <a:xfrm>
            <a:off x="5699760" y="2953512"/>
            <a:ext cx="2865120" cy="228600"/>
          </a:xfrm>
          <a:prstGeom prst="rect">
            <a:avLst/>
          </a:prstGeom>
          <a:noFill/>
          <a:ln/>
        </p:spPr>
        <p:txBody>
          <a:bodyPr wrap="square" lIns="0" tIns="0" rIns="0" bIns="0" rtlCol="0" anchor="ctr"/>
          <a:lstStyle/>
          <a:p>
            <a:pPr indent="0" marL="0">
              <a:buNone/>
            </a:pPr>
            <a:r>
              <a:rPr lang="en-US" sz="900" b="1" spc="200" kern="0" dirty="0">
                <a:solidFill>
                  <a:srgbClr val="2D7A4F"/>
                </a:solidFill>
                <a:latin typeface="Calibri" pitchFamily="34" charset="0"/>
                <a:ea typeface="Calibri" pitchFamily="34" charset="-122"/>
                <a:cs typeface="Calibri" pitchFamily="34" charset="-120"/>
              </a:rPr>
              <a:t>EMOCJE</a:t>
            </a:r>
            <a:endParaRPr lang="en-US" sz="900" dirty="0"/>
          </a:p>
        </p:txBody>
      </p:sp>
      <p:sp>
        <p:nvSpPr>
          <p:cNvPr id="28" name="Text 26"/>
          <p:cNvSpPr/>
          <p:nvPr/>
        </p:nvSpPr>
        <p:spPr>
          <a:xfrm>
            <a:off x="5699760" y="317296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Zainteresowanie — 'oferty wyglądają OK'</a:t>
            </a:r>
            <a:endParaRPr lang="en-US" sz="1100" dirty="0"/>
          </a:p>
        </p:txBody>
      </p:sp>
      <p:sp>
        <p:nvSpPr>
          <p:cNvPr id="29" name="Shape 27"/>
          <p:cNvSpPr/>
          <p:nvPr/>
        </p:nvSpPr>
        <p:spPr>
          <a:xfrm>
            <a:off x="8656320" y="2880360"/>
            <a:ext cx="3048000" cy="886968"/>
          </a:xfrm>
          <a:prstGeom prst="rect">
            <a:avLst/>
          </a:prstGeom>
          <a:solidFill>
            <a:srgbClr val="F5F7FA"/>
          </a:solidFill>
          <a:ln/>
        </p:spPr>
      </p:sp>
      <p:sp>
        <p:nvSpPr>
          <p:cNvPr id="30" name="Shape 28"/>
          <p:cNvSpPr/>
          <p:nvPr/>
        </p:nvSpPr>
        <p:spPr>
          <a:xfrm>
            <a:off x="8656320" y="2880360"/>
            <a:ext cx="54864" cy="886968"/>
          </a:xfrm>
          <a:prstGeom prst="rect">
            <a:avLst/>
          </a:prstGeom>
          <a:solidFill>
            <a:srgbClr val="2D7A4F"/>
          </a:solidFill>
          <a:ln/>
        </p:spPr>
      </p:sp>
      <p:sp>
        <p:nvSpPr>
          <p:cNvPr id="31" name="Text 29"/>
          <p:cNvSpPr/>
          <p:nvPr/>
        </p:nvSpPr>
        <p:spPr>
          <a:xfrm>
            <a:off x="8793480" y="2953512"/>
            <a:ext cx="2865120" cy="228600"/>
          </a:xfrm>
          <a:prstGeom prst="rect">
            <a:avLst/>
          </a:prstGeom>
          <a:noFill/>
          <a:ln/>
        </p:spPr>
        <p:txBody>
          <a:bodyPr wrap="square" lIns="0" tIns="0" rIns="0" bIns="0" rtlCol="0" anchor="ctr"/>
          <a:lstStyle/>
          <a:p>
            <a:pPr indent="0" marL="0">
              <a:buNone/>
            </a:pPr>
            <a:r>
              <a:rPr lang="en-US" sz="900" b="1" spc="200" kern="0" dirty="0">
                <a:solidFill>
                  <a:srgbClr val="2D7A4F"/>
                </a:solidFill>
                <a:latin typeface="Calibri" pitchFamily="34" charset="0"/>
                <a:ea typeface="Calibri" pitchFamily="34" charset="-122"/>
                <a:cs typeface="Calibri" pitchFamily="34" charset="-120"/>
              </a:rPr>
              <a:t>TARCIE</a:t>
            </a:r>
            <a:endParaRPr lang="en-US" sz="900" dirty="0"/>
          </a:p>
        </p:txBody>
      </p:sp>
      <p:sp>
        <p:nvSpPr>
          <p:cNvPr id="32" name="Text 30"/>
          <p:cNvSpPr/>
          <p:nvPr/>
        </p:nvSpPr>
        <p:spPr>
          <a:xfrm>
            <a:off x="8793480" y="317296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Nie lubię dawać dostępu do lokalizacji</a:t>
            </a:r>
            <a:endParaRPr lang="en-US" sz="1100" dirty="0"/>
          </a:p>
        </p:txBody>
      </p:sp>
      <p:sp>
        <p:nvSpPr>
          <p:cNvPr id="33" name="Shape 31"/>
          <p:cNvSpPr/>
          <p:nvPr/>
        </p:nvSpPr>
        <p:spPr>
          <a:xfrm>
            <a:off x="548640" y="3840480"/>
            <a:ext cx="1828800" cy="886968"/>
          </a:xfrm>
          <a:prstGeom prst="rect">
            <a:avLst/>
          </a:prstGeom>
          <a:solidFill>
            <a:srgbClr val="D97E2B"/>
          </a:solidFill>
          <a:ln/>
        </p:spPr>
      </p:sp>
      <p:sp>
        <p:nvSpPr>
          <p:cNvPr id="34" name="Text 32"/>
          <p:cNvSpPr/>
          <p:nvPr/>
        </p:nvSpPr>
        <p:spPr>
          <a:xfrm>
            <a:off x="548640" y="3840480"/>
            <a:ext cx="1828800" cy="8869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Konwersja</a:t>
            </a:r>
            <a:endParaRPr lang="en-US" sz="1400" dirty="0"/>
          </a:p>
        </p:txBody>
      </p:sp>
      <p:sp>
        <p:nvSpPr>
          <p:cNvPr id="35" name="Shape 33"/>
          <p:cNvSpPr/>
          <p:nvPr/>
        </p:nvSpPr>
        <p:spPr>
          <a:xfrm>
            <a:off x="2468880" y="3840480"/>
            <a:ext cx="3048000" cy="886968"/>
          </a:xfrm>
          <a:prstGeom prst="rect">
            <a:avLst/>
          </a:prstGeom>
          <a:solidFill>
            <a:srgbClr val="F5F7FA"/>
          </a:solidFill>
          <a:ln/>
        </p:spPr>
      </p:sp>
      <p:sp>
        <p:nvSpPr>
          <p:cNvPr id="36" name="Shape 34"/>
          <p:cNvSpPr/>
          <p:nvPr/>
        </p:nvSpPr>
        <p:spPr>
          <a:xfrm>
            <a:off x="2468880" y="3840480"/>
            <a:ext cx="54864" cy="886968"/>
          </a:xfrm>
          <a:prstGeom prst="rect">
            <a:avLst/>
          </a:prstGeom>
          <a:solidFill>
            <a:srgbClr val="D97E2B"/>
          </a:solidFill>
          <a:ln/>
        </p:spPr>
      </p:sp>
      <p:sp>
        <p:nvSpPr>
          <p:cNvPr id="37" name="Text 35"/>
          <p:cNvSpPr/>
          <p:nvPr/>
        </p:nvSpPr>
        <p:spPr>
          <a:xfrm>
            <a:off x="2606040" y="3913632"/>
            <a:ext cx="2865120" cy="228600"/>
          </a:xfrm>
          <a:prstGeom prst="rect">
            <a:avLst/>
          </a:prstGeom>
          <a:noFill/>
          <a:ln/>
        </p:spPr>
        <p:txBody>
          <a:bodyPr wrap="square" lIns="0" tIns="0" rIns="0" bIns="0" rtlCol="0" anchor="ctr"/>
          <a:lstStyle/>
          <a:p>
            <a:pPr indent="0" marL="0">
              <a:buNone/>
            </a:pPr>
            <a:r>
              <a:rPr lang="en-US" sz="900" b="1" spc="200" kern="0" dirty="0">
                <a:solidFill>
                  <a:srgbClr val="D97E2B"/>
                </a:solidFill>
                <a:latin typeface="Calibri" pitchFamily="34" charset="0"/>
                <a:ea typeface="Calibri" pitchFamily="34" charset="-122"/>
                <a:cs typeface="Calibri" pitchFamily="34" charset="-120"/>
              </a:rPr>
              <a:t>KANAŁY</a:t>
            </a:r>
            <a:endParaRPr lang="en-US" sz="900" dirty="0"/>
          </a:p>
        </p:txBody>
      </p:sp>
      <p:sp>
        <p:nvSpPr>
          <p:cNvPr id="38" name="Text 36"/>
          <p:cNvSpPr/>
          <p:nvPr/>
        </p:nvSpPr>
        <p:spPr>
          <a:xfrm>
            <a:off x="2606040" y="413308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Aplikacja przy kasie (kod QR), płatność BLIK</a:t>
            </a:r>
            <a:endParaRPr lang="en-US" sz="1100" dirty="0"/>
          </a:p>
        </p:txBody>
      </p:sp>
      <p:sp>
        <p:nvSpPr>
          <p:cNvPr id="39" name="Shape 37"/>
          <p:cNvSpPr/>
          <p:nvPr/>
        </p:nvSpPr>
        <p:spPr>
          <a:xfrm>
            <a:off x="5562600" y="3840480"/>
            <a:ext cx="3048000" cy="886968"/>
          </a:xfrm>
          <a:prstGeom prst="rect">
            <a:avLst/>
          </a:prstGeom>
          <a:solidFill>
            <a:srgbClr val="F5F7FA"/>
          </a:solidFill>
          <a:ln/>
        </p:spPr>
      </p:sp>
      <p:sp>
        <p:nvSpPr>
          <p:cNvPr id="40" name="Shape 38"/>
          <p:cNvSpPr/>
          <p:nvPr/>
        </p:nvSpPr>
        <p:spPr>
          <a:xfrm>
            <a:off x="5562600" y="3840480"/>
            <a:ext cx="54864" cy="886968"/>
          </a:xfrm>
          <a:prstGeom prst="rect">
            <a:avLst/>
          </a:prstGeom>
          <a:solidFill>
            <a:srgbClr val="D97E2B"/>
          </a:solidFill>
          <a:ln/>
        </p:spPr>
      </p:sp>
      <p:sp>
        <p:nvSpPr>
          <p:cNvPr id="41" name="Text 39"/>
          <p:cNvSpPr/>
          <p:nvPr/>
        </p:nvSpPr>
        <p:spPr>
          <a:xfrm>
            <a:off x="5699760" y="3913632"/>
            <a:ext cx="2865120" cy="228600"/>
          </a:xfrm>
          <a:prstGeom prst="rect">
            <a:avLst/>
          </a:prstGeom>
          <a:noFill/>
          <a:ln/>
        </p:spPr>
        <p:txBody>
          <a:bodyPr wrap="square" lIns="0" tIns="0" rIns="0" bIns="0" rtlCol="0" anchor="ctr"/>
          <a:lstStyle/>
          <a:p>
            <a:pPr indent="0" marL="0">
              <a:buNone/>
            </a:pPr>
            <a:r>
              <a:rPr lang="en-US" sz="900" b="1" spc="200" kern="0" dirty="0">
                <a:solidFill>
                  <a:srgbClr val="D97E2B"/>
                </a:solidFill>
                <a:latin typeface="Calibri" pitchFamily="34" charset="0"/>
                <a:ea typeface="Calibri" pitchFamily="34" charset="-122"/>
                <a:cs typeface="Calibri" pitchFamily="34" charset="-120"/>
              </a:rPr>
              <a:t>EMOCJE</a:t>
            </a:r>
            <a:endParaRPr lang="en-US" sz="900" dirty="0"/>
          </a:p>
        </p:txBody>
      </p:sp>
      <p:sp>
        <p:nvSpPr>
          <p:cNvPr id="42" name="Text 40"/>
          <p:cNvSpPr/>
          <p:nvPr/>
        </p:nvSpPr>
        <p:spPr>
          <a:xfrm>
            <a:off x="5699760" y="413308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Satysfakcja — 'ubiłam dobry deal'</a:t>
            </a:r>
            <a:endParaRPr lang="en-US" sz="1100" dirty="0"/>
          </a:p>
        </p:txBody>
      </p:sp>
      <p:sp>
        <p:nvSpPr>
          <p:cNvPr id="43" name="Shape 41"/>
          <p:cNvSpPr/>
          <p:nvPr/>
        </p:nvSpPr>
        <p:spPr>
          <a:xfrm>
            <a:off x="8656320" y="3840480"/>
            <a:ext cx="3048000" cy="886968"/>
          </a:xfrm>
          <a:prstGeom prst="rect">
            <a:avLst/>
          </a:prstGeom>
          <a:solidFill>
            <a:srgbClr val="F5F7FA"/>
          </a:solidFill>
          <a:ln/>
        </p:spPr>
      </p:sp>
      <p:sp>
        <p:nvSpPr>
          <p:cNvPr id="44" name="Shape 42"/>
          <p:cNvSpPr/>
          <p:nvPr/>
        </p:nvSpPr>
        <p:spPr>
          <a:xfrm>
            <a:off x="8656320" y="3840480"/>
            <a:ext cx="54864" cy="886968"/>
          </a:xfrm>
          <a:prstGeom prst="rect">
            <a:avLst/>
          </a:prstGeom>
          <a:solidFill>
            <a:srgbClr val="D97E2B"/>
          </a:solidFill>
          <a:ln/>
        </p:spPr>
      </p:sp>
      <p:sp>
        <p:nvSpPr>
          <p:cNvPr id="45" name="Text 43"/>
          <p:cNvSpPr/>
          <p:nvPr/>
        </p:nvSpPr>
        <p:spPr>
          <a:xfrm>
            <a:off x="8793480" y="3913632"/>
            <a:ext cx="2865120" cy="228600"/>
          </a:xfrm>
          <a:prstGeom prst="rect">
            <a:avLst/>
          </a:prstGeom>
          <a:noFill/>
          <a:ln/>
        </p:spPr>
        <p:txBody>
          <a:bodyPr wrap="square" lIns="0" tIns="0" rIns="0" bIns="0" rtlCol="0" anchor="ctr"/>
          <a:lstStyle/>
          <a:p>
            <a:pPr indent="0" marL="0">
              <a:buNone/>
            </a:pPr>
            <a:r>
              <a:rPr lang="en-US" sz="900" b="1" spc="200" kern="0" dirty="0">
                <a:solidFill>
                  <a:srgbClr val="D97E2B"/>
                </a:solidFill>
                <a:latin typeface="Calibri" pitchFamily="34" charset="0"/>
                <a:ea typeface="Calibri" pitchFamily="34" charset="-122"/>
                <a:cs typeface="Calibri" pitchFamily="34" charset="-120"/>
              </a:rPr>
              <a:t>TARCIE</a:t>
            </a:r>
            <a:endParaRPr lang="en-US" sz="900" dirty="0"/>
          </a:p>
        </p:txBody>
      </p:sp>
      <p:sp>
        <p:nvSpPr>
          <p:cNvPr id="46" name="Text 44"/>
          <p:cNvSpPr/>
          <p:nvPr/>
        </p:nvSpPr>
        <p:spPr>
          <a:xfrm>
            <a:off x="8793480" y="413308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Kolejka w sklepie gdy szukam kodu</a:t>
            </a:r>
            <a:endParaRPr lang="en-US" sz="1100" dirty="0"/>
          </a:p>
        </p:txBody>
      </p:sp>
      <p:sp>
        <p:nvSpPr>
          <p:cNvPr id="47" name="Shape 45"/>
          <p:cNvSpPr/>
          <p:nvPr/>
        </p:nvSpPr>
        <p:spPr>
          <a:xfrm>
            <a:off x="548640" y="4800600"/>
            <a:ext cx="1828800" cy="886968"/>
          </a:xfrm>
          <a:prstGeom prst="rect">
            <a:avLst/>
          </a:prstGeom>
          <a:solidFill>
            <a:srgbClr val="7A3F8F"/>
          </a:solidFill>
          <a:ln/>
        </p:spPr>
      </p:sp>
      <p:sp>
        <p:nvSpPr>
          <p:cNvPr id="48" name="Text 46"/>
          <p:cNvSpPr/>
          <p:nvPr/>
        </p:nvSpPr>
        <p:spPr>
          <a:xfrm>
            <a:off x="548640" y="4800600"/>
            <a:ext cx="1828800" cy="8869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Zaangażowanie</a:t>
            </a:r>
            <a:endParaRPr lang="en-US" sz="1400" dirty="0"/>
          </a:p>
        </p:txBody>
      </p:sp>
      <p:sp>
        <p:nvSpPr>
          <p:cNvPr id="49" name="Shape 47"/>
          <p:cNvSpPr/>
          <p:nvPr/>
        </p:nvSpPr>
        <p:spPr>
          <a:xfrm>
            <a:off x="2468880" y="4800600"/>
            <a:ext cx="3048000" cy="886968"/>
          </a:xfrm>
          <a:prstGeom prst="rect">
            <a:avLst/>
          </a:prstGeom>
          <a:solidFill>
            <a:srgbClr val="F5F7FA"/>
          </a:solidFill>
          <a:ln/>
        </p:spPr>
      </p:sp>
      <p:sp>
        <p:nvSpPr>
          <p:cNvPr id="50" name="Shape 48"/>
          <p:cNvSpPr/>
          <p:nvPr/>
        </p:nvSpPr>
        <p:spPr>
          <a:xfrm>
            <a:off x="2468880" y="4800600"/>
            <a:ext cx="54864" cy="886968"/>
          </a:xfrm>
          <a:prstGeom prst="rect">
            <a:avLst/>
          </a:prstGeom>
          <a:solidFill>
            <a:srgbClr val="7A3F8F"/>
          </a:solidFill>
          <a:ln/>
        </p:spPr>
      </p:sp>
      <p:sp>
        <p:nvSpPr>
          <p:cNvPr id="51" name="Text 49"/>
          <p:cNvSpPr/>
          <p:nvPr/>
        </p:nvSpPr>
        <p:spPr>
          <a:xfrm>
            <a:off x="2606040" y="4873752"/>
            <a:ext cx="2865120" cy="228600"/>
          </a:xfrm>
          <a:prstGeom prst="rect">
            <a:avLst/>
          </a:prstGeom>
          <a:noFill/>
          <a:ln/>
        </p:spPr>
        <p:txBody>
          <a:bodyPr wrap="square" lIns="0" tIns="0" rIns="0" bIns="0" rtlCol="0" anchor="ctr"/>
          <a:lstStyle/>
          <a:p>
            <a:pPr indent="0" marL="0">
              <a:buNone/>
            </a:pPr>
            <a:r>
              <a:rPr lang="en-US" sz="900" b="1" spc="200" kern="0" dirty="0">
                <a:solidFill>
                  <a:srgbClr val="7A3F8F"/>
                </a:solidFill>
                <a:latin typeface="Calibri" pitchFamily="34" charset="0"/>
                <a:ea typeface="Calibri" pitchFamily="34" charset="-122"/>
                <a:cs typeface="Calibri" pitchFamily="34" charset="-120"/>
              </a:rPr>
              <a:t>KANAŁY</a:t>
            </a:r>
            <a:endParaRPr lang="en-US" sz="900" dirty="0"/>
          </a:p>
        </p:txBody>
      </p:sp>
      <p:sp>
        <p:nvSpPr>
          <p:cNvPr id="52" name="Text 50"/>
          <p:cNvSpPr/>
          <p:nvPr/>
        </p:nvSpPr>
        <p:spPr>
          <a:xfrm>
            <a:off x="2606040" y="509320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Spersonalizowane push: 'Twój ulubiony jogurt -30%'</a:t>
            </a:r>
            <a:endParaRPr lang="en-US" sz="1100" dirty="0"/>
          </a:p>
        </p:txBody>
      </p:sp>
      <p:sp>
        <p:nvSpPr>
          <p:cNvPr id="53" name="Shape 51"/>
          <p:cNvSpPr/>
          <p:nvPr/>
        </p:nvSpPr>
        <p:spPr>
          <a:xfrm>
            <a:off x="5562600" y="4800600"/>
            <a:ext cx="3048000" cy="886968"/>
          </a:xfrm>
          <a:prstGeom prst="rect">
            <a:avLst/>
          </a:prstGeom>
          <a:solidFill>
            <a:srgbClr val="F5F7FA"/>
          </a:solidFill>
          <a:ln/>
        </p:spPr>
      </p:sp>
      <p:sp>
        <p:nvSpPr>
          <p:cNvPr id="54" name="Shape 52"/>
          <p:cNvSpPr/>
          <p:nvPr/>
        </p:nvSpPr>
        <p:spPr>
          <a:xfrm>
            <a:off x="5562600" y="4800600"/>
            <a:ext cx="54864" cy="886968"/>
          </a:xfrm>
          <a:prstGeom prst="rect">
            <a:avLst/>
          </a:prstGeom>
          <a:solidFill>
            <a:srgbClr val="7A3F8F"/>
          </a:solidFill>
          <a:ln/>
        </p:spPr>
      </p:sp>
      <p:sp>
        <p:nvSpPr>
          <p:cNvPr id="55" name="Text 53"/>
          <p:cNvSpPr/>
          <p:nvPr/>
        </p:nvSpPr>
        <p:spPr>
          <a:xfrm>
            <a:off x="5699760" y="4873752"/>
            <a:ext cx="2865120" cy="228600"/>
          </a:xfrm>
          <a:prstGeom prst="rect">
            <a:avLst/>
          </a:prstGeom>
          <a:noFill/>
          <a:ln/>
        </p:spPr>
        <p:txBody>
          <a:bodyPr wrap="square" lIns="0" tIns="0" rIns="0" bIns="0" rtlCol="0" anchor="ctr"/>
          <a:lstStyle/>
          <a:p>
            <a:pPr indent="0" marL="0">
              <a:buNone/>
            </a:pPr>
            <a:r>
              <a:rPr lang="en-US" sz="900" b="1" spc="200" kern="0" dirty="0">
                <a:solidFill>
                  <a:srgbClr val="7A3F8F"/>
                </a:solidFill>
                <a:latin typeface="Calibri" pitchFamily="34" charset="0"/>
                <a:ea typeface="Calibri" pitchFamily="34" charset="-122"/>
                <a:cs typeface="Calibri" pitchFamily="34" charset="-120"/>
              </a:rPr>
              <a:t>EMOCJE</a:t>
            </a:r>
            <a:endParaRPr lang="en-US" sz="900" dirty="0"/>
          </a:p>
        </p:txBody>
      </p:sp>
      <p:sp>
        <p:nvSpPr>
          <p:cNvPr id="56" name="Text 54"/>
          <p:cNvSpPr/>
          <p:nvPr/>
        </p:nvSpPr>
        <p:spPr>
          <a:xfrm>
            <a:off x="5699760" y="509320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Lojalność — 'aplikacja zna moje nawyki'</a:t>
            </a:r>
            <a:endParaRPr lang="en-US" sz="1100" dirty="0"/>
          </a:p>
        </p:txBody>
      </p:sp>
      <p:sp>
        <p:nvSpPr>
          <p:cNvPr id="57" name="Shape 55"/>
          <p:cNvSpPr/>
          <p:nvPr/>
        </p:nvSpPr>
        <p:spPr>
          <a:xfrm>
            <a:off x="8656320" y="4800600"/>
            <a:ext cx="3048000" cy="886968"/>
          </a:xfrm>
          <a:prstGeom prst="rect">
            <a:avLst/>
          </a:prstGeom>
          <a:solidFill>
            <a:srgbClr val="F5F7FA"/>
          </a:solidFill>
          <a:ln/>
        </p:spPr>
      </p:sp>
      <p:sp>
        <p:nvSpPr>
          <p:cNvPr id="58" name="Shape 56"/>
          <p:cNvSpPr/>
          <p:nvPr/>
        </p:nvSpPr>
        <p:spPr>
          <a:xfrm>
            <a:off x="8656320" y="4800600"/>
            <a:ext cx="54864" cy="886968"/>
          </a:xfrm>
          <a:prstGeom prst="rect">
            <a:avLst/>
          </a:prstGeom>
          <a:solidFill>
            <a:srgbClr val="7A3F8F"/>
          </a:solidFill>
          <a:ln/>
        </p:spPr>
      </p:sp>
      <p:sp>
        <p:nvSpPr>
          <p:cNvPr id="59" name="Text 57"/>
          <p:cNvSpPr/>
          <p:nvPr/>
        </p:nvSpPr>
        <p:spPr>
          <a:xfrm>
            <a:off x="8793480" y="4873752"/>
            <a:ext cx="2865120" cy="228600"/>
          </a:xfrm>
          <a:prstGeom prst="rect">
            <a:avLst/>
          </a:prstGeom>
          <a:noFill/>
          <a:ln/>
        </p:spPr>
        <p:txBody>
          <a:bodyPr wrap="square" lIns="0" tIns="0" rIns="0" bIns="0" rtlCol="0" anchor="ctr"/>
          <a:lstStyle/>
          <a:p>
            <a:pPr indent="0" marL="0">
              <a:buNone/>
            </a:pPr>
            <a:r>
              <a:rPr lang="en-US" sz="900" b="1" spc="200" kern="0" dirty="0">
                <a:solidFill>
                  <a:srgbClr val="7A3F8F"/>
                </a:solidFill>
                <a:latin typeface="Calibri" pitchFamily="34" charset="0"/>
                <a:ea typeface="Calibri" pitchFamily="34" charset="-122"/>
                <a:cs typeface="Calibri" pitchFamily="34" charset="-120"/>
              </a:rPr>
              <a:t>TARCIE</a:t>
            </a:r>
            <a:endParaRPr lang="en-US" sz="900" dirty="0"/>
          </a:p>
        </p:txBody>
      </p:sp>
      <p:sp>
        <p:nvSpPr>
          <p:cNvPr id="60" name="Text 58"/>
          <p:cNvSpPr/>
          <p:nvPr/>
        </p:nvSpPr>
        <p:spPr>
          <a:xfrm>
            <a:off x="8793480" y="5093208"/>
            <a:ext cx="2865120" cy="521208"/>
          </a:xfrm>
          <a:prstGeom prst="rect">
            <a:avLst/>
          </a:prstGeom>
          <a:noFill/>
          <a:ln/>
        </p:spPr>
        <p:txBody>
          <a:bodyPr wrap="square" lIns="0" tIns="0" rIns="0" bIns="0" rtlCol="0" anchor="t"/>
          <a:lstStyle/>
          <a:p>
            <a:pPr indent="0" marL="0">
              <a:buNone/>
            </a:pPr>
            <a:r>
              <a:rPr lang="en-US" sz="1100" dirty="0">
                <a:solidFill>
                  <a:srgbClr val="1E293B"/>
                </a:solidFill>
                <a:latin typeface="Calibri" pitchFamily="34" charset="0"/>
                <a:ea typeface="Calibri" pitchFamily="34" charset="-122"/>
                <a:cs typeface="Calibri" pitchFamily="34" charset="-120"/>
              </a:rPr>
              <a:t>Za dużo powiadomień → wyłączam je</a:t>
            </a:r>
            <a:endParaRPr lang="en-US" sz="1100" dirty="0"/>
          </a:p>
        </p:txBody>
      </p:sp>
      <p:sp>
        <p:nvSpPr>
          <p:cNvPr id="61" name="Text 59"/>
          <p:cNvSpPr/>
          <p:nvPr/>
        </p:nvSpPr>
        <p:spPr>
          <a:xfrm>
            <a:off x="548640" y="5989320"/>
            <a:ext cx="11064240" cy="274320"/>
          </a:xfrm>
          <a:prstGeom prst="rect">
            <a:avLst/>
          </a:prstGeom>
          <a:noFill/>
          <a:ln/>
        </p:spPr>
        <p:txBody>
          <a:bodyPr wrap="square" rtlCol="0" anchor="ctr"/>
          <a:lstStyle/>
          <a:p>
            <a:pPr algn="ctr" indent="0" marL="0">
              <a:buNone/>
            </a:pPr>
            <a:r>
              <a:rPr lang="en-US" sz="1200" b="1" i="1" dirty="0">
                <a:solidFill>
                  <a:srgbClr val="1A7A8A"/>
                </a:solidFill>
                <a:latin typeface="Calibri" pitchFamily="34" charset="0"/>
                <a:ea typeface="Calibri" pitchFamily="34" charset="-122"/>
                <a:cs typeface="Calibri" pitchFamily="34" charset="-120"/>
              </a:rPr>
              <a:t>Wasza plansza: ta sama struktura, wasza marka, wasza persona — startujcie.</a:t>
            </a:r>
            <a:endParaRPr lang="en-US" sz="1200" dirty="0"/>
          </a:p>
        </p:txBody>
      </p:sp>
      <p:sp>
        <p:nvSpPr>
          <p:cNvPr id="62" name="Text 60"/>
          <p:cNvSpPr/>
          <p:nvPr/>
        </p:nvSpPr>
        <p:spPr>
          <a:xfrm>
            <a:off x="365760" y="6446520"/>
            <a:ext cx="5486400" cy="274320"/>
          </a:xfrm>
          <a:prstGeom prst="rect">
            <a:avLst/>
          </a:prstGeom>
          <a:noFill/>
          <a:ln/>
        </p:spPr>
        <p:txBody>
          <a:bodyPr wrap="square" rtlCol="0" anchor="ctr"/>
          <a:lstStyle/>
          <a:p>
            <a:pPr algn="l" indent="0" marL="0">
              <a:buNone/>
            </a:pPr>
            <a:r>
              <a:rPr lang="en-US" sz="1000" dirty="0">
                <a:solidFill>
                  <a:srgbClr val="94A3B8"/>
                </a:solidFill>
                <a:latin typeface="Calibri" pitchFamily="34" charset="0"/>
                <a:ea typeface="Calibri" pitchFamily="34" charset="-122"/>
                <a:cs typeface="Calibri" pitchFamily="34" charset="-120"/>
              </a:rPr>
              <a:t>Strategia Marketingu Cyfrowego</a:t>
            </a:r>
            <a:endParaRPr lang="en-US" sz="1000" dirty="0"/>
          </a:p>
        </p:txBody>
      </p:sp>
      <p:sp>
        <p:nvSpPr>
          <p:cNvPr id="63" name="Text 61"/>
          <p:cNvSpPr/>
          <p:nvPr/>
        </p:nvSpPr>
        <p:spPr>
          <a:xfrm>
            <a:off x="10881360" y="6446520"/>
            <a:ext cx="1097280" cy="274320"/>
          </a:xfrm>
          <a:prstGeom prst="rect">
            <a:avLst/>
          </a:prstGeom>
          <a:noFill/>
          <a:ln/>
        </p:spPr>
        <p:txBody>
          <a:bodyPr wrap="square" rtlCol="0" anchor="ctr"/>
          <a:lstStyle/>
          <a:p>
            <a:pPr algn="r" indent="0" marL="0">
              <a:buNone/>
            </a:pPr>
            <a:r>
              <a:rPr lang="en-US" sz="1000" dirty="0">
                <a:solidFill>
                  <a:srgbClr val="94A3B8"/>
                </a:solidFill>
                <a:latin typeface="Calibri" pitchFamily="34" charset="0"/>
                <a:ea typeface="Calibri" pitchFamily="34" charset="-122"/>
                <a:cs typeface="Calibri" pitchFamily="34" charset="-120"/>
              </a:rPr>
              <a:t>16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Strategia Marketingu Cyfrowego — Blok 3: RACE</dc:title>
  <dc:subject>PptxGenJS Presentation</dc:subject>
  <dc:creator>PptxGenJS</dc:creator>
  <cp:lastModifiedBy>PptxGenJS</cp:lastModifiedBy>
  <cp:revision>1</cp:revision>
  <dcterms:created xsi:type="dcterms:W3CDTF">2026-04-24T11:07:02Z</dcterms:created>
  <dcterms:modified xsi:type="dcterms:W3CDTF">2026-04-24T11:07:02Z</dcterms:modified>
</cp:coreProperties>
</file>