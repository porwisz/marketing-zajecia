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16:55 · Slajd 76 / 85
[MÓWIĘ]
Witajcie z powrotem — ostatni blok dnia. Przez ostatnie osiem godzin przeszliście drogę, którą wiele organizacji nigdy nie robi świadomie. Zaczęliście od diagnozy sytuacji, wyznaczyliście cele, zbudowaliście strategię, zmapowaliście ścieżkę klienta, zdefiniowaliście propozycję wartości, i alokowaliście budżet — wszystko dla tej samej marki. Teraz ostatnie pytanie: co z tego zabierzecie? Pokażę wam tę drogę jako całość, pięć kluczowych wniosków, zadanie na najbliższy tydzień, zasoby do dalszej pracy, i krótkie indywidualne ćwiczenie: jedna rzecz, którą zastosujecie w poniedziałek.
[ROBIĘ]
Odsłoń slajd. Krótka pauza — niech uczestnicy złapią oddech po ostatnim ćwiczeniu. Przejdź płynnie do hierarchii całości.
[OBSERWUJĘ]
Zmęczenie dnia może być wyraźne. Energia pod koniec rośnie, jeśli prowadzący jest konkretny i docenia pracę grupy. Unikaj rozwlekania — każdy slajd tego bloku powinien trwać 3-5 minut maks.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16:58 · Slajd 77 / 85
[MÓWIĘ]
Pamiętacie ten diagram — widzieliście go trzy razy dzisiaj. Pierwszy raz rano w ogólnym zarysie, drugi raz po południu z podświetlonymi fundamentami, teraz ostatni raz — z anotacjami pokazującymi, gdzie każde z czterech ćwiczeń pasuje. Ćwiczenie 3 — strategia marki i CVP — pracowało na górnym poziomie: tożsamości marki. Ćwiczenie 1 — SOSTAC — pracowało na poziomie planowania marketingu cyfrowego. Ćwiczenia 2 i 4 — RACE i alokacja budżetu — pracowały na poziomie egzekucji. Co to oznacza praktycznie? Przez dzień pracowaliście na pięciu poziomach strategii jednocześnie — od tożsamości marki do konkretnej alokacji pieniędzy. W większości organizacji każdy z tych poziomów żyje osobno — dział marki rozmawia z działem performance raz w roku, a dyrektor cyfrowy nie rozmawia z nimi w ogóle. Wasza integracja — to nie standard rynkowy. To jest rzadkość. I to jest przewaga.
[ROBIĘ]
Odsłoń diagram z anotacjami. Wskaż każde ćwiczenie na poziomie, do którego pasuje. Zatrzymaj się przy integracji. 'W większości firm te poziomy nie rozmawiają.' Długa pauza.
[OBSERWUJĘ]
Kiwanie głową? Ktoś robi zdjęcie? Dobre znaki. Jeśli ktoś komentuje 'u nas tak nie jest' — 'I dlatego wasza praca dzisiaj ma wartość. Pytanie: co z tego przeniesiecie do organizacji?'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17:02 · Slajd 78 / 85
[MÓWIĘ]
Pięć rzeczy, które wyciągam z dzisiejszego dnia — jeśli zapamiętacie tylko pięć, to niech to będą te pięć. Po pierwsze: strategia marki jest fundamentem, z którego wynika wszystko inne. Bez odpowiedzi kim jesteście, SOSTAC staje się formularzem, RACE staje się listą kanałów, a alokacja budżetu staje się zgadywaniem. Po drugie: SOSTAC i RACE nie są alternatywą — SOSTAC planuje, RACE egzekwuje. Potrzebujecie obu. Po trzecie: CVP mówi do klienta, nie o produkcie. Wasz klient nie chce usłyszeć, że jesteście najlepsi. Chce wiedzieć, dlaczego Wy jesteście odpowiedzią na jego problem. Po czwarte: polski rynek ma własną strukturę — BLIK, Paczkomat, Allegro, mobile-first. Strategia skopiowana z Niemiec albo USA w Polsce nie działa. Po piąte: alokacja budżetu to ćwiczenie w dyscyplinie. Bez rezerwy na adjust, bez balansu etapów RACE, bez atrybucji wieloźródłowej — pieniądze wyciekają, i nie wiecie gdzie.
[ROBIĘ]
Odsłaniaj wnioski pojedynczo, z pauzą 5-10 sek na każdym. Przy piątym — cicha pauza, niech ostatni wniosek wybrzmi.
[OBSERWUJĘ]
Uczestnicy notują? Dobry znak. Ktoś pyta 'który wniosek najważniejszy?' — 'To zależy od waszego kontekstu. W trudnej sytuacji zaczynam od piątego (dyscyplina). W rozwoju — od pierwszego (fundament marki).'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17:07 · Slajd 79 / 85
[MÓWIĘ]
Wyobraźcie sobie, że w poniedziałek wasz prezes pyta 'co ciekawego było na tym szkoleniu?'. Macie trzydzieści sekund. Oto trzy zdania. SOSTAC — jedyny framework, który wymusza zatrzymanie się na każdym etapie planowania, żebyśmy nie przeskoczyli od Sytuacji do Taktyk. RACE — cykl, nie lejek: zaangażowani klienci zasilają nowy zasięg. CVP — to nie hasło reklamowe, to odpowiedź na pytanie klienta dlaczego Wy, a nie ktoś inny. Te trzy zdania nie zastępują dnia pracy — ale jeśli wasz prezes je zapamięta, otwierają drzwi do pełniejszej rozmowy.
[ROBIĘ]
Wyświetl trzy bloki. Przy każdym zatrzymaj się i powtórz zdanie głośno raz dla rytmu. Następnie pytanie: 'Które z tych trzech zdań ma największe znaczenie dla Waszej organizacji?'
[OBSERWUJĘ]
Uczestnicy próbują zmodyfikować zdania pod siebie — dobry znak aktywnego przetwarzania. Jeśli ktoś mówi 'moja firma nie działa na żadnym z tych poziomów' — 'To oznacza, że macie przewagę — bo Wasza konkurencja prawdopodobnie też nie. Pytanie: kto pierwszy to zmieni?'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17:12 · Slajd 80 / 85
[MÓWIĘ]
Jedno zadanie do zabrania. Dzisiaj pracowaliście z marką wybraną dla ćwiczeń — InPost, Żabka, mBank, może Zalando. W ciągu najbliższego tygodnia zróbcie audyt SOSTAC dla marki, za którą jesteście odpowiedzialni w pracy. Nie pełne cztery ćwiczenia — tylko SOSTAC, część Sytuacja i Cele. Trzy pytania do zadania sobie: gdzie jesteśmy w każdym z czterech etapów RACE? Jakie są nasze cele na kolejny kwartał, wyrażone jako co najmniej jeden KPI per etap RACE? Gdzie największe luki między 'gdzie jesteśmy' a 'gdzie chcielibyśmy być'? Wynik: jedna strona. Nie raport na dwadzieścia stron. Najbardziej wartościowy dokument tego roku — jeśli zrobicie go szczerze. Prześlijcie go do siebie, do współpracownika, do mnie. Ale najpierw — zróbcie go.
[ROBIĘ]
Odsłoń trzy pytania kolejno. Podkreśl 'jedna strona'. Zapytaj: 'Kto zobowiązuje się do zrobienia tego w ciągu tygodnia?' Ręce w górę. Podziękuj tym, którzy podnieśli.
[OBSERWUJĘ]
Opór typu 'nie mam czasu'? 'Jeśli nie macie godziny tygodniowo na audyt własnej marki, macie większy problem niż brak czasu.' Spokojny ton, ale jasny.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17:17 · Slajd 81 / 85
[MÓWIĘ]
Cztery polskie zasoby, które polecam śledzić regularnie. Marketing przy Kawie — codzienny newsletter o trendach i kampaniach w Polsce. Krótki format, dobry smak redaktorski. Sprawny Marketing — bardziej pogłębione analizy, szczególnie przypadki i strategie. IAB Polska — źródło twardych danych o polskim rynku cyfrowym, raporty kwartalne i roczne, standardy branżowe. Gemius — analityka ruchu i badania rynkowe, często cytowane dane o polskich platformach. Wszystkie cztery to różne poziomy — od newslettera codziennego po raporty branżowe. Nie musicie czytać wszystkiego. Wystarczy jeden regularnie.
[ROBIĘ]
Odsłoń cztery karty. Nie opisuj każdej szczegółowo — uczestnicy przeczytają. Podkreśl: 'Jeden regularnie, nie cztery sporadycznie.'
[OBSERWUJĘ]
Uczestnicy robią notatki/zdjęcia? Dobry znak. Ktoś dodaje własne rekomendacje? Zachęć — 'Napiszcie je na slajdzie następnym, obok waszych Monday Notes.'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17:22 · Slajd 82 / 85
[MÓWIĘ]
Cztery globalne źródła — tu są bezpośrednio autorzy frameworków, które dzisiaj stosowaliście. Smart Insights — platforma Dave'a Chaffey'a, autora RACE. Ma darmową część i abonament. Artykuły, szablony, badania. PR Smith — autor SOSTAC. Jego blog i książki są referencyjne — dla kogoś, kto chce głębiej zrozumieć logikę frameworku. Strategyzer — zespół Alexa Osterwaldera, autora Value Proposition Canvas i Business Model Canvas. Sklep z narzędziami, kursy, wspólnota praktyków. DataReportal — coroczne raporty Digital o rynku cyfrowym na świecie i w konkretnych krajach. W tym Polska. Porada: idźcie do źródeł. Zamiast czytać 'dziesięć porad jak stosować RACE' — przeczytajcie Chaffey'a. Oszczędza czas i daje lepszy obraz.
[ROBIĘ]
Odsłoń cztery karty. Podkreśl: 'Idźcie do źródeł, nie do streszczeń.'
[OBSERWUJĘ]
Ktoś zauważa różnicę poziomów (newsletter vs. platforma autorska)? Zgódź się. 'Polskie źródła = bieżący puls. Globalne = głębia frameworkowa.'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17:27 · Slajd 83 / 85
[MÓWIĘ]
Ostatnie ćwiczenie — indywidualne, nie grupowe. Przez ostatnie osiem godzin zdobyliście dużo nowych idei. Najczęstszy los takich szkoleń — w poniedziałek energia opada, tydzień wciąga w zwykłą pracę, nic się nie zmienia. Żeby tego uniknąć: wybierzcie jedną rzecz. Nie dziesięć. Jedną. Konkretna, do wykonania w ciągu tygodnia. Napiszcie ją na karteczce — dajcie sobie pięć minut. Struktura: 'W poniedziałek zrobię X, bo dzisiaj zrozumiałem Y, i ma to dla nas wartość Z.' Przykłady: 'Zrobię audyt SOSTAC dla naszej marki i prześlę szefowi' albo 'Dodam BLIK do naszej strony, sprawdzając czy już jest w planie IT' albo 'Napiszę naszą CVP w jednym zdaniu i prześlę kolegom do krytyki'. Konkret. Tydzień. Pięć minut na napisanie — i zatrzymajcie tę karteczkę.
[ROBIĘ]
Odsłoń slajd. Uruchom timer 5 min. Daj przestrzeń na ciszę — nie komentuj. Pod koniec: 'Kto chciałby podzielić się swoją karteczką? Nie musicie — ale głośne sformułowanie pomaga.'
[OBSERWUJĘ]
Niektórzy piszą 10 rzeczy — podejdź, zapytaj: 'Która z nich jest najważniejsza? Podkreśl.' Niektórzy nie wiedzą, co napisać — 'Pomyślcie o trzech wnioskach z slajdu 78. Który najbardziej dotyka waszej codziennej pracy?'
[DEBRIEF]
Po 5 min: 2-3 osoby dzielą się. Nie komentuj oceniająco — powtórz z szacunkiem. Pytanie do reszty: 'Czy widzicie wzorzec? Większość z Was wybrała konkretne działanie, nie ogólną aspirację. To bardzo dobry znak.'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17:32 · Slajd 84 / 85
[MÓWIĘ]
Mamy dziesięć minut na pytania. Zasada: nie ma złych pytań. Szczególnie te, które brzmią ''naiwnie'' albo ''za proste'' — to zwykle najlepsze, bo adresują założenia, które reszta sali milcząco przyjęła. Jakie pytanie nosiliście ze sobą przez cały dzień?
[ROBIĘ]
Odsłoń slajd. Zamilknij. Dłuższa pauza — 10-15 sek ciszy. Pierwsze pytanie zwykle pojawia się po 5 sekundach. Jeśli nie — 'Dobrze, zacznę od pytania, które mnie samego nurtuje: które ćwiczenie było najtrudniejsze i dlaczego?'
[OBSERWUJĘ]
Nie odpowiadaj zbyt szybko. Pauza po pytaniu 2-3 sek = szacunek dla pytającego. Jeśli nie znasz odpowiedzi: ''To bardzo dobre pytanie, nie mam gotowej odpowiedzi — podeślę po szkoleniu.'' Szczerość ważniejsza niż improwizacja.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17:42 · Slajd 85 / 85
[MÓWIĘ]
Dziękuję Wam. Osiem godzin, cztery ćwiczenia, jedna marka — i pełny plan marketingowy do zabrania. Pamiętajcie o karteczce: jedna rzecz, w tym tygodniu, nie dziesięć. Slajdy i materiały uzupełniające prześlę jutro mailem. Jeśli coś Was nurtuje po szkoleniu — piszcie. Najlepsze pytania zwykle przychodzą dwa tygodnie po. Miłego weekendu.
[ROBIĘ]
Odsłoń slajd. Stój spokojnie, uśmiechnij się. Nie rozwlekaj. Podziękowanie powinno być krótkie i autentyczne — nie kazanie. Jeśli w sali jest oklask, przyjmij go bez fałszywej skromności. Zostań 10-15 min po szkoleniu dla indywidualnych pytań.
[OBSERWUJĘ]
Obserwuj, kto podchodzi po szkoleniu. Indywidualne rozmowy często ważniejsze niż sala — szczególnie dla osób, które nie lubią mówić przed grupą.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BLOCK 5 · SYNTEZA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Witajcie z powrotem — zamykamy pętlę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dzień zbudowaliście pełny plan marketingowy. W ostatnich 45 minutach zamykamy go — i patrzymy na całość.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39696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2139696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Ćw.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Sytuacja + cele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88336" y="29260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79776" y="2103120"/>
            <a:ext cx="2139696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779776" y="2103120"/>
            <a:ext cx="2139696" cy="50292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21031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Ćw.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9776" y="2880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16936" y="370332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klienta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29260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10912" y="2103120"/>
            <a:ext cx="2139696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0912" y="2103120"/>
            <a:ext cx="2139696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21031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Ćw.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880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48072" y="370332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kogo i dlaczego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0608" y="29260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242048" y="2103120"/>
            <a:ext cx="2139696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2048" y="2103120"/>
            <a:ext cx="2139696" cy="50292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25" name="Text 23"/>
          <p:cNvSpPr/>
          <p:nvPr/>
        </p:nvSpPr>
        <p:spPr>
          <a:xfrm>
            <a:off x="7242048" y="21031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Ćw.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2880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79208" y="370332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i za 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81744" y="29260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473184" y="2103120"/>
            <a:ext cx="2139696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3184" y="2103120"/>
            <a:ext cx="2139696" cy="50292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31" name="Text 29"/>
          <p:cNvSpPr/>
          <p:nvPr/>
        </p:nvSpPr>
        <p:spPr>
          <a:xfrm>
            <a:off x="9473184" y="21031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Teraz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73184" y="2880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SYNTEZA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610344" y="370332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zabieramy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plan marketingowy dla Waszej marki — gotowy do zabrania z sali.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HIERARCHIA · PEŁNE ODSŁONIĘCIE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każde ćwiczenie pasuje w całości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1175004"/>
            <a:ext cx="475488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2481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6139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"Kim jesteśmy?" (5–10+ lat)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952244"/>
            <a:ext cx="0" cy="128016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0" y="13121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Ćwiczenie 3: Kanwa Propozycji Wartości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2153412"/>
            <a:ext cx="4754880" cy="7772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2265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Cyfrowa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25923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technologia transformuje organizację?" (wieloletnia)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930652"/>
            <a:ext cx="0" cy="128016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22905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(kontekst organizacyjny — omówiony w bloku 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131820"/>
            <a:ext cx="4754880" cy="7772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2049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35707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przyciągamy, konwertujemy, utrzymujemy klientów?" (roczna)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909060"/>
            <a:ext cx="0" cy="128016"/>
          </a:xfrm>
          <a:prstGeom prst="line">
            <a:avLst/>
          </a:prstGeom>
          <a:noFill/>
          <a:ln w="38100">
            <a:solidFill>
              <a:srgbClr val="1A7A8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58000" y="32689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Cały dzień: wybrana marka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110228"/>
            <a:ext cx="4754880" cy="777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1833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45491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Planowania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4887468"/>
            <a:ext cx="0" cy="128016"/>
          </a:xfrm>
          <a:prstGeom prst="line">
            <a:avLst/>
          </a:prstGeom>
          <a:noFill/>
          <a:ln w="38100">
            <a:solidFill>
              <a:srgbClr val="2D7A4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58000" y="42473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Ćwiczenie 1: Audyt Sytuacyjny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5088636"/>
            <a:ext cx="4754880" cy="7772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51617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55275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Egzekucji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2257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Ćwiczenie 2: Mapa Ścieżki Klienta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cały dzień pracowaliście na wszystkich 5 poziomach. To jest rzadkość — wykorzystajcie ją.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WNIOSKÓW · DO ZABRANIA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rzeczy, których nauczyliście się dziś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zapamiętacie tylko pięć — niech to będą te pięć.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3716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20116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 jest fundamentem. Wszystko inne z niej wynika. Bez niej narzędzia działają w próżni.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88920"/>
            <a:ext cx="137160" cy="6858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 i RACE nie są alternatywą — SOSTAC planuje, RACE egzekwuje. Potrzebujecie obu.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66160"/>
            <a:ext cx="137160" cy="6858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mówi do klienta, nie o produkcie. 'Ty zyskujesz X, bo Y' — nie 'My jesteśmy najlepsi w X'.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43400"/>
            <a:ext cx="137160" cy="6858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828800" y="43434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rynek ma własną strukturę: BLIK, Paczkomat, Allegro, mobile-first. Skopiowana zagraniczna strategia nie działa.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120640"/>
            <a:ext cx="137160" cy="685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06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828800" y="51206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Alokacja budżetu = dyscyplina. Rezerwa na adjust, balans etapów RACE, atrybucja wieloźródłowa. Inaczej pieniądze wyciekają.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FRAMEWORKI · JEDNO ZDANIE KAŻDY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Jakbyście mieli streścić dzień jednemu prezesowi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framework w jednym zdaniu — łatwym do zapamiętania i przekazania dalej.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3566160" cy="1371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Smith · 1990s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Jedyny framework, który wymusza zatrzymanie się na każdym etapie — żebyśmy nie przeskoczyli od Sytuacji do Taktyk.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56616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011680"/>
            <a:ext cx="3566160" cy="1371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Chaffey · Smart Insights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Cykl, nie lejek: Zaangażowani klienci zasilają nowy Zasięg. Engage → Reach = pętla wzrostu.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56616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011680"/>
            <a:ext cx="3566160" cy="1371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7532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Osterwalder · Strategyzer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hasło reklamowe. To odpowiedź na pytanie klienta: ''dlaczego Wy, a nie ktoś inny?''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 poniedziałek u prezesa: 'Co ciekawego było na szkoleniu?' — trzy zdania, trzydzieści sekund."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NA NAJBLIŻSZY TYDZIEŃ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SOSTAC — dla Waszej prawdziwej marki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dla marki z sali. Dla tej, za którą jesteście odpowiedzialni w pracy.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6858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JEDNA STRONA · DO KOŃCA PRZYSZŁEGO TYGODNIA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71800"/>
            <a:ext cx="137160" cy="100584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10896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jesteśmy w każdym z 4 etapów RACE?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56616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Oceńcie realny stan każdego etapu. Nie tam, gdzie chcielibyście być — tam, gdzie jesteście.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69080"/>
            <a:ext cx="137160" cy="10058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20624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cele na kolejny kwartał — min. 1 KPI per etap RACE?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466344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Konkretne, mierzalne, osadzone w czasie. Unikajcie 'zwiększyć świadomość' — lepiej '+15% ruchu organicznego do marca'.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166360"/>
            <a:ext cx="137160" cy="100584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03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30352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największe luki między ''gdzie jesteśmy'' a ''gdzie chcemy''?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91640" y="57607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= okazja strategiczna. Trzy największe luki = trzy priorytety inwestycyjne.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· POLSKA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Polskie źródła — gdzie śledzić rynek dalej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miejsca, które polecam regularnie śledzić polskiemu marketerowi.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663190" cy="1097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codzienny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przy Kawie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marketingprzykawie.pl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 format, dobry smak redaktorski, puls polskiego marketingu codziennie.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899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8990" y="2011680"/>
            <a:ext cx="2663190" cy="109728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57759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podcast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759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Sprawny Marketing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7759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sprawnymarketing.pl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7759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Pogłębione analizy case'ów, wywiady z praktykami, dłuższy format.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934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9340" y="2011680"/>
            <a:ext cx="2663190" cy="109728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branżowe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7794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IAB Polska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7794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iab.org.pl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794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Twarde dane rynkowe. AdEx, raporty e-commerce, standardy branży.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969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949690" y="2011680"/>
            <a:ext cx="266319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917829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Analityka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7829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Gemius / PBI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7829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gemius.com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7829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Mediapanel, dane o ruchu platform, badania behawioralne polskich internautów.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źródło regularnie &gt; cztery źródła sporadycznie.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· MIĘDZYNARODOWE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Globalne źródła — autorzy dzisiejszych frameworków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Idźcie do źródeł. Zamiast czytać 'jak stosować RACE' — przeczytajcie Chaffey'a.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663190" cy="109728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Chaffey — RACE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Insights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smartinsights.com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autora RACE. Szablony, analizy case'ów, metodyka. Wolny dostęp + premium.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899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8990" y="2011680"/>
            <a:ext cx="2663190" cy="1097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57759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SOSTAC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759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Smith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7759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prsmith.org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7759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Referencyjne źródło dla SOSTAC. Blog + książki. Dla głębszego rozumienia logiki planowania.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934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9340" y="2011680"/>
            <a:ext cx="266319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Osterwalder — VPC / BMC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7794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Strategyzer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7794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strategyzer.com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794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autora Value Proposition Canvas. Narzędzia, kursy, wspólnota praktyków.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9690" y="2011680"/>
            <a:ext cx="266319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949690" y="2011680"/>
            <a:ext cx="2663190" cy="109728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25" name="Text 23"/>
          <p:cNvSpPr/>
          <p:nvPr/>
        </p:nvSpPr>
        <p:spPr>
          <a:xfrm>
            <a:off x="9178290" y="2286000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Kemp — Digital Reports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78290" y="260604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DataReportal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78290" y="3657600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datareportal.com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78290" y="406908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Coroczne raporty Digital na świat + konkretne kraje (w tym Polska). Darmowe, godne cytowania.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Idźcie do źródeł, nie do streszczeń. Oszczędza czas, daje lepszy obraz.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INDYWIDUALNE · 5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rzecz — którą zastosuję w poniedziałek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lista dziesięciu rzeczy do zrobienia. Jedna konkretna, do wykonania w tygodniu.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03120"/>
            <a:ext cx="8503920" cy="3200400"/>
          </a:xfrm>
          <a:prstGeom prst="rect">
            <a:avLst/>
          </a:prstGeom>
          <a:solidFill>
            <a:srgbClr val="FFF8D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103120"/>
            <a:ext cx="850392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1031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MOJA KARTECZKA PONIEDZIAŁKOWA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83464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poniedziałek zrobię </a:t>
            </a:r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dzisiaj zrozumiałem </a:t>
            </a:r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[Y]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 to dla nas wartość </a:t>
            </a:r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"Zrobię audyt SOSTAC dla naszej marki i prześlę szefowi."   ·  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"Dodam BLIK do strony — sprawdzę plan IT."   ·  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"Napiszę naszą CVP w jednym zdaniu i prześlę kolegom do krytyki."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minut · zatrzymajcie karteczkę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· DYSKUSJA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chcieliście zapytać przez cały dzień?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Mamy 10 minut. Nie ma złych pytań — szczególnie te ''naiwne'' są najlepsze.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Osiem godzin. Cztery ćwiczenia. Jedna marka.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plan marketingowy — do zabrania.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Pamiętajcie o karteczce poniedziałkowej. </a:t>
            </a:r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rzecz, w tym tygodniu — nie dziesięć.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Imię Prowadzącego ]   ·   [ email@domena.pl ]   ·   [ LinkedIn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i materiały uzupełniające — prześlę jutro mailem.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Strategia Marketingu Cyfrowego — Blok 6: Synteza + Zakończenie</dc:title>
  <dc:subject>PptxGenJS Presentation</dc:subject>
  <dc:creator>PptxGenJS</dc:creator>
  <cp:lastModifiedBy>PptxGenJS</cp:lastModifiedBy>
  <cp:revision>1</cp:revision>
  <dcterms:created xsi:type="dcterms:W3CDTF">2026-04-24T11:42:17Z</dcterms:created>
  <dcterms:modified xsi:type="dcterms:W3CDTF">2026-04-24T11:42:17Z</dcterms:modified>
</cp:coreProperties>
</file>