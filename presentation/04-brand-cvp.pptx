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12:30 · Slajd 39 / 85
[MÓWIĘ]
Czas na zasłużoną przerwę obiadową — macie godzinę. Wrócimy dokładnie o 13:30. Przez chwilę podczas lunchu pomyślcie o marce, którą dzisiaj analizujecie. Czym ta marka różni się od konkurencji? Dlaczego klienci ją wybierają? Po południu zagłębimy się w strategię marki i propozycję wartości.
[ROBIĘ]
Wyświetl slajd. Głośno ogłoś godzinę powrotu. Potwierdź lokalizację restauracji/bufetu jeśli dotyczy.
[OBSERWUJĘ]
Zwróć uwagę, ile osób wychodzi od razu — naturalny sygnał wyczerpania po intensywnym poranku. Jeśli grupy rozmawiają o materiałach przy wyjściu — dobry znak.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13:30 · Slajd 40 / 85
[MÓWIĘ]
Witajcie z powrotem. Żeby rozgrzać umysły po lunchu, zacznijmy od szybkiej rundy oceniania. Zaraz pokażę wam pięć prawdziwych kampanii polskich marek — jedną po drugiej. Dla każdej macie trzydzieści sekund. Wasza jedyna decyzja: dobra kampania czy zła? Podnieście rękę, jeśli myślicie, że dobra. Nie ma złych odpowiedzi — ale chcę, żebyście uzasadnili swoją ocenę jednym zdaniem.
[ROBIĘ]
Wyświetl slajd. Upewnij się, że timer (stopwatch na telefonie) jest gotowy do odliczania 30 sekund dla każdej kampanii. Przejdź do slajdu 41 natychmiast po krótkim wstępie.
[OBSERWUJĘ]
Czy uczestnicy są rozbudzeni? Energia po lunchu zwykle niższa — dynamika quickfire pomaga. Mów energicznie, utrzymuj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13:32 · Slajd 41 / 85
[MÓWIĘ]
CD Projekt Red — polskie studio twórców Wiedźmina i Cyberpunka — i ich post na TikToku w kampanii Phantom Liberty. Trzydzieści sekund. Dobra czy zła?
[ROBIĘ]
Uruchom timer na 30 sekund. Po upływie czasu zbierz głosy — ręce w górę. Zapytaj 1–2 osoby o uzasadnienie. Nie dawaj 'oficjalnej odpowiedzi' — połącz obserwacje klasy z frameworkiem: 'Ktoś powiedział, że to buduje społeczność — to jest Zaangażowanie w RACE, albo strategia marki opartej na wartościach. Wrócimy do CD Projekt Red w bloku popołudniowym.'
[OBSERWUJĘ]
Czy uczestnicy reagują emocjonalnie? Gracze w sali mogą znać tę markę bardzo dobrze. Obserwuj, czy ktoś przywołuje kryzys launch'u Cyberpunka 2077 — doskonałe wejście do dyskusji o strategii marki.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13:36 · Slajd 42 / 85
[MÓWIĘ]
Tym razem email — od mBanku, polskiego pioniera bankowości cyfrowej. Post retencyjny z elementem grywalizacji. Trzydzieści sekund. Dobra czy zła?
[ROBIĘ]
Uruchom timer. Zbierz głosy. Zapytaj jedno zdanie uzasadnienia. Połącz: 'Jeśli ktoś mówi, że to zbyt nachalne — to dokładnie pytanie o CVP i strategię marki, które będziemy badać za chwilę.'
[OBSERWUJĘ]
Uczestnicy z doświadczeniem bankowym mogą mieć silne opinie. Dyskusja o danych osobowych i personalizacji — cenny sygnał; zaznacz na użytek bloku CVP.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13:40 · Slajd 43 / 85
[MÓWIĘ]
Żabka i jej strona docelowa do kampanii Żappki. Landing page, który ma przekonać do pobrania aplikacji. Trzydzieści sekund. Dobra czy zła?
[ROBIĘ]
Uruchom timer. Zbierz głosy. Zapytaj o uzasadnienie. Połącz: 'Żabka to marka, którą dobrze znamy z ćwiczenia 1 i 2 — jak wasza ocena zmienia się, kiedy znacie już ich strategię SOSTAC i mapę RACE?'
[OBSERWUJĘ]
Grupy, które rano pracowały na Żabce, mogą mieć bogatszy kontekst. Obserwuj, czy wiedza z rana informuje ocenę popołudniową — transfer wiedzy zadziałał.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13:44 · Slajd 44 / 85
[MÓWIĘ]
InPost i ich post influencerski — messaging skupiony na wygodzie Paczkomatu. Trzydzieści sekund. Dobra czy zła?
[ROBIĘ]
Uruchom timer. Zbierz głosy. Zapytaj o uzasadnienie. Połącz: 'InPost będzie naszym głównym przykładem przy Kanwie Propozycji Wartości w ćwiczeniu 3 — zapamiętajcie tę ocenę, wrócimy do niej.'
[OBSERWUJĘ]
Jeśli uczestnicy kwestionują autentyczność influencer marketingu — doskonały punkt do późniejszej dyskusji o strategii marki. Nie rozwijaj teraz — oznacz jako 'omówimy dokładniej za chwilę'.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13:48 · Slajd 45 / 85
[MÓWIĘ]
I na koniec — Allegro i ich pozycja w organicznych wynikach wyszukiwania dla konkurencyjnej kategorii. To nie reklama — to SEO. Trzydzieści sekund. Dobra czy zła kampania?
[ROBIĘ]
Uruchom timer. Zbierz głosy. Zakończ re-energizer: 'Świetna robota. Widzę, że wasze oko marketingowe jest już rozgrzane. Teraz przejdziemy do czegoś, co sprawi, że ta ocena stanie się jeszcze ostrzejsza — strategii marki i propozycji wartości.' Przejdź płynnie do slajdu 46.
[OBSERWUJĘ]
Czy uczestnicy potrafią odróżnić 'mi się podoba' od 'jest skuteczna strategicznie'? Jeśli większość odpowiedzi estetyczna ('ładny design'), zaznacz: 'Oceniamy skuteczność strategiczną — nie estetykę.'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13:50 · Slajd 46 / 85
[MÓWIĘ]
Uczyliśmy się SOSTAC i RACE jako pierwszych, bo to najbardziej namacalne narzędzia — ale w praktyce zawodowej definiujesz strategię marki zanim wypełnisz SOSTAC. Celowo odwróciliśmy tę kolejność: zaczęliśmy od konkretnych frameworków planistycznych, bo one dały wam rusztowanie, dzięki któremu abstrakcyjne pojęcia — 'strategia marki', 'propozycja wartości' — będą teraz miały dla was praktyczny wymiar. Przez całe rano budowaliście plany i mapy. Teraz zobaczymy, co powinno je fundować. Dwa górne poziomy — Strategia Marki i Strategia Cyfrowa — to fundament, bez którego SOSTAC jest tylko formularzem do wypełnienia.
[ROBIĘ]
Wyświetl slajd. Wskaź wyblakłe dolne poziomy, a potem podświetlone dwa górne. 'Tam, gdzie byliśmy rano — teraz tu, gdzie naprawdę zaczyna się strategia.'
[OBSERWUJĘ]
Jeśli ktoś pyta 'dlaczego nie zaczęliśmy od tego rano?' — odpowiedz: 'Bo strategia marki bez kontekstu planistycznego jest abstrakcją. Teraz, gdy znacie SOSTAC i RACE, strategia marki nabiera znaczenia.'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13:53 · Slajd 47 / 85
[MÓWIĘ]
Zanim zagłębimy się w Strategię Marki, musimy ustawić trzy pojęcia. Strategia Cyfrowa: pytanie na poziomie całej organizacji — jak technologia cyfrowa zmienia sposób, w jaki działamy? mBank bez oddziałów od 2000 — to decyzja zarządu, nie marketingu. Strategia Marketingu Cyfrowego: pytanie operacyjne — jak używamy kanałów cyfrowych do pozyskiwania i utrzymywania klientów? Allegro inwestujące w emocjonalne filmy zamiast reklam cenowych. Strategia Marki: pytanie tożsamościowe — kim jesteśmy, co reprezentujemy? CD Projekt Red: reputacja przez zasady (brak DRM, darmowe DLC). Te trzy pytania mają różnych właścicieli, horyzonty, narzędzia. Żadne nie jest synonimem.
[ROBIĘ]
Odsłaniaj kolumny — mBank, Allegro, CD Projekt. Zadaj: 'Kto w firmie odpowiada za każde pytanie?'
[OBSERWUJĘ]
Trudność z rozróżnieniem Cyfrowa vs Marketing Cyfrowy? Użyj: 'Żabka buduje sieć Nano = strategia cyfrowa. Żabka promuje Żappkę na TikToku = strategia marketingu cyfrowego.'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13:57 · Slajd 48 / 85
[MÓWIĘ]
Strategia marki to nie logo i nie kolorystyka. To system wzajemnie powiązanych decyzji definiujących, kim marka jest i jak komunikuje się ze światem. Pięć komponentów: Cel — dlaczego istniejemy poza zarabianiem pieniędzy? Pozycjonowanie — dla kogo jesteśmy numerem jeden i w czym? Obietnica — co każdorazowo gwarantujemy klientowi? Osobowość — jak mówimy, jaki mamy charakter? Tożsamość — spójny system wizualny i werbalny. Wszystkie pięć musi być ze sobą spójne — jeśli osobowość jest 'odważna', ale tożsamość wizualna 'korporacyjna', marka wysyła sprzeczne sygnały. Pytanie testowe: gdyby wasza firma zniknęła jutro — czy ktokolwiek by jej brakowało? Jeśli nie — nie macie strategii marki, macie tylko ofertę.
[ROBIĘ]
Odsłaniaj komponenty kolejno. Przy każdym zatrzymaj się na jedno zdanie. Na końcu pytanie testowe.
[OBSERWUJĘ]
Uczestnicy próbują natychmiast zaaplikować do swojej marki? Dobry znak. Ktoś pyta 'co jeśli marka nie ma celu poza zyskiem?' — 'To prawda dla wielu. Dlatego są interchangeable dla konsumenta.'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14:01 · Slajd 49 / 85
[MÓWIĘ]
Simon Sinek spopularyzował 'Zacznij od Dlaczego' — brzmi prosto, ale w praktyce jednym z najtrudniejszych zadań strategicznych. Dlaczego to nie 'żeby zarabiać pieniądze' — to cel biznesowy, nie cel marki. Dlaczego to odpowiedź: w jakim celu istniejemy poza generowaniem przychodu? Allegro to polski przykład. Kampania 'English for Beginners' 2016 — film, w którym starszy pan uczy się angielskiego, żeby zaskoczyć wnuczkę — 11 milionów wyświetleń w 2 tygodnie. Allegro prawie nie pojawia się w filmie. Produkt jest nieistotny. Ważna jest emocja: ludzkie połączenia umożliwiane przez technologię. To jest Brand Purpose. Wyniki: Allegro ma dziś 88% świadomości marki i 45–50% udziału w rynku e-commerce w Polsce. Marka z jasnym celem nie musi kupować uwagi — przyciąga ją.
[ROBIĘ]
Wyświetl Złoty Krąg bez przykładu. Zapytaj: 'Jaka wasza odpowiedź na DLACZEGO dla marki z dzisiejszego ćwiczenia?' 30 sek myślenia. Potem odsłoń Allegro.
[OBSERWUJĘ]
Uczestnicy mylą 'Dlaczego' z misją? Naprowadź: 'Allegro mogłoby powiedzieć 'dostarczamy produkty w najlepszych cenach'. Zamiast tego: umożliwiamy ludzkie połączenia.'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14:05 · Slajd 50 / 85
[MÓWIĘ]
Pozycjonowanie to nie USP. USP pyta 'czym się różnimy?' i skupia się na produkcie. Pozycjonowanie pyta 'dla kogo jesteśmy numerem jeden i w czym?' i skupia się na kliencie. Klasyczny wzór: dla określonego targetu, który ma określoną potrzebę, nasza marka jest jedyną w kategorii dostarczającą kluczową różnicę, bo dowód X. Macie 30 sekund — spróbujcie wypełnić ten wzór dla marki z dzisiejszego ćwiczenia. Mapa percepcyjna to narzędzie wizualizacji: umieszczasz markę na dwóch osiach wobec konkurentów. Nie ma jednej 'właściwej' mapy — wybór osi jest decyzją strategiczną. InPost: 'wygoda vs cena' lub 'zasięg vs personalizacja' — każda zadaje inne pytanie.
[ROBIĘ]
Odsłoń wzór. Daj 30 sek ciche ćwiczenie. Odsłoń mapę percepcyjną. 'Jakie 2 osie użylibyście dla waszej marki? Dlaczego?'
[OBSERWUJĘ]
Grupy utykają na wyborze osi? Naprowadź: 'Jakie 2 wymiary są najważniejsze dla waszego klienta? Co ocenia przy wyborze?'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14:09 · Slajd 51 / 85
[MÓWIĘ]
Tożsamość marki — spójny system wizualny i werbalny. Nie tylko logo — zestaw zasad definiujący jak marka wygląda, jak mówi, jak się zachowuje. Osobowość — charakter marki — zestaw cech sprawiający, że marka brzmi jak osoba, nie korporacyjna maszyna. Duolingo — jeden z najbardziej skrajnych przykładów osobowości na TikToku. 13M+ followersów, maskotka Duo traktowana jak niezależna osobowość z własnym humorem, historią, specyficzną nienawiścią do użytkowników, którzy pomijają lekcje. Chaotyczna, ale świadoma i konsekwentna. CD Projekt Red — tożsamość wyrażona przez decyzje produktowe. 'Brak DRM, darmowe DLC, player-first' to nie hasło marketingowe — to filozofia kształtująca wszystkie decyzje. Tożsamość marki powinna być widoczna nie tylko w reklamie, ale w tym, jak marka zachowuje się w kryzysie.
[ROBIĘ]
Odsłoń lewą (system tożsamości), potem prawą z case studies. 'Jaką osobowość ma marka z waszego ćwiczenia — 3 przymiotnikami?'
[OBSERWUJĘ]
Trudność oddzielić tożsamość wizualną od osobowości werbalnej? 'Duolingo ma spójną identyfikację wizualną, ale osobowość budują copywriterzy i moderatorzy.'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14:13 · Slajd 52 / 85
[MÓWIĘ]
David Aaker, profesor z Berkeley, zaproponował model, który do dziś jest najbardziej użyteczny do mierzenia siły marki. Brand Equity — wartość, jaką nazwa marki dodaje ponad funkcjonalne cechy produktu. Pięć komponentów: lojalność, świadomość, postrzegana jakość, skojarzenia, inne zasoby własnościowe. Co czyni model użytecznym w epoce cyfrowej? Każdy komponent ma mierzalny odpowiednik w danych. Lojalność = CLV + wskaźnik powtórnych zakupów. Świadomość = zasięg organiczny + share of voice. Postrzegana jakość = NPS + oceny produktów. Skojarzenia = sentyment w social media + engagement. Zasoby własnościowe = rozmiar bazy first-party. Silna marka cyfrowa ma wysokie wyniki we wszystkich pięciu. Słaba marka cyfrowa może mieć ogromne zasięgi i zerową lojalność. To nie jest to samo.
[ROBIĘ]
Odsłaniaj komponenty po kolei + cyfrowy ekwiwalent. 'Gdzie na tej mapie wasza marka jest mocna? Gdzie słaba?' 30 sek refleksji.
[OBSERWUJĘ]
Zaskoczenie, że 'markę' można mierzyć liczbami? 'Marketing jest sztuką i nauką. Aaker dał nam język, który rozumie CFO.'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14:17 · Slajd 53 / 85
[MÓWIĘ]
Piramida marki pokazuje, jak marka buduje znaczenie — od poziomu produktu do poziomu tożsamości. Na dole: atrybuty — konkretne cechy produktu, opisywalne technicznie. W środku: korzyści funkcjonalne, potem emocjonalne. Na szczycie: esencja — jedno zdanie, które streszcza wszystko. Nike jest podręcznikowym przykładem. Atrybuty: Air Max, Flyknit, grip. Korzyści funkcjonalne: wydajność, wytrzymałość, komfort. Korzyści emocjonalne: czuję się jak prawdziwy sportowiec. Wartości: determinacja, autentyzm. Esencja: 'Just Do It' — trzy słowa zawierające całą filozofię. Większość firm komunikuje z poziomu atrybutów. Silne marki komunikują z poziomu esencji. 'Just Do It' nie mówi nic o podeszwach. Mówi wszystko o tym, dlaczego chcesz być klientem Nike.
[ROBIĘ]
Odsłaniaj piramidę od podstawy do szczytu. Przy każdym poziomie wyraźnie Nike. Na szczycie zatrzymaj się przy 'Just Do It'.
[OBSERWUJĘ]
Uczestnicy przenoszą strukturę na swoją markę? Jeśli utknęli: 'Zacznijcie od atrybutów. 3 cechy produktu. Potem co to oznacza emocjonalnie?'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14:17 · Slajd 54 / 85
[MÓWIĘ]
CVP to nie hasło reklamowe. To odpowiedź na jedno pytanie klienta: 'dlaczego Wy, a nie ktoś inny?'. Odpowiedź musi być konkretna, musi mówić o kliencie, nie o produkcie. Różnica CVP vs USP jest subtelna ale fundamentalna. USP koncentruje się na marce: 'Jesteśmy najszybsi. Najtańsi. Najbardziej innowacyjni.' CVP koncentruje się na kliencie: 'Twoja paczka jest gotowa do odbioru o każdej porze, 7 minut od domu, bez czekania na kuriera.' Obydwa mogą opisywać InPost. Ale jedno to reklama — drugie propozycja wartości. Mocna CVP jest testowalna: możesz zapytać klienta 'czy to zdanie odzwierciedla to, co ceniłeś?' i uzyskać odpowiedź. Słaba CVP brzmi jak broszura korporacyjna: 'Dostarczamy innowacyjne rozwiązania na miarę potrzeb klienta.' Nic nie znaczy.
[ROBIĘ]
Odsłoń definicję. Tabelę porównawczą wiersz po wierszu. Pytaj: 'Który język przeważa w komunikacji waszej marki?'
[OBSERWUJĘ]
Uczestnicy wpisują slogan jako CVP? 'Slogan jest wyrazem CVP, ale nim nie jest. CVP to zdanie, które klient mógłby sam wypowiedzieć — 'wybieram tę markę, bo…'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14:20 · Slajd 55 / 85
[MÓWIĘ]
Kanwa Propozycji Wartości Alexa Osterwaldera przekształca intuicję w ustrukturyzowaną analizę. Dwa elementy. Profil Klienta: Zadania (co chce osiągnąć), Bóle (co mu przeszkadza), Korzyści (co chce zyskać). Mapa Wartości: Produkty i Usługi (co oferujemy), Uśmierzacze Bólu (jak adresujemy bóle), Kreatory Korzyści (jak tworzymy korzyści). Magia dzieje się w FIT — kiedy każdy ból ma Uśmierzacz, a każda Korzyść ma Kreator. Spotify to przykład doskonałego FIT — zmapowali czego słuchacze chcą (personalizacja, odkrywanie, tożsamość przez muzykę) i zbudowali produkt adresujący każdy element. Wynik: 713M MAU, 31,7% globalnego rynku streamingu. Kluczowa zasada: zawsze zaczynamy od Profilu Klienta. Nigdy od Mapy Wartości.
[ROBIĘ]
Wyświetl diagram. Wskaż koło (Profil), kwadrat (Mapa). Podkreśl FIT. Odsłoń Spotify jako exemplar.
[OBSERWUJĘ]
Czy uczestnicy rozumieją polskie etykiety stref? Jeśli zagubieni — wyjaśnij jednym zdaniem każdą.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14:23 · Slajd 56 / 85
[MÓWIĘ]
Zobaczmy jak wygląda mocna CVP na 5 przykładach z różnych branż. InPost: 'Dla polskiego kupującego, który nienawidzi czekać na kuriera — Paczkomat gwarantuje odbiór w 7 min od domu, 24/7 — w odróżnieniu od dostawy do drzwi, która wymaga obecności.' Żabka: 'Dla zapracowanego mieszkańca miasta — sklep zawsze blisko, który zna twoje nawyki zakupowe i nagradza lojalność spersonalizowanymi ofertami.' Spotify: 'Twoja muzyka, wszędzie, spersonalizowana.' Airbnb: 'Belong anywhere.' Slack: 'Where work happens.' Zwróćcie uwagę na skalę — od rozbudowanego formatu dla InPost po kapsułkowe dla globalnych. Oba są poprawne — różnią się kontekstem zastosowania. Rozbudowany: dokument strategiczny lub brief agencji. Kapsułka: nagłówek strony czy pitch.
[ROBIĘ]
Odsłaniaj karty jedna po drugiej. Pytaj: 'Czy ta CVP mówi do klienta czy o produkcie?' InPost: '7 min od domu' — konkret weryfikowalny. Airbnb: 'Belong anywhere' — emocja, nie funkcja.
[OBSERWUJĘ]
Jeśli kwestionują 'Belong anywhere': 'Zgoda, to bardziej Brand Essence niż CVP. Dobry przykład, jak CVP i Strategia Marki nakładają się na poziomie esencji.'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14:25 · Slajd 57 / 85
[MÓWIĘ]
Silna CVP nie jest celem samym w sobie — jest kompasem dla wszystkich dalszych decyzji. Kiedy masz silną CVP, pytania stają się prostsze: czy ten kanał dociera do naszego klienta? Czy ta treść odpowiada na jego ból lub tworzy korzyść? Czy komunikat mówi o kliencie czy o produkcie? Strategia treści bez CVP = produkcja contentu bez kierunku. Wybór kanałów bez CVP = bycie wszędzie i nigdzie. Hierarchia przekazu bez CVP = brak kręgosłupa. CVP nie zwalnia was z trudnych decyzji — ale daje kryterium wyboru wykraczające poza 'bo prezes lubi TikToka'. Za chwilę w ćwiczeniu 3 zbudujecie CVP dla waszej marki — będzie kompassem dla całego dnia, łącznie z budżetem w ćwiczeniu 4.
[ROBIĘ]
Wyświetl diagram kompassowy. Wskaź 4 kierunki + pytania. Podkreśl: 'Ten slajd to pomost między tym, czego się nauczyliście, a tym, co zbudujecie.'
[OBSERWUJĘ]
Energia niska przed ćwiczeniem? Normalne — nie przedłużaj. Przejdź płynnie do Warsztatu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14:25 · Slajd 58 / 85
[MÓWIĘ]
Czas na ćwiczenia. Warsztat 3 — Kanwa Propozycji Wartości. Teraz wy przejdziecie przez analizę, którą przed chwilą opisywaliśmy na przykładach. Zaraz pokażę wam instrukcje i przypomnienie: pracujecie z tą samą marką, którą wybraliście w Ćwiczeniu 1.
[ROBIĘ]
Wyświetl slajd. Krótka pauza. Przejdź natychmiast do slajdu 59.
[OBSERWUJĘ]
Ciemne tło + prostota komunikatu = sygnał 'czas na pracę'. Większość reaguje skupieniem.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14:27 · Slajd 59 / 85
[SETUP] Potwierdź tablicę Canva z Kanwą w poprawnych kolorach. Etykieta 'NIE ZACZYNAJCIE TUTAJ' zakrywa Mapę Wartości. Grupy mają własne strefy. Przykład InPost jako punkt orientacyjny. QR kod na dużym ekranie. Timer 50 min.
[MÓWIĘ]
Instrukcja do Warsztatu trzeciego. Wasze zadanie: uzupełnijcie Kanwę Propozycji Wartości dla waszej marki. 50 minut, do 15:15. Wynik: wypełniona Kanwa dla jednego segmentu klienta + 1 werbalizowane CVP. Najważniejsza zasada: zaczynacie od Profilu Klienta — Zadania, Bóle, Korzyści. Nie dotykajcie Mapy Wartości, dopóki Profil nie jest pełny. Na tablicy macie etykietę 'NIE ZACZYNAJCIE TUTAJ' — traktujcie ją poważnie.
[ROBIĘ]
Wyświetl. QR kod, timer 50 min. Chodź z promptami: Zadania: 'Jakie zadania — funkcjonalne, społeczne, emocjonalne?'; Bóle: 'Co frustruje, blokuje, czego się boi?'; Korzyści: 'Co chce osiągnąć? Co go pozytywnie zaskoczy?'; przy Mapie: 'Każdy Ból — znajdźcie Uśmierzacz. Każda Korzyść — Kreator. Brak dopasowania = luka strategiczna.'
[OBSERWUJĘ]
Kluczowy błąd: grupy zaczynają od Mapy Wartości. Zatrzymaj: 'Stop — zacznijcie od Profilu. Jakiego klienta mapujecie? Opiszcie w 2 zdaniach.' Obserwuj czy grupy równomiernie wypełniają Zadania/Bóle/Korzyści — tendencja do skupiania się na Bólach.
[DEBRIEF]
Czy zaczęliście od Mapy przed Profilem? Jak wpłynęło na jakość? Który Ból klienta jest najbardziej nieoczekiwany (o którym marka prawdopodobnie nie myśli)? Jak sformułujecie CVP jednym zdaniem?
[EXTENSION]
Sformułujcie CVP w formacie: 'Dla [kto], który chce [co], [marka] jest [czym], bo [dowód], w odróżnieniu od [alternatywy]'.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14:32 · Slajd 60 / 85
[SETUP] Przykład InPost tylko na slajdzie — nie nadpisuje stref grup. Etykieta 'JESZCZE NIE' zakrywa Mapę Wartości zarówno na przykładzie, jak i u grup.
[MÓWIĘ]
Punkt orientacyjny — wypełniony Profil Klienta dla InPost. Persona Marka, 31-letniego warszawiaka. Zwróćcie uwagę: Zadania, Bóle, Korzyści są napisane z perspektywy klienta — jego głosem, jego frustracją. Nie 'szybka dostawa' jako cecha — lecz 'muszę być w domu w 4-godzinnym oknie i to rujnuje mi plan dnia' jako ból klienta. Mapa Wartości jest zakryta celowo. Kiedy Profil jest gotowy, Mapa niemal wypełnia się sama — bo wiecie, co adresować. Wasz Profil powinien być równie konkretny lub bardziej. Ogólniki 'klient chce dobrej obsługi' nie prowadzą do mocnego CVP.
[ROBIĘ]
Wskaż każdą strefę Profilu, odczytaj przykładowe karteczki. 'Głos klienta, nie głos działu produktu.' Wskaż zakrytą Mapę: 'Macie materiał na Mapę dopiero, kiedy Profil gotowy.' Sygnał do pracy.
[OBSERWUJĘ]
Grupy kopiują przykład zamiast adaptować? Interweniuj: 'InPost to orientacja, nie szablon. Wasz klient jest inny. Co on naprawdę próbuje osiągnąć?'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 obiadowa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zobaczenia o 13:30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Podczas lunchu pomyślcie: czym wasza marka różni się od konkurencji? Dlaczego klienci ją wybierają?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RE-ENERGIZER · QUICKFIRE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czy zła kampania?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kampanii · 30 sekund każda · podnieście rękę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Rozgrzewka umysłów po lunchu — ostrość oceny strategicznej, nie estetyki.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1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Projekt Red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@cdprojektred · Cyberpunk 2077 Phantom Liberty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solidFill>
            <a:srgbClr val="1A2F4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post społecznościowy angażujący społeczność graczy — behind-the-scenes, odpowiedzi na komentarze fanów, memy nawiązujące do fabuły 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czy zła kampania? · Macie 30 sekund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2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mBank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kampania retencyjno-angażująca z grywalizacją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solidFill>
            <a:srgbClr val="1A2F4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spersonalizowane wezwanie do działania, pasek postępu lub element zdobywania punktów w programie Mgra, wyraźny CTA 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czy zła kampania? · Macie 30 sekund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3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Żabka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· kampania Żappka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solidFill>
            <a:srgbClr val="1A2F4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strona docelowa z ofertą promocyjną, CTA do pobrania aplikacji, elementy wizualne spójne z identyfikacją (zieleń, logotyp) 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czy zła kampania? · Macie 30 sekund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4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InPost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influencerski · Paczkomat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solidFill>
            <a:srgbClr val="1A2F4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kreacja podkreślająca wygodę ('paczka kiedy chcę, gdzie chcę'), autentyczny styl influencera, CTA lub kod zniżkowy 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czy zła kampania? · Macie 30 sekund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5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Allegro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· organiczny wynik wyszukiwania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solidFill>
            <a:srgbClr val="1A2F4F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37744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Zrzut ekranu: listing Allegro wysoko w wynikach Google dla konkurencyjnej kategorii — tytuł strony, meta opis, rich snippets 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czy zła kampania? · Macie 30 sekund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3 · STRATEGIA MARKI + CVP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Zbudowaliśmy plan. Teraz fundament.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03320" y="1175004"/>
            <a:ext cx="475488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3703320" y="1175004"/>
            <a:ext cx="4754880" cy="777240"/>
          </a:xfrm>
          <a:prstGeom prst="rect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03320" y="12481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03320" y="16139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"Kim jesteśmy?" (5–10+ lat)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952244"/>
            <a:ext cx="0" cy="128016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03320" y="2153412"/>
            <a:ext cx="4754880" cy="7772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2153412"/>
            <a:ext cx="4754880" cy="777240"/>
          </a:xfrm>
          <a:prstGeom prst="rect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2265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Cyfrowa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25923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"Jak technologia transformuje organizację?" (wieloletnia)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930652"/>
            <a:ext cx="0" cy="128016"/>
          </a:xfrm>
          <a:prstGeom prst="line">
            <a:avLst/>
          </a:prstGeom>
          <a:noFill/>
          <a:ln w="38100">
            <a:solidFill>
              <a:srgbClr val="2D6A9F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03320" y="3131820"/>
            <a:ext cx="4754880" cy="777240"/>
          </a:xfrm>
          <a:prstGeom prst="rect">
            <a:avLst/>
          </a:prstGeom>
          <a:solidFill>
            <a:srgbClr val="1A7A8A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32049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03320" y="35707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"Jak przyciągamy, konwertujemy, utrzymujemy klientów?" (roczna)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3909060"/>
            <a:ext cx="0" cy="128016"/>
          </a:xfrm>
          <a:prstGeom prst="line">
            <a:avLst/>
          </a:prstGeom>
          <a:noFill/>
          <a:ln w="38100">
            <a:solidFill>
              <a:srgbClr val="1A7A8A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03320" y="4110228"/>
            <a:ext cx="4754880" cy="777240"/>
          </a:xfrm>
          <a:prstGeom prst="rect">
            <a:avLst/>
          </a:prstGeom>
          <a:solidFill>
            <a:srgbClr val="2D7A4F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41833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03320" y="45491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Planowania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887468"/>
            <a:ext cx="0" cy="128016"/>
          </a:xfrm>
          <a:prstGeom prst="line">
            <a:avLst/>
          </a:prstGeom>
          <a:noFill/>
          <a:ln w="38100">
            <a:solidFill>
              <a:srgbClr val="2D7A4F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03320" y="5088636"/>
            <a:ext cx="4754880" cy="777240"/>
          </a:xfrm>
          <a:prstGeom prst="rect">
            <a:avLst/>
          </a:prstGeom>
          <a:solidFill>
            <a:srgbClr val="3A3A3A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51617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03320" y="55275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Egzekucji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"Zbudowaliśmy plan (SOSTAC) i mapę egzekucji (RACE). Teraz: fundament strategiczny."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POZIOMY · POWRÓT DO HIERARCHII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Cyfrowa ≠ Strategia Marketingu Cyfrowego ≠ Strategia Marki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pytania, trzech właścicieli, trzy horyzonty. Nie są synonimami.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88080" cy="548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Cyfrowa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36720" y="1920240"/>
            <a:ext cx="3688080" cy="5486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8" name="Text 6"/>
          <p:cNvSpPr/>
          <p:nvPr/>
        </p:nvSpPr>
        <p:spPr>
          <a:xfrm>
            <a:off x="4328160" y="192024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24800" y="1920240"/>
            <a:ext cx="368808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8016240" y="192024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technologia transformuje organizację?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28160" y="246888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pozyskujemy, konwertujemy, utrzymujemy klientów cyfrowo?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16240" y="246888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jesteśmy i co reprezentujemy?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6424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mBank: brak fizycznych oddziałów od 2000 — decyzja organizacyjna, nie marketingowa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28160" y="306324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Allegro: emocjonalne filmy YouTube zamiast reklam opartych o cenę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16240" y="306324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Projekt Red: brak DRM, darmowe DLC, filozofia player-first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Właściciel: CEO / CTO / CDO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28160" y="365760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Właściciel: CMO / Head of Digital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16240" y="365760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Właściciel: Brand Director / CEO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106424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5196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Horyzont: wieloletnia transformacja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28160" y="425196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Horyzont: roczny plan + kwartalne sprinty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16240" y="425196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Horyzont: 5–10+ lat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MARKI · 5 KOMPONENTÓW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marki to nie logo — to system decyzji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"Gdyby nasza firma zniknęła jutro, czy ktoś by jej naprawdę brakowało?"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39696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2139696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istniejemy poza zarabianiem? Po co świat nas potrzebuje?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79776" y="2011680"/>
            <a:ext cx="2139696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2779776" y="2011680"/>
            <a:ext cx="2139696" cy="4572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2011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POSITIONING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62656" y="26517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Pozycjonowanie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62656" y="329184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kogo jesteśmy numerem jeden i w czym konkretnie?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10912" y="2011680"/>
            <a:ext cx="2139696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010912" y="2011680"/>
            <a:ext cx="2139696" cy="45720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148072" y="2011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PROMISE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26517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Obietnica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93792" y="329184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gwarantujemy klientowi każdorazowo, bez wyjątku?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2139696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242048" y="2011680"/>
            <a:ext cx="2139696" cy="4572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2" name="Text 20"/>
          <p:cNvSpPr/>
          <p:nvPr/>
        </p:nvSpPr>
        <p:spPr>
          <a:xfrm>
            <a:off x="7379208" y="2011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PERSONALITY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24928" y="26517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Osobowość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24928" y="329184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mówimy, jaki mamy charakter, jaki ton komunikacji?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73184" y="2011680"/>
            <a:ext cx="2139696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3184" y="2011680"/>
            <a:ext cx="2139696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7" name="Text 25"/>
          <p:cNvSpPr/>
          <p:nvPr/>
        </p:nvSpPr>
        <p:spPr>
          <a:xfrm>
            <a:off x="9610344" y="20116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IDENTITY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56064" y="26517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Tożsamość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56064" y="329184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Spójny system wizualny i werbalny — wszystko, co widać i słychać.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"Gdyby wasza firma zniknęła jutro — czy ktoś by jej naprawdę brakowało?"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GOLDEN CIRCLE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Zacznij od DLACZEGO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Sinek · Allegro 'English for Beginners' jako polski case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103120"/>
            <a:ext cx="3657600" cy="3657600"/>
          </a:xfrm>
          <a:prstGeom prst="ellipse">
            <a:avLst/>
          </a:prstGeom>
          <a:solidFill>
            <a:srgbClr val="F5E6B8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0"/>
            <a:ext cx="2377440" cy="2377440"/>
          </a:xfrm>
          <a:prstGeom prst="ellipse">
            <a:avLst/>
          </a:prstGeom>
          <a:solidFill>
            <a:srgbClr val="F0C96B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291840"/>
            <a:ext cx="1280160" cy="12801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5212080" cy="384048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CASE · ALLEGRO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"English for Beginners" (2016)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Film: starszy pan uczy się angielskiego, by zaskoczyć wnuczkę. Allegro prawie nie widoczne. Produkt nieważny. Ważna jest emocja.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114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mln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583680" y="4937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wyświetleń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2 tygodnie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4114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98280" y="4937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świadomość marki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45–50% rynku e-commerce PL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"Allegro nie sprzedaje produktów. Sprzedaje ludzkie połączenia."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Statista · Allegro IR 2024 · Simon Sinek 'Start with Why'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Pozycjonowanie: dla KOGO i w CZYM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USP. USP pyta 'czym się różnimy?'. Pozycjonowanie pyta 'dla kogo jesteśmy #1 i w czym?'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3840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WZÓR POZYCJONOWANIA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[target]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którzy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[potrzeba]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nasza marka jest jedyną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[kategoria]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która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[kluczowa różnica]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ponieważ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[dowód]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PERCEPCYJNA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2560320"/>
            <a:ext cx="0" cy="292608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75120" y="5394960"/>
            <a:ext cx="45720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Wysoka cena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5212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Niska cena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5394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Niszowy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424160" y="539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Masowy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55480" y="3319272"/>
            <a:ext cx="182880" cy="18288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3300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3886200"/>
            <a:ext cx="182880" cy="18288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3867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Nasza marka?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41280" y="4878324"/>
            <a:ext cx="182880" cy="18288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9880" y="48600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osi = decyzja strategiczna. Nie ma jednej 'właściwej' mapy.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PERSONALITY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Tożsamość widać. Osobowość słychać.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Duolingo: maskotka jako osobowość. CD Projekt Red: tożsamość wyrażona przez decyzje produktowe.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29200" cy="4023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02920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TOŻSAMOŚCI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91440" cy="3657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znak rozpoznawczy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91440" cy="3657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Kolorystyka — paleta marki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749040"/>
            <a:ext cx="91440" cy="3657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Typografia — krój czcionki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91440" cy="3657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głosu (voice) — jak piszemy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846320"/>
            <a:ext cx="91440" cy="3657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 — motywy wizualne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5394960"/>
            <a:ext cx="91440" cy="3657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 w kryzysie — najtrudniejszy test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1920240"/>
            <a:ext cx="5760720" cy="1920240"/>
          </a:xfrm>
          <a:prstGeom prst="rect">
            <a:avLst/>
          </a:prstGeom>
          <a:solidFill>
            <a:srgbClr val="E6F5E8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1920240"/>
            <a:ext cx="137160" cy="19202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· TikTok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377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13M+ followersów. Maskotka Duo = niezależna osobowość z własnym humorem i specyficzną nienawiścią do użytkowników, którzy pomijają lekcje. Chaos — ale świadomy i konsekwentny.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4023360"/>
            <a:ext cx="5760720" cy="1920240"/>
          </a:xfrm>
          <a:prstGeom prst="rect">
            <a:avLst/>
          </a:prstGeom>
          <a:solidFill>
            <a:srgbClr val="F0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5852160" y="4023360"/>
            <a:ext cx="137160" cy="1920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PROJEKT RED · decyzje produktowe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44805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DRM · darmowe DLC · player-first. Tożsamość wyrażona przez decyzje, nie design. Filozofia, która kształtuje wszystkie wybory — od developmentu do zarządzania społecznością.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 · AAKER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Markę można mierzyć — Aaker dał nam język CFO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z 5 komponentów ma cyfrowy odpowiednik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38912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Aakera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920240"/>
            <a:ext cx="6675120" cy="5486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9202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Cyfrowy ekwiwalent KPI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Lojalność wobec marki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4688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· wskaźnik powtórnych zakupów · churn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Świadomość marki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organiczny · Share of Voice w wyszukiwaniu · recall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Postrzegana jakość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65760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· oceny produktów · recenzje w Trustpilot/Google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Skojarzenia z marką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42519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Sentyment w social media · engagement rate · tematy wzmianek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Zasoby własnościowe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84632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 i jakość bazy first-party · baza subskrybentów email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Silna marka cyfrowa = wysoki wynik we wszystkich 5. Duży zasięg + zerowa lojalność ≠ silna marka.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PYRAMID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atrybutów do esencji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firm komunikuje z poziomu atrybutów. Silne marki — z poziomu esencji.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23160" y="2011680"/>
            <a:ext cx="3657600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242316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ESENCJA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201168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Do It"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2651760"/>
            <a:ext cx="4389120" cy="5943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651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WARTOŚCI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651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Determinacja · autentyzm · przezwyciężanie siebie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91640" y="3291840"/>
            <a:ext cx="5120640" cy="59436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291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KORZYŚCI EMOCJONALNE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32918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"Czuję się jak prawdziwy sportowiec"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25880" y="3931920"/>
            <a:ext cx="5852160" cy="59436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39319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KORZYŚCI FUNKCJONALNE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39319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 atletyczna · komfort · wytrzymałość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4572000"/>
            <a:ext cx="6583680" cy="5943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720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ATRYBUTY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45720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Max · Flyknit · grip podeszwy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Nike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Do It" nie mówi nic o podeszwach. Mówi wszystko o tym, dlaczego chcesz być klientem Nike.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 · DEFINICJA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 mówi do klienta, nie o produkcie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USP: 'My jesteśmy najlepsi w X'. CVP: 'Ty zyskujesz Y, bo Z'.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 CVP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Zwięzłe stwierdzenie komunikujące unikalne korzyści produktu/usługi dla konkretnego klienta docelowego — wyjaśniające, dlaczego powinien wybrać tę ofertę zamiast alternatyw.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532120" cy="5486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017520"/>
            <a:ext cx="5532120" cy="5486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3017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Pytanie: 'Czym się różnimy?'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56616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Pytanie: 'Dlaczego klient powinien nas wybrać?'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marka / produkt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41605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klient i jego potrzeby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Język: 'My jesteśmy najlepsi w…'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4754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Język: 'Ty zyskujesz / Twój ból znika…'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492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'Najszybsza dostawa w Polsce'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53492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'Twoja paczka gotowa w 7 min od domu, o każdej porze'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CANVAS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Kanwa Propozycji Wartości — dopasowanie FIT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Klienta (co chce, co boli, co cieszy) ↔ Mapa Wartości (co oferujemy)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0" cy="3200400"/>
          </a:xfrm>
          <a:prstGeom prst="rect">
            <a:avLst/>
          </a:prstGeom>
          <a:solidFill>
            <a:srgbClr val="E8F5EA"/>
          </a:solidFill>
          <a:ln w="25400">
            <a:solidFill>
              <a:srgbClr val="2D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WARTOŚCI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 oferujemy)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834640"/>
            <a:ext cx="73152" cy="6400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34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Produkty i Usługi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66160"/>
            <a:ext cx="73152" cy="64008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661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Uśmierzacze Bólu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3840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73152" cy="64008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976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Kreatory Korzyści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1546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93776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4389120" cy="3200400"/>
          </a:xfrm>
          <a:prstGeom prst="ellipse">
            <a:avLst/>
          </a:prstGeom>
          <a:solidFill>
            <a:srgbClr val="FFF4E5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KLIENTA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514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 klient chce, czuje, pragnie)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3474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2926080"/>
            <a:ext cx="73152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926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 Klienta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566160"/>
            <a:ext cx="3474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566160"/>
            <a:ext cx="7315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566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206240"/>
            <a:ext cx="3474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4206240"/>
            <a:ext cx="73152" cy="5486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2062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Korzyści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Spotify: 713M MAU · 31,7% globalnego rynku streamingu — dopasowanie CVP do zmapowanych potrzeb słuchaczy.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Backlinko Spotify Statistics 2025  ·  Metoda: Alex Osterwalder / Strategyzer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 · 5 PRZYKŁADÓW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wygląda mocna CVP — pięć marek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rozbudowany (brief, dokument) vs kapsułkowy (strona, pitch)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498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109728" cy="749808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InPost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192024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"Dla polskiego kupującego, który nie chce czekać na kuriera — Paczkomat gwarantuje odbiór w 7 minut od domu, 24/7."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0" y="19202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rozbudowany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7498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743200"/>
            <a:ext cx="109728" cy="749808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432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Żabka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74320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"Dla zapracowanego mieszkańca miasta — sklep zawsze blisko, który zna twoje nawyki i nagradza lojalność przez Żappkę."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0" y="274320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rozbudowany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1064240" cy="7498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566160"/>
            <a:ext cx="109728" cy="749808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94560" y="356616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"Twoja muzyka, wszędzie, spersonalizowana dla ciebie."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0" y="356616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kapsułkowy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7498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89120"/>
            <a:ext cx="109728" cy="7498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94560" y="438912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"Belong anywhere — poczuj się jak w domu, gdziekolwiek na świecie."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0" y="438912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kapsułkowy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64240" cy="74980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212080"/>
            <a:ext cx="109728" cy="749808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120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194560" y="52120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work happens — tu dzieje się praca."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0" y="52120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kapsułkowy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 JAKO KOMPAS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Silna CVP upraszcza wszystkie dalsze decyzje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CVP: strategia treści bez kierunku, wybór kanałów 'bo prezes lubi TikToka'.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66360" y="2926080"/>
            <a:ext cx="1828800" cy="182880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6" name="Text 4"/>
          <p:cNvSpPr/>
          <p:nvPr/>
        </p:nvSpPr>
        <p:spPr>
          <a:xfrm>
            <a:off x="5166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572000" cy="1554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" cy="155448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treści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ta treść odpowiada na ból lub wzmacnia korzyść klienta?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2011680"/>
            <a:ext cx="4572000" cy="1554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2011680"/>
            <a:ext cx="109728" cy="155448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kanałów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2560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ten kanał dociera do naszego klienta docelowego?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4572000" cy="1554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72000"/>
            <a:ext cx="109728" cy="155448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Hierarchia przekazu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komunikat mówi o kliencie, a nie o produkcie?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4572000"/>
            <a:ext cx="4572000" cy="1554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4572000"/>
            <a:ext cx="109728" cy="155448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budżetu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51206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ten kanał wzmacnia CVP, czy tylko generuje ruch?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"Kiedy masz silną CVP, wszystkie decyzje marketingowe stają się prostsze."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3 · 50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na ćwiczenia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Kanwa Propozycji Wartości — dla waszej marki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sama marka, co w Ćwiczeniach 1 i 2 · Kontynuacja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0"/>
          </a:xfrm>
          <a:prstGeom prst="rect">
            <a:avLst/>
          </a:prstGeom>
          <a:solidFill>
            <a:srgbClr val="0F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3 · 50 MIN · CANVA WHITEBOARD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Kanwa Propozycji Wartości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77724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Uzupełnijcie Kanwę Propozycji Wartości dla waszej marki — najpierw Profil Klienta, potem Mapa Wartości.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06040"/>
            <a:ext cx="109728" cy="7772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/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 · do 15:15. Wynik: wypełniona Kanwa + 1 zwerbalizowane CVP dla wybranego segmentu.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474720"/>
            <a:ext cx="109728" cy="77724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Whiteboard — wejdź przez QR kod. Mapa Wartości zakryta 'NIE ZACZYNAJCIE TUTAJ' do Kroku 5.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43400"/>
            <a:ext cx="109728" cy="77724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KOLEJNOŚĆ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zaczynamy od Profilu Klienta (koło). Mapa Wartości (kwadrat) — dopiero po konsolidacji 3 najważniejszych Bólów i Korzyści.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ZACZYNAJCIE od Profilu Klienta — NIE dotykajcie Mapy Wartości przed ukończeniem Profilu!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3 · PRZYKŁAD ROBOCZY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InPost — Profil Klienta dla persony Marka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Marek, 31 lat, Warszawa, zakupy online 3–4×/mies. · Rzadko w domu w godzinach dostawy.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0" cy="3840480"/>
          </a:xfrm>
          <a:prstGeom prst="rect">
            <a:avLst/>
          </a:prstGeom>
          <a:solidFill>
            <a:srgbClr val="E8E8EC"/>
          </a:solidFill>
          <a:ln w="25400">
            <a:solidFill>
              <a:srgbClr val="47556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3017520"/>
            <a:ext cx="4480560" cy="1828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JESZCZE NIE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Wartości odsłonięta dopiero po ukończeniu Profilu Klienta (Krok 5).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WARTOŚCI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2011680"/>
            <a:ext cx="5760720" cy="3840480"/>
          </a:xfrm>
          <a:prstGeom prst="rect">
            <a:avLst/>
          </a:prstGeom>
          <a:solidFill>
            <a:srgbClr val="FFF8E1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148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KLIENTA · MAREK, 31, WARSZAWA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514600"/>
            <a:ext cx="5303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0760" y="2514600"/>
            <a:ext cx="73152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569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 KLIENTA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Odebrać paczkę bez zmiany planów  ·  Zarządzać zakupami online bez stresu logistycznego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611880"/>
            <a:ext cx="5303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361188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666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Kurier przyszedł, kiedy byłem w pracy  ·  Muszę być w domu w 4-godzinnym oknie  ·  Spóźniona dostawa — prezentem nie zdążyłem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4709160"/>
            <a:ext cx="5303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4709160"/>
            <a:ext cx="73152" cy="10058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7640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KORZYŚCI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kiedy i gdzie odbiorę  ·  Mogę odebrać o 22:00, wracając z pracy  ·  To ja wybieram — nie kurier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Głos klienta, nie głos działu produktu. Wasz Profil = równie konkretny lub bardziej.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Strategia Marketingu Cyfrowego — Blok 4: Strategia Marki + CVP</dc:title>
  <dc:subject>PptxGenJS Presentation</dc:subject>
  <dc:creator>PptxGenJS</dc:creator>
  <cp:lastModifiedBy>PptxGenJS</cp:lastModifiedBy>
  <cp:revision>1</cp:revision>
  <dcterms:created xsi:type="dcterms:W3CDTF">2026-04-24T11:20:49Z</dcterms:created>
  <dcterms:modified xsi:type="dcterms:W3CDTF">2026-04-24T11:20:49Z</dcterms:modified>
</cp:coreProperties>
</file>