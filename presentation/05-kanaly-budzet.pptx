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[CZAS] 15:15 · Slajd 61 / 85
[MÓWIĘ]
Ostatnia przerwa dnia — piętnaście minut. Wróćcie o piętnastej trzydzieści. Po przerwie zajmiemy się kanałami cyfrowymi w polskim kontekście, alokacją budżetu i wieńczącym wszystko ćwiczeniem czwartym — najtrudniejszym, ale też najbardziej wartościowym.
[ROBIĘ]
Wyświetl slajd. Ustaw timer 15 min. Podczas przerwy przejrzyj CVP zbudowane w Ćwiczeniu 3 — wybierz 1-2 najmocniejsze do przywołania po przerwie.
[OBSERWUJĘ]
Energia po ćwiczeniu 3 może być wysoka (grupy mają flow) lub zmęczona (bloki popołudniowe). Oceń nastrój — jeśli zmęczenie wyraźne, zaplanuj więcej interakcji w bloku 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[CZAS] 15:30 · Slajd 62 / 85
[MÓWIĘ]
Witajcie z powrotem. Macie już CVP dla waszej marki — teraz pytanie brzmi: gdzie dotrzeć z tą propozycją i za ile? W tym bloku zajmiemy się trzema pytaniami. Po pierwsze: jakimi kanałami dotrzeć do waszego klienta? Zbudujemy macierz kanał × RACE, gdzie pokażemy, który kanał pracuje na który etap. Po drugie: jak rozdzielić budżet między kanały? Pokażę wam benchmarki ROI dla polskiego rynku — dane z IAB Polska, Smart Insights, raportów branżowych. Po trzecie: jak wiedzieć, że inwestycja działa? Atrybucja, pomiar, 90-dniowy cykl rewizji. Na końcu bloku — ćwiczenie czwarte: macie 200 000 złotych budżetu na kwartał. Rozdzielcie go między cztery etapy RACE dla waszej marki. I uzasadnijcie każdą złotówkę.
[ROBIĘ]
Odsłoń trzy pytania kolejno. Zaznacz: 'To najbardziej praktyczny blok dnia — każdy slajd kończymy pytaniem ''jak to stosuje się do waszej marki?''.'
[OBSERWUJĘ]
Czy uczestnicy wracają z ćwiczenia 3 z energią? Jeśli grupy są cicho — uruchom tempo szybko. Jeśli energia wysoka — daj jej przestrzeń.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[CZAS] 15:33 · Slajd 63 / 85
[MÓWIĘ]
Zacznijmy od liczb, które kształtują każdą decyzję kanałową w Polsce. Trzydzieści cztery i pół miliona użytkowników internetu, co daje prawie dziewięćdziesiąt procent penetracji — jeden z najwyższych wskaźników w Europie. Ale co jest istotniejsze: ponad sześćdziesiąt dwa procent ruchu to urządzenia mobilne. Polska nie jest rynkiem 'desktop-first z mobile jako dodatkiem' — jest na odwrót. Jeśli wasz sklep, landing page, email nie są zoptymalizowane mobilnie, tracicie większość klientów. Kolejna rzecz: Polacy spędzają online średnio sześć godzin trzydzieści pięć minut dziennie. To więcej niż średnia europejska. Sklepów online jest ponad osiemdziesiąt osiem tysięcy — konkurencja jest gęsta. To nie jest rynek, który można obsługiwać strategią 'mniejszej wersji Niemiec'. Polska ma własne preferencje: BLIK, Paczkomat, Allegro — o nich za chwilę.
[ROBIĘ]
Odsłaniaj liczby po kolei. Przy mobile podkreśl: 'Desktop-first to dziś luksus, na który nie stać większości marek.' Przy 6h35m spędzonym online — zapytaj uczestników, ile oni spędzają.
[OBSERWUJĘ]
Jeśli uczestnicy są zdziwieni liczbami — dobry sygnał, że intuicja się rozmija z danymi. Jeśli przyjmują bez reakcji — zadaj pytanie ''w której branży te liczby zaskakują cię najbardziej?''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[CZAS] 15:36 · Slajd 64 / 85
[MÓWIĘ]
Trzy polskie fenomeny, które każda marka w Polsce musi rozumieć — bo stanowią fundamenty oczekiwań konsumenta, nie luksusowe dodatki. BLIK — sześćdziesiąt osiem procent kupujących online używa BLIK-a, wzrost o pięć punktów procentowych rok do roku. Wielu marketerów nadal traktuje BLIK jako jedną z opcji płatności, obok karty i przelewu. To błąd — brak BLIK-a na stronie to dziś sygnał dla polskiego klienta, że marka nie rozumie rynku. Paczkomat — osiemdziesiąt jeden procent Polaków woli odbiór przez paczkomat, osiemdziesiąt cztery procent deklaruje większą skłonność do zakupu, jeśli dostępny. Nie jest to kwestia preferencji — to kwestia, czy transakcja w ogóle się odbędzie. Allegro — czterdzieści pięć do pięćdziesięciu procent rynku e-commerce w Polsce. Dla porównania: Amazon ma osiemdziesiąt pięć procent. To nie są konkurenci — to są giganty lokalne.
[ROBIĘ]
Odsłaniaj trzy bloki po kolei. Przy każdym zapytaj: 'Ilu z was to uwzględnia w strategii dla waszej marki?'
[OBSERWUJĘ]
Jeśli ktoś mówi ''Amazon jest większy'' — ''Owszem, ale nie w Polsce. Tu Allegro ma dominującą pozycję — i bez obecności na Allegro lub konkurowania z Allegro strategia e-commerce dla polskiego klienta jest niekompletna.''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[CZAS] 15:39 · Slajd 65 / 85
[MÓWIĘ]
Kanały cyfrowe dzielimy na trzy rodzaje — to fundament alokacji budżetu, którą zaraz zobaczymy. Owned — kanały, nad którymi mamy pełną kontrolę. Strona, blog, aplikacja, baza email, konta w social media. Nie płacimy za dystrybucję. Earned — zasięg, na który zapracowaliśmy jakością. PR, recenzje, organiczne wzmianki, user-generated content, viral. Nie płacimy za dystrybucję, ale musimy zapracować na zaufanie. Paid — media, za które płacimy bezpośrednio. Google Ads, Meta Ads, influencer marketing kontraktowy, display. Płacimy, dostajemy zasięg — ale tylko na czas trwania kampanii. Balans między nimi to strategia. Wszystko Paid — koszt bez dźwigni, żadna trwała wartość. Wszystko Owned — zerowy napływ nowych klientów. Dojrzała strategia używa Paid do generowania Earned, a Owned konwertuje Earned w długoterminową wartość.
[ROBIĘ]
Odsłaniaj trzy panele. Przy każdym pytaj: 'Jaki procent waszego budżetu idzie tu dziś?' Odpowiedzi zapisują się intuicyjnie — zaznacz, że to wraca w ćwiczeniu 4.
[OBSERWUJĘ]
Uczestnicy mylą Owned z 'darmowym'? Skoryguj: 'Owned wymaga inwestycji — w content, w infrastrukturę, w ludzi. Ale nie płacisz za dystrybucję.'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[CZAS] 15:43 · Slajd 66 / 85
[MÓWIĘ]
Dane o zwrocie z inwestycji w kanały cyfrowe różnią się dziesięciokrotnie. Email marketing jest wciąż liderem — zwrot od trzydziestu sześciu do pięćdziesięciu dolarów na każdy zainwestowany dolar. Trzydzieści procent liderów marketingu raportuje najwyższe pasma. Dlaczego? Bo email to właśnie kanał Owned — trafiamy do bazy, która wyraziła zgodę, która nas zna. Influencer marketing — średnio pięć dolarów dwadzieścia centów na dolar. To wciąż znacznie lepiej niż display czy banner. SEO i content marketing — ROI zwykle trzy do ośmiu razy wyższy niż PPC w długim okresie, ale z opóźnieniem sześć do dwunastu miesięcy. PPC jest szybki, ale drogi — to dźwignia, nie fundament. Display i banner — najniższy ROI z mierzalnych kanałów, ale pracują na świadomość. Wnioski: jeśli wasz budżet jest mały, zacznijcie od email. Jeśli średni — dodajcie SEO i influencer.
[ROBIĘ]
Odsłaniaj wiersze. Przy email zatrzymaj się dłużej. Zapytaj: 'Czy wasza marka ma strategię email marketingu godną nazwy?' Obserwuj reakcje.
[OBSERWUJĘ]
Jeśli ktoś mówi 'email nie działa w mojej branży' — 'W jakiej branży, dla kogo zbieracie email, z jakim contentem? Email nie działa, kiedy nie ma strategii — działa prawie zawsze, kiedy jest dobrze zrobiony.'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[CZAS] 15:47 · Slajd 67 / 85
[MÓWIĘ]
Dziewięćdziesiąt procent — tak, tyle. Dziewięćdziesiąt procent marketerów na świecie deklaruje, że używa sztucznej inteligencji w jakiejś formie. Ale zanim przyjmiecie tę liczbę jako fakt polski — ważny zastrzeżenie. To dane globalne, głównie anglojęzyczne. W Polsce adopcja jest niższa, i rezerwy większe — szczególnie wokół języka polskiego i jakości generatywnej treści, która wciąż nie dorównuje angielskiej. AI to nie jest jedna rzecz — to co najmniej cztery zastosowania. Po pierwsze: generowanie treści — teksty, grafiki, wideo. Tu największa adopcja, ale też największe ryzyko 'AI slop'. Po drugie: personalizacja w czasie rzeczywistym — rekomendacje produktów, dynamiczne treści. Tu AI dojrzały — działa od lat. Po trzecie: analityka predykcyjna — przewidywanie churn, lifetime value. Wymaga ilości danych, którą mają głównie duże marki. Po czwarte: automatyzacja procesów — kampanie, A/B testy, bidding. Tu AI skalowalne, ale nie innowacyjne.
[ROBIĘ]
Odsłoń cztery zastosowania jedno po drugim. Przy każdym zapytaj: 'Ile z was używa tego w praktyce dla polskiego klienta?' Ręka w górę.
[OBSERWUJĘ]
Uczestnicy sceptyczni wobec AI? Zaznacz: 'Sceptycyzm = dobra higiena. Ale pamiętajcie: konkurencja używa. Pytanie brzmi, jakie zastosowanie wam realnie przyspiesza pracę, a nie które brzmi imponująco na sprzedaży.'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[CZAS] 15:51 · Slajd 68 / 85
[MÓWIĘ]
Najważniejszy slajd bloku — macierz kanał razy RACE. Pokazuje, który kanał jest najmocniejszy dla której roli. SEO i PR — silni w Zasięgu, słabi w Konwersji. Email marketing — odwrotnie: słaby w Zasięgu, wybitny w Konwersji i Zaangażowaniu. Influencer — silny w Zasięgu i Aktywacji, słabszy w Konwersji. Google Ads — balans Aktywacja i Konwersja. Retargeting — wyłącznie Konwersja. Program lojalnościowy — wyłącznie Zaangażowanie. Wniosek strategiczny: kiedy ktoś mówi ''zrobimy kampanię na TikToku'' — zadajcie pytanie 'na którym etapie RACE?'. Bo TikTok generuje Zasięg, ale prawie nie generuje bezpośredniej Konwersji. Ta macierz będzie wam towarzyszyć w Ćwiczeniu 4 — bez niej decyzja o alokacji budżetu to zgadywanie. Z nią — uzasadniona hipoteza.
[ROBIĘ]
Wyświetl macierz w całości. Wskaż wiersz email — mocny w dwóch etapach. Wskaż wiersz influencer — dwie komórki. Poproś uczestników o zdjęcie — ''ten slajd potrzebujecie do ćwiczenia 4''.
[OBSERWUJĘ]
Zdjęcia? Dobry znak. Pytania o ''a co z PR?'' lub ''a webinar?'' — ''Macierz jest wzorcem — dostosujcie do kanałów, które realnie używacie. Nie zastępuje myślenia, daje strukturę.''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[CZAS] 15:54 · Slajd 69 / 85
[MÓWIĘ]
Alokacja budżetu to najczęstsze źródło nieefektywności — pieniądze idą tam, gdzie ''zawsze szły'', nie tam, gdzie przynoszą największą wartość. Klasyczna zasada siedemdziesiąt dwadzieścia dziesięć: siedemdziesiąt procent na kanały sprawdzone, dwadzieścia procent na rozwój dobrze zapowiadających się, dziesięć procent na eksperyment. Polska kontekst: Internet Advertising Bureau Polska raportuje dziewięć i dwa miliarda złotych całkowitych wydatków cyfrowych w dwa tysiące dwudziestym czwartym roku. Z tego największy udział ma search — około trzydzieści procent — display i social po około dwadzieścia procent, wideo rośnie najszybciej, dwadzieścia trzy procent wzrostu rocznie. Druga zasada: balans między etapami RACE. Częsty błąd: dziewięćdziesiąt procent na Konwersję, dziesięć na Zasięg — pytanie wtedy brzmi 'kogo konwertujemy?'. Dojrzały budżet rozkłada się proporcjonalnie do długości cyklu sprzedaży: dłuższy cykl = więcej w Zasięgu i Aktywacji. Trzecia zasada: zawsze rezerwujcie dziesięć procent na testowanie — bez eksperymentu nie ma nauki.
[ROBIĘ]
Odsłoń regułę 70/20/10 pierwszą. Potem macierz etapu. Na końcu dane IAB. 'Ile waszej marki idzie dziś na Konwersję vs Zasięg?' Intuicyjne odpowiedzi.
[OBSERWUJĘ]
Uczestnicy argumentują ''zarządy chcą widzieć Konwersję'' — ''I dlatego marki, które mają tylko Konwersję, tracą klientów do tych, które inwestują w Zasięg. Wasze zadanie: edukować zarząd o pełnym cyklu.''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[CZAS] 15:58 · Slajd 70 / 85
[MÓWIĘ]
Ostatni wielki temat bloku — atrybucja. Model atrybucji decyduje, komu przypisujemy zasługę za konwersję. Last-click: cała zasługa idzie do ostatniego kanału przed zakupem. Jest najprostszy — i dlatego dominuje. Jest też kłamstwem — bo ignoruje całą podróż klienta, który najpierw usłyszał o marce na YouTube, potem czytał bloga, potem zobaczył reklamę na Meta, potem wpisał markę w Google i kliknął. Last-click przypisuje wszystko Google. Wniosek nieprawdziwy: ''Google Ads działa, reszta nie''. Modele wieloźródłowe: first-click, linear, time-decay, data-driven — rozdzielają zasługę. Data-driven to najbardziej zaawansowany model — uczy się z danych, które kombinacje kanałów faktycznie prowadzą do konwersji. Większość polskich marek wciąż mierzy last-click — i dlatego niedocenia Zasięgu i Aktywacji. Pytanie strategiczne: jaki model atrybucji ma wasza organizacja? Jeśli nie wiecie — to pierwsze pytanie do analityki jutro.
[ROBIĘ]
Odsłoń diagramy modelów kolejno. Przy data-driven — zaznacz, że wymaga minimum 300 konwersji miesięcznie, więc nie dla wszystkich.
[OBSERWUJĘ]
''Jak przejść z last-click na data-driven?'' — ''Stopniowo. GA4 daje data-driven w standardzie. Pierwsze pytanie: czy śledzicie w ogóle cały journey, czy tylko ostatni punkt?''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[CZAS] 16:02 · Slajd 71 / 85
[MÓWIĘ]
Ostatni koncept bloku — cykl rewizji. Najczęstszy błąd: marketing tworzy roczny plan w listopadzie, a potem wraca do niego dopiero w następnym listopadzie. W grudniu liczby mówią jedno, w czerwcu rynek mówi co innego — ale plan jest już 'wykonywany'. Dojrzała praktyka — 90-dniowy cykl rewizji. Cztery fazy. Planuj: na początku kwartału ustalamy cele, budżet, KPI. Wykonaj: przez 10-12 tygodni realizujemy. Mierz: cotygodniowy przegląd podstawowych KPI, comiesięczny szczegółowy raport. Dostosuj: na koniec kwartału — co działa, co nie, co przenosimy do następnego cyklu. Kluczowy element: do dziesięciu procent budżetu rezerwujemy na 'adjust' — żebyśmy mogli w trakcie kwartału zwiększyć inwestycję w kanał, który zaskakująco działa. Bez tego 'adjust' jest pozorny. Ten cykl brzmi prosto. W praktyce wymaga dyscypliny i narzędzi pomiarowych. Ale odróżnia marki, które rosną cyfrowo, od tych, które kopiują plany rok do roku.
[ROBIĘ]
Wyświetl diagram 4 faz. Zaznacz: 'Rozróżniamy cykl kwartalny od rocznego planowania strategicznego — strategia marki jest na horyzont 5-10 lat, egzekucja jest 90-dniowa.' Link do slajdu 47 — trzy poziomy strategii.
[OBSERWUJĘ]
''Mamy tylko roczny plan'' — ''To normalne. Pytanie: czy robicie kwartalne przeglądy, nawet jeśli plan jest roczny? To minimum. Maksimum: kwartalny plan z rocznymi celami strategicznymi.''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[CZAS] 16:05 · Slajd 72 / 85
[MÓWIĘ]
Ostatnie ćwiczenie dnia — najtrudniejsze, ale też najbardziej wartościowe. Dostajecie budżet dwieście tysięcy złotych na kwartał. Wasze zadanie: rozdzielić go między cztery etapy RACE dla waszej marki. I uzasadnić każdą złotówkę — czemu dziewięćdziesiąt tysięcy na Aktywację, a nie pięćdziesiąt? Wykorzystacie wszystko, co zbudowaliście dzisiaj: SOSTAC (Sytuacja, Cele), RACE (etapy, KPI), Strategia Marki i CVP (kim jesteście, dla kogo), i macierz kanał × RACE z poprzedniego slajdu. Macie czterdzieści pięć minut. Zaraz pokażę instrukcję i macierz referencyjną.
[ROBIĘ]
Wyświetl slajd. Pauza 10 sekund. Przejdź natychmiast do slajdu 74 (instrukcja).
[OBSERWUJĘ]
Zmęczenie popołudniowe może być wyraźne. Jeśli grupy wyglądają wyczerpane — ogłoś: 'Jeśli potrzebujecie 5 min przed startem, teraz jest moment. Jak zaczniemy pracę, timer rusza bez przerw.'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[CZAS] 16:07 · Slajd 73 / 85
[SETUP] Potwierdź tablicę Canva z szablonem tabeli alokacji. Cztery kolumny: etap RACE, kwota PLN, kanały, oczekiwane KPI. QR kod duży. Timer 45 min widoczny. Macierz kanał × RACE dostępna (slajd 68 lub PDF).
[MÓWIĘ]
Instrukcja warsztatu czwartego. Zadanie: rozdzielcie dwieście tysięcy PLN między cztery etapy RACE. Format wyniku: wypełniona tabela — kwota, kanały, KPI — plus jedno zdanie uzasadnienia per etap. Kluczowa zasada: zarezerwujcie dziesięć procent — dwadzieścia tysięcy PLN — na ''adjust'' w trakcie kwartału. Niepewność co do tego, który kanał zaskoczy, jest realna — budżet powinien ją uwzględniać. Wykorzystujcie wszystko z dnia: waszą Sytuację i Cele z SOSTAC, etapy RACE, CVP z ćwiczenia trzeciego, macierz kanał × RACE ze slajdu 68. Czterdzieści pięć minut. Startujemy.
[ROBIĘ]
Wyświetl slajd. Uruchom timer. Chodź z promptami: Reach: 'Jak wasz klient pierwszy raz usłyszy o marce — za ile PLN?'; Act: 'Po czym poznacie, że klient jest zainteresowany — i jakie kanały tam pracują?'; Convert: 'Ile potrzebujecie, żeby usunąć tarcie zakupowe?'; Engage: 'Ile w utrzymanie vs pozyskanie? 10:1? 3:1?'. Obserwuj balans — jeśli ktoś idzie 90% w Convert, zaczep.
[OBSERWUJĘ]
Częste błędy: (1) pominięcie rezerwy 10% — zatrzymaj; (2) 80%+ na Convert — zapytaj 'kogo konwertujecie?'; (3) równy podział 25/25/25/25 — łatwy, ale często zły; zapytaj 'czy to odzwierciedla wasze cele?'. Grupy, które kończą wcześnie — dajcie im KPI per kanał, nie per etap.
[DEBRIEF]
Gdzie alokowaliście najwięcej i dlaczego? Co zabraliście z macierzy kanałów? Jak wasza alokacja odzwierciedla CVP z ćwiczenia 3? Który etap RACE jest najbardziej ''niedoceniany'' w typowych polskich budżetach?
[EXTENSION]
Jeśli budżet byłby 50 000 PLN zamiast 200 000 PLN — które etapy RACE wybieracie w pierwszej kolejności? Dlaczego?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[CZAS] 16:10 · Slajd 74 / 85
[SETUP] Przykład InPost tylko na slajdzie — nie nadpisuje stref grup. Podkreśl: 'To przykład, nie szablon.'
[MÓWIĘ]
Przykład dla InPost — alokacja dwustu tysięcy PLN na kwartał. Zwróćcie uwagę na trzy rzeczy. Po pierwsze: proporcje. Reach trzydzieści procent, Act dwadzieścia pięć, Convert dwadzieścia, Engage piętnaście, Rezerwa dziesięć. To nie jest 'prawidłowa' alokacja — to spójna z CVP InPost, który jest mocny w Convert i Engage, ale potrzebuje stałego Zasięgu do pozyskiwania nowych paczek. Po drugie: każda linia ma konkretne kanały i KPI. Nie 'reklamy' — ale 'YouTube ads + partnerstwa marketplace, KPI: +15% świadomości wśród 25-35'. Po trzecie: rezerwa. Dwadzieścia tysięcy nieprzypisane — bo w lipcu może się okazać, że Influencer Marketing zaskakująco konwertuje, i trzeba szybko dosypać. Wasza alokacja będzie wyglądać inaczej — inna marka, inny klient, inne etapy priorytetowe. Ale struktura — kwota, kanały, KPI, uzasadnienie — powinna być taka sama.
[ROBIĘ]
Wskaż proporcje. Podkreśl rezerwę 10%. Wskaż konkretność KPI. Sygnał do pracy.
[OBSERWUJĘ]
Grupy próbują kopiować proporcje InPost na swoją markę? Interwencja: 'InPost ma inne CVP niż wasza marka. Wasz podział powinien odzwierciedlać wasze cele, nie InPost.'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[CZAS] 16:50 · Slajd 75 / 85
[MÓWIĘ]
Świetna robota. Macie za sobą ostatnie ćwiczenie i większość dnia. Dziesięć minut przerwy — wrócimy o szesnastej pięćdziesiątej pięć. Za chwilę synteza dnia i zakończenie.
[ROBIĘ]
Wyświetl slajd. Uruchom timer 10 min. Podczas przerwy przejrzyj krótko alokacje wszystkich grup — wypisz 2–3 najbardziej zaskakujące decyzje do omówienia w debriefie bloku 6.
[OBSERWUJĘ]
Zmęczenie wyraźne po czwartym ćwiczeniu — normalne. Krótka przerwa pozwoli wrócić do skupienia na synteze.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E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560320"/>
            <a:ext cx="106984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Przerwa 15 minut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731520" y="393192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zobaczenia o 15:30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31520" y="585216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Ostatni blok: kanały, budżet, i ćwiczenie 4 — największe wyzwanie dnia.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0881360" y="644652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15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1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BLOCK 4 · KANAŁY + BUDŻET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 'co chcemy powiedzieć' do 'gdzie i za ile'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Trzy pytania tego bloku: jakimi kanałami dotrzeć? Jak rozdzielić budżet? Jak wiedzieć, że działa?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011680"/>
            <a:ext cx="3566160" cy="3474720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2011680"/>
            <a:ext cx="3566160" cy="548640"/>
          </a:xfrm>
          <a:prstGeom prst="rect">
            <a:avLst/>
          </a:prstGeom>
          <a:solidFill>
            <a:srgbClr val="2E5D9F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201168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2468880" y="201168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KANAŁY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77240" y="278892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Gdzie dotrzeć do klienta?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777240" y="3703320"/>
            <a:ext cx="31089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Polski rynek cyfrowy: 89,8% penetracji, 34,5 mln użytkowników. Który kanał dla której roli w RACE?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297680" y="2011680"/>
            <a:ext cx="3566160" cy="3474720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12" name="Shape 10"/>
          <p:cNvSpPr/>
          <p:nvPr/>
        </p:nvSpPr>
        <p:spPr>
          <a:xfrm>
            <a:off x="4297680" y="2011680"/>
            <a:ext cx="3566160" cy="548640"/>
          </a:xfrm>
          <a:prstGeom prst="rect">
            <a:avLst/>
          </a:prstGeom>
          <a:solidFill>
            <a:srgbClr val="D97E2B"/>
          </a:solidFill>
          <a:ln/>
        </p:spPr>
      </p:sp>
      <p:sp>
        <p:nvSpPr>
          <p:cNvPr id="13" name="Text 11"/>
          <p:cNvSpPr/>
          <p:nvPr/>
        </p:nvSpPr>
        <p:spPr>
          <a:xfrm>
            <a:off x="4480560" y="201168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6217920" y="201168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BUDŻET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526280" y="278892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Jak rozdzielić pieniądze?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4526280" y="3703320"/>
            <a:ext cx="31089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ROI benchmarki: email $36–$50, influencer $5,20. 9,2 mld PLN wydatków cyfrowych w PL (IAB 2024).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8046720" y="2011680"/>
            <a:ext cx="3566160" cy="3474720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18" name="Shape 16"/>
          <p:cNvSpPr/>
          <p:nvPr/>
        </p:nvSpPr>
        <p:spPr>
          <a:xfrm>
            <a:off x="8046720" y="2011680"/>
            <a:ext cx="3566160" cy="548640"/>
          </a:xfrm>
          <a:prstGeom prst="rect">
            <a:avLst/>
          </a:prstGeom>
          <a:solidFill>
            <a:srgbClr val="7A3F8F"/>
          </a:solidFill>
          <a:ln/>
        </p:spPr>
      </p:sp>
      <p:sp>
        <p:nvSpPr>
          <p:cNvPr id="19" name="Text 17"/>
          <p:cNvSpPr/>
          <p:nvPr/>
        </p:nvSpPr>
        <p:spPr>
          <a:xfrm>
            <a:off x="8229600" y="201168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9966960" y="201168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POMIAR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275320" y="278892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Jak wiedzieć, że działa?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8275320" y="3703320"/>
            <a:ext cx="31089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Atrybucja wieloźródłowa, 90-dniowy cykl rewizji, dashboard per etap RACE.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48640" y="598932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i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 koniec — Ćwiczenie 4: 200 000 PLN budżetu na kwartał. Jak rozdzielicie między etapy RACE?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36576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Strategia Marketingu Cyfrowego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0881360" y="644652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15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1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POLSKI RYNEK CYFROWY · KONTEKST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34,5 mln użytkowników · 89,8% penetracji · 62,7% mobile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Polska nie jest 'mniejszą wersją Niemiec'. Mobile-first, BLIK-first, paczkomat-first — z własnymi preferencjami platform.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011680"/>
            <a:ext cx="2560320" cy="3017520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2011680"/>
            <a:ext cx="2560320" cy="137160"/>
          </a:xfrm>
          <a:prstGeom prst="rect">
            <a:avLst/>
          </a:prstGeom>
          <a:solidFill>
            <a:srgbClr val="2E5D9F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2468880"/>
            <a:ext cx="2560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2E5D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34,5 mln</a:t>
            </a:r>
            <a:endParaRPr lang="en-US" sz="4200" dirty="0"/>
          </a:p>
        </p:txBody>
      </p:sp>
      <p:sp>
        <p:nvSpPr>
          <p:cNvPr id="8" name="Text 6"/>
          <p:cNvSpPr/>
          <p:nvPr/>
        </p:nvSpPr>
        <p:spPr>
          <a:xfrm>
            <a:off x="731520" y="374904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użytkowników internetu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31520" y="438912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Gemius/PBI 2024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383280" y="2011680"/>
            <a:ext cx="2560320" cy="3017520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11" name="Shape 9"/>
          <p:cNvSpPr/>
          <p:nvPr/>
        </p:nvSpPr>
        <p:spPr>
          <a:xfrm>
            <a:off x="3383280" y="2011680"/>
            <a:ext cx="2560320" cy="137160"/>
          </a:xfrm>
          <a:prstGeom prst="rect">
            <a:avLst/>
          </a:prstGeom>
          <a:solidFill>
            <a:srgbClr val="2D7A4F"/>
          </a:solidFill>
          <a:ln/>
        </p:spPr>
      </p:sp>
      <p:sp>
        <p:nvSpPr>
          <p:cNvPr id="12" name="Text 10"/>
          <p:cNvSpPr/>
          <p:nvPr/>
        </p:nvSpPr>
        <p:spPr>
          <a:xfrm>
            <a:off x="3383280" y="2468880"/>
            <a:ext cx="2560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2D7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89,8%</a:t>
            </a:r>
            <a:endParaRPr lang="en-US" sz="4200" dirty="0"/>
          </a:p>
        </p:txBody>
      </p:sp>
      <p:sp>
        <p:nvSpPr>
          <p:cNvPr id="13" name="Text 11"/>
          <p:cNvSpPr/>
          <p:nvPr/>
        </p:nvSpPr>
        <p:spPr>
          <a:xfrm>
            <a:off x="3566160" y="374904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penetracji populacji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566160" y="438912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jedna z najwyższych w UE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217920" y="2011680"/>
            <a:ext cx="2560320" cy="3017520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16" name="Shape 14"/>
          <p:cNvSpPr/>
          <p:nvPr/>
        </p:nvSpPr>
        <p:spPr>
          <a:xfrm>
            <a:off x="6217920" y="2011680"/>
            <a:ext cx="2560320" cy="137160"/>
          </a:xfrm>
          <a:prstGeom prst="rect">
            <a:avLst/>
          </a:prstGeom>
          <a:solidFill>
            <a:srgbClr val="D97E2B"/>
          </a:solidFill>
          <a:ln/>
        </p:spPr>
      </p:sp>
      <p:sp>
        <p:nvSpPr>
          <p:cNvPr id="17" name="Text 15"/>
          <p:cNvSpPr/>
          <p:nvPr/>
        </p:nvSpPr>
        <p:spPr>
          <a:xfrm>
            <a:off x="6217920" y="2468880"/>
            <a:ext cx="2560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D97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62,7%</a:t>
            </a:r>
            <a:endParaRPr lang="en-US" sz="4200" dirty="0"/>
          </a:p>
        </p:txBody>
      </p:sp>
      <p:sp>
        <p:nvSpPr>
          <p:cNvPr id="18" name="Text 16"/>
          <p:cNvSpPr/>
          <p:nvPr/>
        </p:nvSpPr>
        <p:spPr>
          <a:xfrm>
            <a:off x="6400800" y="374904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ruchu = mobile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400800" y="438912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mobile-first, nie desktop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9052560" y="2011680"/>
            <a:ext cx="2560320" cy="3017520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21" name="Shape 19"/>
          <p:cNvSpPr/>
          <p:nvPr/>
        </p:nvSpPr>
        <p:spPr>
          <a:xfrm>
            <a:off x="9052560" y="2011680"/>
            <a:ext cx="2560320" cy="137160"/>
          </a:xfrm>
          <a:prstGeom prst="rect">
            <a:avLst/>
          </a:prstGeom>
          <a:solidFill>
            <a:srgbClr val="7A3F8F"/>
          </a:solidFill>
          <a:ln/>
        </p:spPr>
      </p:sp>
      <p:sp>
        <p:nvSpPr>
          <p:cNvPr id="22" name="Text 20"/>
          <p:cNvSpPr/>
          <p:nvPr/>
        </p:nvSpPr>
        <p:spPr>
          <a:xfrm>
            <a:off x="9052560" y="2468880"/>
            <a:ext cx="2560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7A3F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6h 35m</a:t>
            </a:r>
            <a:endParaRPr lang="en-US" sz="4200" dirty="0"/>
          </a:p>
        </p:txBody>
      </p:sp>
      <p:sp>
        <p:nvSpPr>
          <p:cNvPr id="23" name="Text 21"/>
          <p:cNvSpPr/>
          <p:nvPr/>
        </p:nvSpPr>
        <p:spPr>
          <a:xfrm>
            <a:off x="9235440" y="374904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dziennie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9235440" y="438912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powyżej średniej europejskiej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48640" y="585216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i="1" dirty="0">
                <a:solidFill>
                  <a:srgbClr val="1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Konsekwencja: mobile-first to nie opcja. 88 000+ sklepów online — konkurencja gęsta, różnicowanie kluczowe.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48640" y="6172200"/>
            <a:ext cx="11064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Źródła: Gemius/PBI Mediapanel 2024 · DataReportal Digital 2025 Poland · IAB Polska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36576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Strategia Marketingu Cyfrowego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10881360" y="644652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15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1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POLSKI E-COMMERCE · 3 FENOMENY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BLIK. Paczkomat. Allegro. Każdy wyjątkowo polski.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 jesteśmy innowacyjni globalnie — a wielu marketerów traktuje je jak "dodatki".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103120"/>
            <a:ext cx="3566160" cy="3749040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2103120"/>
            <a:ext cx="3566160" cy="548640"/>
          </a:xfrm>
          <a:prstGeom prst="rect">
            <a:avLst/>
          </a:prstGeom>
          <a:solidFill>
            <a:srgbClr val="D97E2B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210312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BLIK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48640" y="2880360"/>
            <a:ext cx="3566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D97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68%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777240" y="406908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kupujących online · +5pp r/r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22960" y="480060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Brak BLIK-a na stronie = sygnał dla polskiego klienta, że marka nie rozumie rynku.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297680" y="2103120"/>
            <a:ext cx="3566160" cy="3749040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12" name="Shape 10"/>
          <p:cNvSpPr/>
          <p:nvPr/>
        </p:nvSpPr>
        <p:spPr>
          <a:xfrm>
            <a:off x="4297680" y="2103120"/>
            <a:ext cx="3566160" cy="548640"/>
          </a:xfrm>
          <a:prstGeom prst="rect">
            <a:avLst/>
          </a:prstGeom>
          <a:solidFill>
            <a:srgbClr val="2D7A4F"/>
          </a:solidFill>
          <a:ln/>
        </p:spPr>
      </p:sp>
      <p:sp>
        <p:nvSpPr>
          <p:cNvPr id="13" name="Text 11"/>
          <p:cNvSpPr/>
          <p:nvPr/>
        </p:nvSpPr>
        <p:spPr>
          <a:xfrm>
            <a:off x="4297680" y="210312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PACZKOMAT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297680" y="2880360"/>
            <a:ext cx="3566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2D7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81%</a:t>
            </a:r>
            <a:endParaRPr lang="en-US" sz="5600" dirty="0"/>
          </a:p>
        </p:txBody>
      </p:sp>
      <p:sp>
        <p:nvSpPr>
          <p:cNvPr id="15" name="Text 13"/>
          <p:cNvSpPr/>
          <p:nvPr/>
        </p:nvSpPr>
        <p:spPr>
          <a:xfrm>
            <a:off x="4526280" y="406908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woli odbiór przez paczkomat · 84% kupuje chętniej, jeśli dostępny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0" y="480060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nie kwestia preferencji — to kwestia, czy transakcja w ogóle się odbędzie.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8046720" y="2103120"/>
            <a:ext cx="3566160" cy="3749040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18" name="Shape 16"/>
          <p:cNvSpPr/>
          <p:nvPr/>
        </p:nvSpPr>
        <p:spPr>
          <a:xfrm>
            <a:off x="8046720" y="2103120"/>
            <a:ext cx="3566160" cy="548640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19" name="Text 17"/>
          <p:cNvSpPr/>
          <p:nvPr/>
        </p:nvSpPr>
        <p:spPr>
          <a:xfrm>
            <a:off x="8046720" y="210312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ALLEGRO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8046720" y="2880360"/>
            <a:ext cx="3566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45–50%</a:t>
            </a:r>
            <a:endParaRPr lang="en-US" sz="5600" dirty="0"/>
          </a:p>
        </p:txBody>
      </p:sp>
      <p:sp>
        <p:nvSpPr>
          <p:cNvPr id="21" name="Text 19"/>
          <p:cNvSpPr/>
          <p:nvPr/>
        </p:nvSpPr>
        <p:spPr>
          <a:xfrm>
            <a:off x="8275320" y="406908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rynku e-commerce w Polsce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321040" y="480060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Bez obecności na Allegro lub świadomego konkurowania z Allegro strategia e-commerce jest niekompletna.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48640" y="6172200"/>
            <a:ext cx="11064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Źródła: IAB Polska E-commerce 2024 · Gemius · Statista 2024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6576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Strategia Marketingu Cyfrowego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0881360" y="644652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15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1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OWNED · EARNED · PAID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Trzy rodzaje kanałów — trzy ekonomiki, trzy kompetencje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Balans między nimi = strategia. Wszystko Paid = koszt bez dźwigni. Wszystko Owned = brak nowego zasięgu.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011680"/>
            <a:ext cx="3566160" cy="3474720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2011680"/>
            <a:ext cx="164592" cy="3474720"/>
          </a:xfrm>
          <a:prstGeom prst="rect">
            <a:avLst/>
          </a:prstGeom>
          <a:solidFill>
            <a:srgbClr val="2D7A4F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219456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2D7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OWNED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68680" y="256032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Kanały własne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868680" y="324612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PRZYKŁADY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68680" y="3520440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Strona · blog · aplikacja · baza email · konta social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68680" y="448056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EKONOMIKA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868680" y="475488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Inwestycja jednorazowa + koszty stałe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297680" y="2011680"/>
            <a:ext cx="3566160" cy="3474720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14" name="Shape 12"/>
          <p:cNvSpPr/>
          <p:nvPr/>
        </p:nvSpPr>
        <p:spPr>
          <a:xfrm>
            <a:off x="4297680" y="2011680"/>
            <a:ext cx="164592" cy="3474720"/>
          </a:xfrm>
          <a:prstGeom prst="rect">
            <a:avLst/>
          </a:prstGeom>
          <a:solidFill>
            <a:srgbClr val="7A3F8F"/>
          </a:solidFill>
          <a:ln/>
        </p:spPr>
      </p:sp>
      <p:sp>
        <p:nvSpPr>
          <p:cNvPr id="15" name="Text 13"/>
          <p:cNvSpPr/>
          <p:nvPr/>
        </p:nvSpPr>
        <p:spPr>
          <a:xfrm>
            <a:off x="4617720" y="219456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7A3F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EARNED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617720" y="256032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Zarobiony zasięg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4617720" y="324612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PRZYKŁADY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617720" y="3520440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 · recenzje · wzmianki · UGC · viral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617720" y="448056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EKONOMIKA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617720" y="475488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Inwestycja w jakość + reputację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8046720" y="2011680"/>
            <a:ext cx="3566160" cy="3474720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22" name="Shape 20"/>
          <p:cNvSpPr/>
          <p:nvPr/>
        </p:nvSpPr>
        <p:spPr>
          <a:xfrm>
            <a:off x="8046720" y="2011680"/>
            <a:ext cx="164592" cy="3474720"/>
          </a:xfrm>
          <a:prstGeom prst="rect">
            <a:avLst/>
          </a:prstGeom>
          <a:solidFill>
            <a:srgbClr val="D97E2B"/>
          </a:solidFill>
          <a:ln/>
        </p:spPr>
      </p:sp>
      <p:sp>
        <p:nvSpPr>
          <p:cNvPr id="23" name="Text 21"/>
          <p:cNvSpPr/>
          <p:nvPr/>
        </p:nvSpPr>
        <p:spPr>
          <a:xfrm>
            <a:off x="8366760" y="219456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D97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PAID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8366760" y="256032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 płatne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8366760" y="324612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PRZYKŁADY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8366760" y="3520440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Ads · Meta Ads · influencer kontraktowy · display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8366760" y="448056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EKONOMIKA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8366760" y="475488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Zmienny koszt · zasięg = tylko w trakcie kampanii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48640" y="598932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i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Dojrzała strategia: Paid generuje Earned · Owned konwertuje Earned w długoterminową wartość.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36576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Strategia Marketingu Cyfrowego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10881360" y="644652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1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ROI BENCHMARKI · KANAŁY CYFROWE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Nie wszystkie kanały są sobie równe — różnice 10-krotne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nadal dominuje. Influencer rośnie. Display płaci za zasięg, nie za konwersję.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2926080" cy="54864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92024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Kanał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474720" y="1920240"/>
            <a:ext cx="3200400" cy="548640"/>
          </a:xfrm>
          <a:prstGeom prst="rect">
            <a:avLst/>
          </a:prstGeom>
          <a:solidFill>
            <a:srgbClr val="1A7A8A"/>
          </a:solidFill>
          <a:ln/>
        </p:spPr>
      </p:sp>
      <p:sp>
        <p:nvSpPr>
          <p:cNvPr id="8" name="Text 6"/>
          <p:cNvSpPr/>
          <p:nvPr/>
        </p:nvSpPr>
        <p:spPr>
          <a:xfrm>
            <a:off x="3566160" y="192024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ROI benchmark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675120" y="1920240"/>
            <a:ext cx="4937760" cy="548640"/>
          </a:xfrm>
          <a:prstGeom prst="rect">
            <a:avLst/>
          </a:prstGeom>
          <a:solidFill>
            <a:srgbClr val="1A7A8A"/>
          </a:solidFill>
          <a:ln/>
        </p:spPr>
      </p:sp>
      <p:sp>
        <p:nvSpPr>
          <p:cNvPr id="10" name="Text 8"/>
          <p:cNvSpPr/>
          <p:nvPr/>
        </p:nvSpPr>
        <p:spPr>
          <a:xfrm>
            <a:off x="6766560" y="192024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Charakterystyka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0080" y="24688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marketing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566160" y="246888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$36–$50 / $1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766560" y="246888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Najwyższy ROI. Wymaga jakościowej bazy Owned + strategii treści.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3017520"/>
            <a:ext cx="11064240" cy="548640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301752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SEO / Content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566160" y="301752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3–8× vs PPC (długi horyzont)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766560" y="301752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Najlepszy długoterminowy ROI. Wyniki 6–12 mies. od startu.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40080" y="356616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Influencer marketing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566160" y="356616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$5,20 / $1 (średnia)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766560" y="356616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Rośnie szybko. Zależne od dopasowania persona × influencer.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48640" y="4114800"/>
            <a:ext cx="11064240" cy="548640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22" name="Text 20"/>
          <p:cNvSpPr/>
          <p:nvPr/>
        </p:nvSpPr>
        <p:spPr>
          <a:xfrm>
            <a:off x="640080" y="411480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PPC / Google Ads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566160" y="411480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 / $1 (średnia)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766560" y="411480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Szybki, skalowalny — ale drogi. Dźwignia, nie fundament.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40080" y="466344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 / banner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3566160" y="466344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$0,50–$2 / $1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766560" y="466344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Najniższy mierzalny ROI. Pracuje na świadomość, nie konwersję.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48640" y="608076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Źródła: Litmus State of Email 2025 · Influencer Marketing Hub 2024 · Smart Insights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548640" y="5669280"/>
            <a:ext cx="11064240" cy="365760"/>
          </a:xfrm>
          <a:prstGeom prst="rect">
            <a:avLst/>
          </a:prstGeom>
          <a:solidFill>
            <a:srgbClr val="FFF8E1"/>
          </a:solidFill>
          <a:ln/>
        </p:spPr>
      </p:sp>
      <p:sp>
        <p:nvSpPr>
          <p:cNvPr id="30" name="Text 28"/>
          <p:cNvSpPr/>
          <p:nvPr/>
        </p:nvSpPr>
        <p:spPr>
          <a:xfrm>
            <a:off x="731520" y="566928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Mały budżet → email. Średni → + SEO + influencer. Duży → + PPC + display.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36576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Strategia Marketingu Cyfrowego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0881360" y="644652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15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1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W MARKETINGU · ADOPCJA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89% marketerów używa AI — ale "AI" to nie jest jedna rzecz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Globalne dane. Polski rynek z mniejszą adopcją i większą rezerwą. Cztery zastosowania, różne poziomy dojrzałości.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011680"/>
            <a:ext cx="4114800" cy="1828800"/>
          </a:xfrm>
          <a:prstGeom prst="rect">
            <a:avLst/>
          </a:prstGeom>
          <a:solidFill>
            <a:srgbClr val="1C2541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2103120"/>
            <a:ext cx="4114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89%</a:t>
            </a:r>
            <a:endParaRPr lang="en-US" sz="8000" dirty="0"/>
          </a:p>
        </p:txBody>
      </p:sp>
      <p:sp>
        <p:nvSpPr>
          <p:cNvPr id="7" name="Text 5"/>
          <p:cNvSpPr/>
          <p:nvPr/>
        </p:nvSpPr>
        <p:spPr>
          <a:xfrm>
            <a:off x="548640" y="329184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CC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marketerów używa AI (globalnie)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3977640"/>
            <a:ext cx="4114800" cy="1280160"/>
          </a:xfrm>
          <a:prstGeom prst="rect">
            <a:avLst/>
          </a:prstGeom>
          <a:solidFill>
            <a:srgbClr val="FFF4E5"/>
          </a:solidFill>
          <a:ln/>
        </p:spPr>
      </p:sp>
      <p:sp>
        <p:nvSpPr>
          <p:cNvPr id="9" name="Shape 7"/>
          <p:cNvSpPr/>
          <p:nvPr/>
        </p:nvSpPr>
        <p:spPr>
          <a:xfrm>
            <a:off x="548640" y="3977640"/>
            <a:ext cx="137160" cy="1280160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406908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POLSKA REZERWA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77240" y="4343400"/>
            <a:ext cx="3749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Dane globalne, głównie anglojęzyczne. Polski rynek: mniejsza adopcja + słabsza jakość gen. treści po polsku.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937760" y="2011680"/>
            <a:ext cx="6675120" cy="777240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13" name="Shape 11"/>
          <p:cNvSpPr/>
          <p:nvPr/>
        </p:nvSpPr>
        <p:spPr>
          <a:xfrm>
            <a:off x="4937760" y="2011680"/>
            <a:ext cx="109728" cy="777240"/>
          </a:xfrm>
          <a:prstGeom prst="rect">
            <a:avLst/>
          </a:prstGeom>
          <a:solidFill>
            <a:srgbClr val="2E5D9F"/>
          </a:solidFill>
          <a:ln/>
        </p:spPr>
      </p:sp>
      <p:sp>
        <p:nvSpPr>
          <p:cNvPr id="14" name="Text 12"/>
          <p:cNvSpPr/>
          <p:nvPr/>
        </p:nvSpPr>
        <p:spPr>
          <a:xfrm>
            <a:off x="5166360" y="2057400"/>
            <a:ext cx="6309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E5D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GENEROWANIE TREŚCI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166360" y="2331720"/>
            <a:ext cx="630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Teksty, grafiki, wideo. Największa adopcja, największe ryzyko ''AI slop''.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937760" y="2834640"/>
            <a:ext cx="6675120" cy="777240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17" name="Shape 15"/>
          <p:cNvSpPr/>
          <p:nvPr/>
        </p:nvSpPr>
        <p:spPr>
          <a:xfrm>
            <a:off x="4937760" y="2834640"/>
            <a:ext cx="109728" cy="777240"/>
          </a:xfrm>
          <a:prstGeom prst="rect">
            <a:avLst/>
          </a:prstGeom>
          <a:solidFill>
            <a:srgbClr val="2D7A4F"/>
          </a:solidFill>
          <a:ln/>
        </p:spPr>
      </p:sp>
      <p:sp>
        <p:nvSpPr>
          <p:cNvPr id="18" name="Text 16"/>
          <p:cNvSpPr/>
          <p:nvPr/>
        </p:nvSpPr>
        <p:spPr>
          <a:xfrm>
            <a:off x="5166360" y="2880360"/>
            <a:ext cx="6309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D7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PERSONALIZACJA W CZASIE RZECZYWISTYM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166360" y="3154680"/>
            <a:ext cx="630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Rekomendacje, dynamiczne treści. Dojrzałe — działa od lat.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937760" y="3657600"/>
            <a:ext cx="6675120" cy="777240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21" name="Shape 19"/>
          <p:cNvSpPr/>
          <p:nvPr/>
        </p:nvSpPr>
        <p:spPr>
          <a:xfrm>
            <a:off x="4937760" y="3657600"/>
            <a:ext cx="109728" cy="777240"/>
          </a:xfrm>
          <a:prstGeom prst="rect">
            <a:avLst/>
          </a:prstGeom>
          <a:solidFill>
            <a:srgbClr val="D97E2B"/>
          </a:solidFill>
          <a:ln/>
        </p:spPr>
      </p:sp>
      <p:sp>
        <p:nvSpPr>
          <p:cNvPr id="22" name="Text 20"/>
          <p:cNvSpPr/>
          <p:nvPr/>
        </p:nvSpPr>
        <p:spPr>
          <a:xfrm>
            <a:off x="5166360" y="3703320"/>
            <a:ext cx="6309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97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ANALITYKA PREDYKCYJNA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166360" y="3977640"/>
            <a:ext cx="630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Churn, LTV, segmentacja. Wymaga ilości danych — głównie duże marki.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937760" y="4480560"/>
            <a:ext cx="6675120" cy="777240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25" name="Shape 23"/>
          <p:cNvSpPr/>
          <p:nvPr/>
        </p:nvSpPr>
        <p:spPr>
          <a:xfrm>
            <a:off x="4937760" y="4480560"/>
            <a:ext cx="109728" cy="777240"/>
          </a:xfrm>
          <a:prstGeom prst="rect">
            <a:avLst/>
          </a:prstGeom>
          <a:solidFill>
            <a:srgbClr val="7A3F8F"/>
          </a:solidFill>
          <a:ln/>
        </p:spPr>
      </p:sp>
      <p:sp>
        <p:nvSpPr>
          <p:cNvPr id="26" name="Text 24"/>
          <p:cNvSpPr/>
          <p:nvPr/>
        </p:nvSpPr>
        <p:spPr>
          <a:xfrm>
            <a:off x="5166360" y="4526280"/>
            <a:ext cx="6309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7A3F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AUTOMATYZACJA PROCESÓW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166360" y="4800600"/>
            <a:ext cx="630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Kampanie, A/B testy, bidding. Skalowalne, nie innowacyjne.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48640" y="6172200"/>
            <a:ext cx="11064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Źródło: Salesforce State of Marketing 2025 · zastrzeżenie: dane globalne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6576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Strategia Marketingu Cyfrowego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10881360" y="644652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15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1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KANAŁ × RACE · MACIERZ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Każdy kanał ma swoją najlepszą rolę w RACE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Nie wszystkie kanały robią wszystko dobrze. Ta macierz = podstawa decyzji o alokacji.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011680"/>
            <a:ext cx="3630168" cy="45720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2011680"/>
            <a:ext cx="3630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Kanał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206240" y="2011680"/>
            <a:ext cx="1824228" cy="457200"/>
          </a:xfrm>
          <a:prstGeom prst="rect">
            <a:avLst/>
          </a:prstGeom>
          <a:solidFill>
            <a:srgbClr val="2E5D9F"/>
          </a:solidFill>
          <a:ln/>
        </p:spPr>
      </p:sp>
      <p:sp>
        <p:nvSpPr>
          <p:cNvPr id="8" name="Text 6"/>
          <p:cNvSpPr/>
          <p:nvPr/>
        </p:nvSpPr>
        <p:spPr>
          <a:xfrm>
            <a:off x="4206240" y="2011680"/>
            <a:ext cx="18242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Reach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057900" y="2011680"/>
            <a:ext cx="1824228" cy="457200"/>
          </a:xfrm>
          <a:prstGeom prst="rect">
            <a:avLst/>
          </a:prstGeom>
          <a:solidFill>
            <a:srgbClr val="2D7A4F"/>
          </a:solidFill>
          <a:ln/>
        </p:spPr>
      </p:sp>
      <p:sp>
        <p:nvSpPr>
          <p:cNvPr id="10" name="Text 8"/>
          <p:cNvSpPr/>
          <p:nvPr/>
        </p:nvSpPr>
        <p:spPr>
          <a:xfrm>
            <a:off x="6057900" y="2011680"/>
            <a:ext cx="18242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909560" y="2011680"/>
            <a:ext cx="1824228" cy="457200"/>
          </a:xfrm>
          <a:prstGeom prst="rect">
            <a:avLst/>
          </a:prstGeom>
          <a:solidFill>
            <a:srgbClr val="D97E2B"/>
          </a:solidFill>
          <a:ln/>
        </p:spPr>
      </p:sp>
      <p:sp>
        <p:nvSpPr>
          <p:cNvPr id="12" name="Text 10"/>
          <p:cNvSpPr/>
          <p:nvPr/>
        </p:nvSpPr>
        <p:spPr>
          <a:xfrm>
            <a:off x="7909560" y="2011680"/>
            <a:ext cx="18242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9761220" y="2011680"/>
            <a:ext cx="1824228" cy="457200"/>
          </a:xfrm>
          <a:prstGeom prst="rect">
            <a:avLst/>
          </a:prstGeom>
          <a:solidFill>
            <a:srgbClr val="7A3F8F"/>
          </a:solidFill>
          <a:ln/>
        </p:spPr>
      </p:sp>
      <p:sp>
        <p:nvSpPr>
          <p:cNvPr id="14" name="Text 12"/>
          <p:cNvSpPr/>
          <p:nvPr/>
        </p:nvSpPr>
        <p:spPr>
          <a:xfrm>
            <a:off x="9761220" y="2011680"/>
            <a:ext cx="18242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48640" y="2514600"/>
            <a:ext cx="11064240" cy="347472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2514600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SEO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297680" y="2514600"/>
            <a:ext cx="16687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E5D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●●●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149340" y="2514600"/>
            <a:ext cx="16687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D7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●●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001000" y="2514600"/>
            <a:ext cx="16687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D97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9852660" y="2514600"/>
            <a:ext cx="16687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7A3F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548640" y="2880360"/>
            <a:ext cx="11064240" cy="3474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2" name="Text 20"/>
          <p:cNvSpPr/>
          <p:nvPr/>
        </p:nvSpPr>
        <p:spPr>
          <a:xfrm>
            <a:off x="640080" y="2880360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297680" y="2880360"/>
            <a:ext cx="16687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E5D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●●●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149340" y="2880360"/>
            <a:ext cx="16687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D7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●●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8001000" y="2880360"/>
            <a:ext cx="16687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D97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9852660" y="2880360"/>
            <a:ext cx="16687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7A3F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548640" y="3246120"/>
            <a:ext cx="11064240" cy="347472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28" name="Text 26"/>
          <p:cNvSpPr/>
          <p:nvPr/>
        </p:nvSpPr>
        <p:spPr>
          <a:xfrm>
            <a:off x="640080" y="3246120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marketing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297680" y="3246120"/>
            <a:ext cx="16687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E5D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●●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6149340" y="3246120"/>
            <a:ext cx="16687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D7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●●●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8001000" y="3246120"/>
            <a:ext cx="16687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D97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●●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9852660" y="3246120"/>
            <a:ext cx="16687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7A3F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●●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548640" y="3611880"/>
            <a:ext cx="11064240" cy="3474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4" name="Text 32"/>
          <p:cNvSpPr/>
          <p:nvPr/>
        </p:nvSpPr>
        <p:spPr>
          <a:xfrm>
            <a:off x="640080" y="3611880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Ads (PPC)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4297680" y="3611880"/>
            <a:ext cx="16687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E5D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●●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6149340" y="3611880"/>
            <a:ext cx="16687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D7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●●●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8001000" y="3611880"/>
            <a:ext cx="16687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D97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●●●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9852660" y="3611880"/>
            <a:ext cx="16687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7A3F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548640" y="3977640"/>
            <a:ext cx="11064240" cy="347472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40" name="Text 38"/>
          <p:cNvSpPr/>
          <p:nvPr/>
        </p:nvSpPr>
        <p:spPr>
          <a:xfrm>
            <a:off x="640080" y="3977640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media organic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4297680" y="3977640"/>
            <a:ext cx="16687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E5D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●●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6149340" y="3977640"/>
            <a:ext cx="16687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D7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●●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8001000" y="3977640"/>
            <a:ext cx="16687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D97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9852660" y="3977640"/>
            <a:ext cx="16687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7A3F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●●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548640" y="4343400"/>
            <a:ext cx="11064240" cy="3474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6" name="Text 44"/>
          <p:cNvSpPr/>
          <p:nvPr/>
        </p:nvSpPr>
        <p:spPr>
          <a:xfrm>
            <a:off x="640080" y="4343400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Influencer marketing</a:t>
            </a:r>
            <a:endParaRPr lang="en-US" sz="1300" dirty="0"/>
          </a:p>
        </p:txBody>
      </p:sp>
      <p:sp>
        <p:nvSpPr>
          <p:cNvPr id="47" name="Text 45"/>
          <p:cNvSpPr/>
          <p:nvPr/>
        </p:nvSpPr>
        <p:spPr>
          <a:xfrm>
            <a:off x="4297680" y="4343400"/>
            <a:ext cx="16687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E5D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●●●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6149340" y="4343400"/>
            <a:ext cx="16687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D7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●●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8001000" y="4343400"/>
            <a:ext cx="16687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D97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●●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9852660" y="4343400"/>
            <a:ext cx="16687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7A3F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548640" y="4709160"/>
            <a:ext cx="11064240" cy="347472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52" name="Text 50"/>
          <p:cNvSpPr/>
          <p:nvPr/>
        </p:nvSpPr>
        <p:spPr>
          <a:xfrm>
            <a:off x="640080" y="4709160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marketing</a:t>
            </a:r>
            <a:endParaRPr lang="en-US" sz="1300" dirty="0"/>
          </a:p>
        </p:txBody>
      </p:sp>
      <p:sp>
        <p:nvSpPr>
          <p:cNvPr id="53" name="Text 51"/>
          <p:cNvSpPr/>
          <p:nvPr/>
        </p:nvSpPr>
        <p:spPr>
          <a:xfrm>
            <a:off x="4297680" y="4709160"/>
            <a:ext cx="16687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E5D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600" dirty="0"/>
          </a:p>
        </p:txBody>
      </p:sp>
      <p:sp>
        <p:nvSpPr>
          <p:cNvPr id="54" name="Text 52"/>
          <p:cNvSpPr/>
          <p:nvPr/>
        </p:nvSpPr>
        <p:spPr>
          <a:xfrm>
            <a:off x="6149340" y="4709160"/>
            <a:ext cx="16687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D7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●●</a:t>
            </a:r>
            <a:endParaRPr lang="en-US" sz="1600" dirty="0"/>
          </a:p>
        </p:txBody>
      </p:sp>
      <p:sp>
        <p:nvSpPr>
          <p:cNvPr id="55" name="Text 53"/>
          <p:cNvSpPr/>
          <p:nvPr/>
        </p:nvSpPr>
        <p:spPr>
          <a:xfrm>
            <a:off x="8001000" y="4709160"/>
            <a:ext cx="16687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D97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●●●</a:t>
            </a:r>
            <a:endParaRPr lang="en-US" sz="1600" dirty="0"/>
          </a:p>
        </p:txBody>
      </p:sp>
      <p:sp>
        <p:nvSpPr>
          <p:cNvPr id="56" name="Text 54"/>
          <p:cNvSpPr/>
          <p:nvPr/>
        </p:nvSpPr>
        <p:spPr>
          <a:xfrm>
            <a:off x="9852660" y="4709160"/>
            <a:ext cx="16687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7A3F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●●●</a:t>
            </a:r>
            <a:endParaRPr lang="en-US" sz="1600" dirty="0"/>
          </a:p>
        </p:txBody>
      </p:sp>
      <p:sp>
        <p:nvSpPr>
          <p:cNvPr id="57" name="Shape 55"/>
          <p:cNvSpPr/>
          <p:nvPr/>
        </p:nvSpPr>
        <p:spPr>
          <a:xfrm>
            <a:off x="548640" y="5074920"/>
            <a:ext cx="11064240" cy="3474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8" name="Text 56"/>
          <p:cNvSpPr/>
          <p:nvPr/>
        </p:nvSpPr>
        <p:spPr>
          <a:xfrm>
            <a:off x="640080" y="5074920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Retargeting</a:t>
            </a:r>
            <a:endParaRPr lang="en-US" sz="1300" dirty="0"/>
          </a:p>
        </p:txBody>
      </p:sp>
      <p:sp>
        <p:nvSpPr>
          <p:cNvPr id="59" name="Text 57"/>
          <p:cNvSpPr/>
          <p:nvPr/>
        </p:nvSpPr>
        <p:spPr>
          <a:xfrm>
            <a:off x="4297680" y="5074920"/>
            <a:ext cx="16687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E5D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600" dirty="0"/>
          </a:p>
        </p:txBody>
      </p:sp>
      <p:sp>
        <p:nvSpPr>
          <p:cNvPr id="60" name="Text 58"/>
          <p:cNvSpPr/>
          <p:nvPr/>
        </p:nvSpPr>
        <p:spPr>
          <a:xfrm>
            <a:off x="6149340" y="5074920"/>
            <a:ext cx="16687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D7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600" dirty="0"/>
          </a:p>
        </p:txBody>
      </p:sp>
      <p:sp>
        <p:nvSpPr>
          <p:cNvPr id="61" name="Text 59"/>
          <p:cNvSpPr/>
          <p:nvPr/>
        </p:nvSpPr>
        <p:spPr>
          <a:xfrm>
            <a:off x="8001000" y="5074920"/>
            <a:ext cx="16687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D97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●●●</a:t>
            </a:r>
            <a:endParaRPr lang="en-US" sz="1600" dirty="0"/>
          </a:p>
        </p:txBody>
      </p:sp>
      <p:sp>
        <p:nvSpPr>
          <p:cNvPr id="62" name="Text 60"/>
          <p:cNvSpPr/>
          <p:nvPr/>
        </p:nvSpPr>
        <p:spPr>
          <a:xfrm>
            <a:off x="9852660" y="5074920"/>
            <a:ext cx="16687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7A3F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600" dirty="0"/>
          </a:p>
        </p:txBody>
      </p:sp>
      <p:sp>
        <p:nvSpPr>
          <p:cNvPr id="63" name="Shape 61"/>
          <p:cNvSpPr/>
          <p:nvPr/>
        </p:nvSpPr>
        <p:spPr>
          <a:xfrm>
            <a:off x="548640" y="5440680"/>
            <a:ext cx="11064240" cy="347472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64" name="Text 62"/>
          <p:cNvSpPr/>
          <p:nvPr/>
        </p:nvSpPr>
        <p:spPr>
          <a:xfrm>
            <a:off x="640080" y="5440680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lojalnościowy</a:t>
            </a:r>
            <a:endParaRPr lang="en-US" sz="1300" dirty="0"/>
          </a:p>
        </p:txBody>
      </p:sp>
      <p:sp>
        <p:nvSpPr>
          <p:cNvPr id="65" name="Text 63"/>
          <p:cNvSpPr/>
          <p:nvPr/>
        </p:nvSpPr>
        <p:spPr>
          <a:xfrm>
            <a:off x="4297680" y="5440680"/>
            <a:ext cx="16687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E5D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600" dirty="0"/>
          </a:p>
        </p:txBody>
      </p:sp>
      <p:sp>
        <p:nvSpPr>
          <p:cNvPr id="66" name="Text 64"/>
          <p:cNvSpPr/>
          <p:nvPr/>
        </p:nvSpPr>
        <p:spPr>
          <a:xfrm>
            <a:off x="6149340" y="5440680"/>
            <a:ext cx="16687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D7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600" dirty="0"/>
          </a:p>
        </p:txBody>
      </p:sp>
      <p:sp>
        <p:nvSpPr>
          <p:cNvPr id="67" name="Text 65"/>
          <p:cNvSpPr/>
          <p:nvPr/>
        </p:nvSpPr>
        <p:spPr>
          <a:xfrm>
            <a:off x="8001000" y="5440680"/>
            <a:ext cx="16687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D97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●●</a:t>
            </a:r>
            <a:endParaRPr lang="en-US" sz="1600" dirty="0"/>
          </a:p>
        </p:txBody>
      </p:sp>
      <p:sp>
        <p:nvSpPr>
          <p:cNvPr id="68" name="Text 66"/>
          <p:cNvSpPr/>
          <p:nvPr/>
        </p:nvSpPr>
        <p:spPr>
          <a:xfrm>
            <a:off x="9852660" y="5440680"/>
            <a:ext cx="16687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7A3F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●●●</a:t>
            </a:r>
            <a:endParaRPr lang="en-US" sz="1600" dirty="0"/>
          </a:p>
        </p:txBody>
      </p:sp>
      <p:sp>
        <p:nvSpPr>
          <p:cNvPr id="69" name="Text 67"/>
          <p:cNvSpPr/>
          <p:nvPr/>
        </p:nvSpPr>
        <p:spPr>
          <a:xfrm>
            <a:off x="548640" y="598932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i="1" dirty="0">
                <a:solidFill>
                  <a:srgbClr val="1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= silny kanał dla etapu · ○ = słaby lub nieodpowiedni. Macierz dla Ćwiczenia 4 — zróbcie zdjęcie.</a:t>
            </a:r>
            <a:endParaRPr lang="en-US" sz="1200" dirty="0"/>
          </a:p>
        </p:txBody>
      </p:sp>
      <p:sp>
        <p:nvSpPr>
          <p:cNvPr id="70" name="Text 68"/>
          <p:cNvSpPr/>
          <p:nvPr/>
        </p:nvSpPr>
        <p:spPr>
          <a:xfrm>
            <a:off x="36576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Strategia Marketingu Cyfrowego</a:t>
            </a:r>
            <a:endParaRPr lang="en-US" sz="1000" dirty="0"/>
          </a:p>
        </p:txBody>
      </p:sp>
      <p:sp>
        <p:nvSpPr>
          <p:cNvPr id="71" name="Text 69"/>
          <p:cNvSpPr/>
          <p:nvPr/>
        </p:nvSpPr>
        <p:spPr>
          <a:xfrm>
            <a:off x="10881360" y="644652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15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1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ALOKACJA BUDŻETU · ZASADY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 / 20 / 10 — równowaga między pewnym a eksperymentem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9,2 mld PLN wydatków cyfrowych w PL (IAB 2024). Jak wybrać swój kawałek?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011680"/>
            <a:ext cx="5303520" cy="3657600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219456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ZASADA 70 / 20 / 10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2697480"/>
            <a:ext cx="4937760" cy="8686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" name="Shape 6"/>
          <p:cNvSpPr/>
          <p:nvPr/>
        </p:nvSpPr>
        <p:spPr>
          <a:xfrm>
            <a:off x="731520" y="2697480"/>
            <a:ext cx="109728" cy="86868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2697480"/>
            <a:ext cx="1188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70%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2103120" y="278892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SPRAWDZONE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103120" y="306324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Kanały z udowodnioną efektywnością dla waszego klienta.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31520" y="3657600"/>
            <a:ext cx="4937760" cy="8686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" name="Shape 11"/>
          <p:cNvSpPr/>
          <p:nvPr/>
        </p:nvSpPr>
        <p:spPr>
          <a:xfrm>
            <a:off x="731520" y="3657600"/>
            <a:ext cx="109728" cy="868680"/>
          </a:xfrm>
          <a:prstGeom prst="rect">
            <a:avLst/>
          </a:prstGeom>
          <a:solidFill>
            <a:srgbClr val="1A7A8A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3657600"/>
            <a:ext cx="1188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2103120" y="374904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ROZWIJAJĄCE SIĘ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103120" y="402336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Kanały, które pokazują obietnicę, ale nie są jeszcze optymalizowane.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31520" y="4617720"/>
            <a:ext cx="4937760" cy="8686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8" name="Shape 16"/>
          <p:cNvSpPr/>
          <p:nvPr/>
        </p:nvSpPr>
        <p:spPr>
          <a:xfrm>
            <a:off x="731520" y="4617720"/>
            <a:ext cx="109728" cy="868680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19" name="Text 17"/>
          <p:cNvSpPr/>
          <p:nvPr/>
        </p:nvSpPr>
        <p:spPr>
          <a:xfrm>
            <a:off x="914400" y="4617720"/>
            <a:ext cx="1188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10%</a:t>
            </a:r>
            <a:endParaRPr lang="en-US" sz="3000" dirty="0"/>
          </a:p>
        </p:txBody>
      </p:sp>
      <p:sp>
        <p:nvSpPr>
          <p:cNvPr id="20" name="Text 18"/>
          <p:cNvSpPr/>
          <p:nvPr/>
        </p:nvSpPr>
        <p:spPr>
          <a:xfrm>
            <a:off x="2103120" y="470916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EKSPERYMENT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2103120" y="498348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Nowe formaty, platformy, podejścia. Bez tego — brak nauki.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217920" y="2011680"/>
            <a:ext cx="5394960" cy="3657600"/>
          </a:xfrm>
          <a:prstGeom prst="rect">
            <a:avLst/>
          </a:prstGeom>
          <a:solidFill>
            <a:srgbClr val="1C2541"/>
          </a:solidFill>
          <a:ln/>
        </p:spPr>
      </p:sp>
      <p:sp>
        <p:nvSpPr>
          <p:cNvPr id="23" name="Text 21"/>
          <p:cNvSpPr/>
          <p:nvPr/>
        </p:nvSpPr>
        <p:spPr>
          <a:xfrm>
            <a:off x="6400800" y="219456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POLSKI RYNEK · IAB 2024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400800" y="2560320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9,2 mld zł</a:t>
            </a:r>
            <a:endParaRPr lang="en-US" sz="4800" dirty="0"/>
          </a:p>
        </p:txBody>
      </p:sp>
      <p:sp>
        <p:nvSpPr>
          <p:cNvPr id="25" name="Text 23"/>
          <p:cNvSpPr/>
          <p:nvPr/>
        </p:nvSpPr>
        <p:spPr>
          <a:xfrm>
            <a:off x="6400800" y="347472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C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całkowite wydatki cyfrowe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446520" y="393192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~30% · Search (Google Ads dominuje)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446520" y="4279392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~20% · Display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446520" y="4626864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~20% · Social (Meta + TikTok rośnie)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446520" y="4974336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Wideo: +23% r/r — najszybsza kategoria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48640" y="598932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i="1" dirty="0">
                <a:solidFill>
                  <a:srgbClr val="1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Dojrzały budżet = balans między etapami RACE. Dłuższy cykl zakupu = więcej w Reach + Act.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548640" y="6291072"/>
            <a:ext cx="11064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Źródło: IAB Polska / PwC AdEx 2024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6576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Strategia Marketingu Cyfrowego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10881360" y="644652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15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1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ATRYBUCJA · POMIAR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Last-click kłamie. Wieloźródłowa atrybucja = prawda.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Większość polskich marek wciąż mierzy last-click. I dlatego nie docenia Zasięgu i Aktywacji.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011680"/>
            <a:ext cx="4754880" cy="3657600"/>
          </a:xfrm>
          <a:prstGeom prst="rect">
            <a:avLst/>
          </a:prstGeom>
          <a:solidFill>
            <a:srgbClr val="FFF0E4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2011680"/>
            <a:ext cx="137160" cy="365760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219456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DOMYŚLNY PROBLEM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77240" y="256032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LAST-CLICK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777240" y="3108960"/>
            <a:ext cx="4389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Cała zasługa idzie do ostatniego kanału przed zakupem.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77240" y="384048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KLIENT: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77240" y="411480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YouTube → blog → Meta Ad → Google search → zakup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77240" y="466344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LAST-CLICK MÓWI: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777240" y="4937760"/>
            <a:ext cx="4389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"Google Ads zrobił 100% pracy. Reszta — zero wartości."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669280" y="210312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MODELE WIELOŹRÓDŁOWE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669280" y="2514600"/>
            <a:ext cx="5943600" cy="685800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16" name="Shape 14"/>
          <p:cNvSpPr/>
          <p:nvPr/>
        </p:nvSpPr>
        <p:spPr>
          <a:xfrm>
            <a:off x="5669280" y="2514600"/>
            <a:ext cx="91440" cy="685800"/>
          </a:xfrm>
          <a:prstGeom prst="rect">
            <a:avLst/>
          </a:prstGeom>
          <a:solidFill>
            <a:srgbClr val="1A7A8A"/>
          </a:solidFill>
          <a:ln/>
        </p:spPr>
      </p:sp>
      <p:sp>
        <p:nvSpPr>
          <p:cNvPr id="17" name="Text 15"/>
          <p:cNvSpPr/>
          <p:nvPr/>
        </p:nvSpPr>
        <p:spPr>
          <a:xfrm>
            <a:off x="5852160" y="2560320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First-click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852160" y="2834640"/>
            <a:ext cx="5669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Cała zasługa do pierwszego kontaktu — przecenia Zasięg.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669280" y="3291840"/>
            <a:ext cx="5943600" cy="685800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20" name="Shape 18"/>
          <p:cNvSpPr/>
          <p:nvPr/>
        </p:nvSpPr>
        <p:spPr>
          <a:xfrm>
            <a:off x="5669280" y="3291840"/>
            <a:ext cx="91440" cy="685800"/>
          </a:xfrm>
          <a:prstGeom prst="rect">
            <a:avLst/>
          </a:prstGeom>
          <a:solidFill>
            <a:srgbClr val="1A7A8A"/>
          </a:solidFill>
          <a:ln/>
        </p:spPr>
      </p:sp>
      <p:sp>
        <p:nvSpPr>
          <p:cNvPr id="21" name="Text 19"/>
          <p:cNvSpPr/>
          <p:nvPr/>
        </p:nvSpPr>
        <p:spPr>
          <a:xfrm>
            <a:off x="5852160" y="3337560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852160" y="3611880"/>
            <a:ext cx="5669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Równy podział między wszystkie punkty styku — sprawiedliwy, prosty.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669280" y="4069080"/>
            <a:ext cx="5943600" cy="685800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24" name="Shape 22"/>
          <p:cNvSpPr/>
          <p:nvPr/>
        </p:nvSpPr>
        <p:spPr>
          <a:xfrm>
            <a:off x="5669280" y="4069080"/>
            <a:ext cx="91440" cy="685800"/>
          </a:xfrm>
          <a:prstGeom prst="rect">
            <a:avLst/>
          </a:prstGeom>
          <a:solidFill>
            <a:srgbClr val="1A7A8A"/>
          </a:solidFill>
          <a:ln/>
        </p:spPr>
      </p:sp>
      <p:sp>
        <p:nvSpPr>
          <p:cNvPr id="25" name="Text 23"/>
          <p:cNvSpPr/>
          <p:nvPr/>
        </p:nvSpPr>
        <p:spPr>
          <a:xfrm>
            <a:off x="5852160" y="4114800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Time-decay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852160" y="4389120"/>
            <a:ext cx="5669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Więcej zasługi dla punktów bliżej konwersji — kompromis.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669280" y="4846320"/>
            <a:ext cx="5943600" cy="685800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28" name="Shape 26"/>
          <p:cNvSpPr/>
          <p:nvPr/>
        </p:nvSpPr>
        <p:spPr>
          <a:xfrm>
            <a:off x="5669280" y="4846320"/>
            <a:ext cx="91440" cy="685800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29" name="Text 27"/>
          <p:cNvSpPr/>
          <p:nvPr/>
        </p:nvSpPr>
        <p:spPr>
          <a:xfrm>
            <a:off x="5852160" y="4892040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Data-driven ⭐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5852160" y="5166360"/>
            <a:ext cx="5669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uczy się z danych, co faktycznie prowadzi do konwersji. GA4 w standardzie. Min. 300 konw./mies.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48640" y="598932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i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Pytanie do Waszej marki: jaki model atrybucji mamy dziś? Jeśli nie wiecie — to pierwsze pytanie jutro.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36576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Strategia Marketingu Cyfrowego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10881360" y="644652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15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1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CYKL REWIZJI · 90 DNI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Kwartał = realny horyzont. Roczny plan = fikcja.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marketingu cyfrowego rewidujecie co 90 dni. Inaczej pracujecie na nieaktualnych danych.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103120"/>
            <a:ext cx="2560320" cy="3474720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2103120"/>
            <a:ext cx="2560320" cy="640080"/>
          </a:xfrm>
          <a:prstGeom prst="rect">
            <a:avLst/>
          </a:prstGeom>
          <a:solidFill>
            <a:srgbClr val="2E5D9F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210312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731520" y="210312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PLANUJ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77240" y="288036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E5D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Tydzień 1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77240" y="3200400"/>
            <a:ext cx="21031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Cele, budżet, KPI per etap RACE. Macierz kanał × RACE.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108960" y="3566160"/>
            <a:ext cx="274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800" dirty="0"/>
          </a:p>
        </p:txBody>
      </p:sp>
      <p:sp>
        <p:nvSpPr>
          <p:cNvPr id="12" name="Shape 10"/>
          <p:cNvSpPr/>
          <p:nvPr/>
        </p:nvSpPr>
        <p:spPr>
          <a:xfrm>
            <a:off x="3383280" y="2103120"/>
            <a:ext cx="2560320" cy="3474720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13" name="Shape 11"/>
          <p:cNvSpPr/>
          <p:nvPr/>
        </p:nvSpPr>
        <p:spPr>
          <a:xfrm>
            <a:off x="3383280" y="2103120"/>
            <a:ext cx="2560320" cy="640080"/>
          </a:xfrm>
          <a:prstGeom prst="rect">
            <a:avLst/>
          </a:prstGeom>
          <a:solidFill>
            <a:srgbClr val="2D7A4F"/>
          </a:solidFill>
          <a:ln/>
        </p:spPr>
      </p:sp>
      <p:sp>
        <p:nvSpPr>
          <p:cNvPr id="14" name="Text 12"/>
          <p:cNvSpPr/>
          <p:nvPr/>
        </p:nvSpPr>
        <p:spPr>
          <a:xfrm>
            <a:off x="3566160" y="210312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3566160" y="210312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WYKONAJ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3611880" y="288036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D7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Tygodnie 2–11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611880" y="3200400"/>
            <a:ext cx="21031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Realizacja. Cotygodniowe status checki. Zespół w rytmie.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943600" y="3566160"/>
            <a:ext cx="274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800" dirty="0"/>
          </a:p>
        </p:txBody>
      </p:sp>
      <p:sp>
        <p:nvSpPr>
          <p:cNvPr id="19" name="Shape 17"/>
          <p:cNvSpPr/>
          <p:nvPr/>
        </p:nvSpPr>
        <p:spPr>
          <a:xfrm>
            <a:off x="6217920" y="2103120"/>
            <a:ext cx="2560320" cy="3474720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20" name="Shape 18"/>
          <p:cNvSpPr/>
          <p:nvPr/>
        </p:nvSpPr>
        <p:spPr>
          <a:xfrm>
            <a:off x="6217920" y="2103120"/>
            <a:ext cx="2560320" cy="640080"/>
          </a:xfrm>
          <a:prstGeom prst="rect">
            <a:avLst/>
          </a:prstGeom>
          <a:solidFill>
            <a:srgbClr val="D97E2B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0" y="210312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6400800" y="210312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MIERZ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446520" y="288036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D97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Cały kwartał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446520" y="3200400"/>
            <a:ext cx="21031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Cotygodniowy przegląd KPI. Miesięczny raport głęboki.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8778240" y="3566160"/>
            <a:ext cx="274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800" dirty="0"/>
          </a:p>
        </p:txBody>
      </p:sp>
      <p:sp>
        <p:nvSpPr>
          <p:cNvPr id="26" name="Shape 24"/>
          <p:cNvSpPr/>
          <p:nvPr/>
        </p:nvSpPr>
        <p:spPr>
          <a:xfrm>
            <a:off x="9052560" y="2103120"/>
            <a:ext cx="2560320" cy="3474720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27" name="Shape 25"/>
          <p:cNvSpPr/>
          <p:nvPr/>
        </p:nvSpPr>
        <p:spPr>
          <a:xfrm>
            <a:off x="9052560" y="2103120"/>
            <a:ext cx="2560320" cy="640080"/>
          </a:xfrm>
          <a:prstGeom prst="rect">
            <a:avLst/>
          </a:prstGeom>
          <a:solidFill>
            <a:srgbClr val="7A3F8F"/>
          </a:solidFill>
          <a:ln/>
        </p:spPr>
      </p:sp>
      <p:sp>
        <p:nvSpPr>
          <p:cNvPr id="28" name="Text 26"/>
          <p:cNvSpPr/>
          <p:nvPr/>
        </p:nvSpPr>
        <p:spPr>
          <a:xfrm>
            <a:off x="9235440" y="210312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9235440" y="210312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DOSTOSUJ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9281160" y="288036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7A3F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Tydzień 12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9281160" y="3200400"/>
            <a:ext cx="21031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 działa? Co nie? Co zabieramy do następnego cyklu?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548640" y="5806440"/>
            <a:ext cx="11064240" cy="502920"/>
          </a:xfrm>
          <a:prstGeom prst="rect">
            <a:avLst/>
          </a:prstGeom>
          <a:solidFill>
            <a:srgbClr val="1C2541"/>
          </a:solidFill>
          <a:ln/>
        </p:spPr>
      </p:sp>
      <p:sp>
        <p:nvSpPr>
          <p:cNvPr id="33" name="Text 31"/>
          <p:cNvSpPr/>
          <p:nvPr/>
        </p:nvSpPr>
        <p:spPr>
          <a:xfrm>
            <a:off x="548640" y="580644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Rezerwuj do 10% budżetu na ''adjust'' w trakcie kwartału — żebyś mógł zwiększyć inwestycję, gdy kanał zaskakująco działa.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36576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Strategia Marketingu Cyfrowego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10881360" y="644652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15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E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46304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spc="400" kern="0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WARSZTAT 4 · 45 MIN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31520" y="1920240"/>
            <a:ext cx="106984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Czas na ćwiczenia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731520" y="4206240"/>
            <a:ext cx="106984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200 000 PLN kwartalnie. Rozdzielcie między etapy RACE — i uzasadnijcie każdą złotówkę.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585216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 sama marka przez cały dzień · Ostatnie ćwiczenie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881360" y="644652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15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E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645920"/>
          </a:xfrm>
          <a:prstGeom prst="rect">
            <a:avLst/>
          </a:prstGeom>
          <a:solidFill>
            <a:srgbClr val="0F1E33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WARSZTAT 4 · 45 MIN · CANVA WHITEBOARD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400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Alokacja budżetu 200 000 PLN na kwartał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11064240" cy="777240"/>
          </a:xfrm>
          <a:prstGeom prst="rect">
            <a:avLst/>
          </a:prstGeom>
          <a:solidFill>
            <a:srgbClr val="1A2F4F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737360"/>
            <a:ext cx="109728" cy="777240"/>
          </a:xfrm>
          <a:prstGeom prst="rect">
            <a:avLst/>
          </a:prstGeom>
          <a:solidFill>
            <a:srgbClr val="2E5D9F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82880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E5D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ZADANIE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77240" y="2103120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Rozdzielcie 200 000 PLN między 4 etapy RACE dla waszej marki. Dla każdego etapu: ile PLN, które kanały, oczekiwane KPI.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2606040"/>
            <a:ext cx="11064240" cy="777240"/>
          </a:xfrm>
          <a:prstGeom prst="rect">
            <a:avLst/>
          </a:prstGeom>
          <a:solidFill>
            <a:srgbClr val="1A2F4F"/>
          </a:solidFill>
          <a:ln/>
        </p:spPr>
      </p:sp>
      <p:sp>
        <p:nvSpPr>
          <p:cNvPr id="10" name="Shape 8"/>
          <p:cNvSpPr/>
          <p:nvPr/>
        </p:nvSpPr>
        <p:spPr>
          <a:xfrm>
            <a:off x="548640" y="2606040"/>
            <a:ext cx="109728" cy="777240"/>
          </a:xfrm>
          <a:prstGeom prst="rect">
            <a:avLst/>
          </a:prstGeom>
          <a:solidFill>
            <a:srgbClr val="2D7A4F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269748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D7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CZAS / OUTPUT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77240" y="2971800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 minut · do 16:50. Wynik: 4 wiersze alokacji (Reach, Act, Convert, Engage) + 1 zdanie uzasadnienia per wiersz.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48640" y="3474720"/>
            <a:ext cx="11064240" cy="777240"/>
          </a:xfrm>
          <a:prstGeom prst="rect">
            <a:avLst/>
          </a:prstGeom>
          <a:solidFill>
            <a:srgbClr val="1A2F4F"/>
          </a:solidFill>
          <a:ln/>
        </p:spPr>
      </p:sp>
      <p:sp>
        <p:nvSpPr>
          <p:cNvPr id="14" name="Shape 12"/>
          <p:cNvSpPr/>
          <p:nvPr/>
        </p:nvSpPr>
        <p:spPr>
          <a:xfrm>
            <a:off x="548640" y="3474720"/>
            <a:ext cx="109728" cy="777240"/>
          </a:xfrm>
          <a:prstGeom prst="rect">
            <a:avLst/>
          </a:prstGeom>
          <a:solidFill>
            <a:srgbClr val="D97E2B"/>
          </a:solidFill>
          <a:ln/>
        </p:spPr>
      </p:sp>
      <p:sp>
        <p:nvSpPr>
          <p:cNvPr id="15" name="Text 13"/>
          <p:cNvSpPr/>
          <p:nvPr/>
        </p:nvSpPr>
        <p:spPr>
          <a:xfrm>
            <a:off x="777240" y="356616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97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NARZĘDZIE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77240" y="3840480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Canva Whiteboard — tabela alokacji. Macierz kanał × RACE ze slajdu 68 jako odniesienie. Wejdź przez QR kod.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548640" y="4343400"/>
            <a:ext cx="11064240" cy="777240"/>
          </a:xfrm>
          <a:prstGeom prst="rect">
            <a:avLst/>
          </a:prstGeom>
          <a:solidFill>
            <a:srgbClr val="1A2F4F"/>
          </a:solidFill>
          <a:ln/>
        </p:spPr>
      </p:sp>
      <p:sp>
        <p:nvSpPr>
          <p:cNvPr id="18" name="Shape 16"/>
          <p:cNvSpPr/>
          <p:nvPr/>
        </p:nvSpPr>
        <p:spPr>
          <a:xfrm>
            <a:off x="548640" y="4343400"/>
            <a:ext cx="109728" cy="777240"/>
          </a:xfrm>
          <a:prstGeom prst="rect">
            <a:avLst/>
          </a:prstGeom>
          <a:solidFill>
            <a:srgbClr val="7A3F8F"/>
          </a:solidFill>
          <a:ln/>
        </p:spPr>
      </p:sp>
      <p:sp>
        <p:nvSpPr>
          <p:cNvPr id="19" name="Text 17"/>
          <p:cNvSpPr/>
          <p:nvPr/>
        </p:nvSpPr>
        <p:spPr>
          <a:xfrm>
            <a:off x="777240" y="443484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7A3F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ZASADA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77240" y="4709160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Zarezerwujcie 10% (20 000 PLN) na ''adjust'' w trakcie kwartału. Nie rozdzielajcie całości — niepewność jest realna.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548640" y="5303520"/>
            <a:ext cx="11064240" cy="822960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22" name="Text 20"/>
          <p:cNvSpPr/>
          <p:nvPr/>
        </p:nvSpPr>
        <p:spPr>
          <a:xfrm>
            <a:off x="777240" y="5303520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Wykorzystajcie wszystko z dnia: SOSTAC (cele) + RACE (etapy) + CVP (kim jesteście) + macierz kanałów.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0881360" y="644652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15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1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WARSZTAT 4 · PRZYKŁAD ROBOCZY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InPost — przykładowa alokacja 200k PLN na Q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Wzór struktury dla waszej pracy. Wasze kwoty będą inne — struktura powinna być podobna.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011680"/>
            <a:ext cx="1618488" cy="457200"/>
          </a:xfrm>
          <a:prstGeom prst="rect">
            <a:avLst/>
          </a:prstGeom>
          <a:solidFill>
            <a:srgbClr val="1C2541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2011680"/>
            <a:ext cx="14356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ETAP RACE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194560" y="2011680"/>
            <a:ext cx="795528" cy="457200"/>
          </a:xfrm>
          <a:prstGeom prst="rect">
            <a:avLst/>
          </a:prstGeom>
          <a:solidFill>
            <a:srgbClr val="1C2541"/>
          </a:solidFill>
          <a:ln/>
        </p:spPr>
      </p:sp>
      <p:sp>
        <p:nvSpPr>
          <p:cNvPr id="8" name="Text 6"/>
          <p:cNvSpPr/>
          <p:nvPr/>
        </p:nvSpPr>
        <p:spPr>
          <a:xfrm>
            <a:off x="2286000" y="2011680"/>
            <a:ext cx="6126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017520" y="2011680"/>
            <a:ext cx="1252728" cy="457200"/>
          </a:xfrm>
          <a:prstGeom prst="rect">
            <a:avLst/>
          </a:prstGeom>
          <a:solidFill>
            <a:srgbClr val="1C2541"/>
          </a:solidFill>
          <a:ln/>
        </p:spPr>
      </p:sp>
      <p:sp>
        <p:nvSpPr>
          <p:cNvPr id="10" name="Text 8"/>
          <p:cNvSpPr/>
          <p:nvPr/>
        </p:nvSpPr>
        <p:spPr>
          <a:xfrm>
            <a:off x="3108960" y="2011680"/>
            <a:ext cx="10698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297680" y="2011680"/>
            <a:ext cx="4087368" cy="457200"/>
          </a:xfrm>
          <a:prstGeom prst="rect">
            <a:avLst/>
          </a:prstGeom>
          <a:solidFill>
            <a:srgbClr val="1C2541"/>
          </a:solidFill>
          <a:ln/>
        </p:spPr>
      </p:sp>
      <p:sp>
        <p:nvSpPr>
          <p:cNvPr id="12" name="Text 10"/>
          <p:cNvSpPr/>
          <p:nvPr/>
        </p:nvSpPr>
        <p:spPr>
          <a:xfrm>
            <a:off x="4389120" y="2011680"/>
            <a:ext cx="39044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KANAŁY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412480" y="2011680"/>
            <a:ext cx="2532888" cy="457200"/>
          </a:xfrm>
          <a:prstGeom prst="rect">
            <a:avLst/>
          </a:prstGeom>
          <a:solidFill>
            <a:srgbClr val="1C2541"/>
          </a:solidFill>
          <a:ln/>
        </p:spPr>
      </p:sp>
      <p:sp>
        <p:nvSpPr>
          <p:cNvPr id="14" name="Text 12"/>
          <p:cNvSpPr/>
          <p:nvPr/>
        </p:nvSpPr>
        <p:spPr>
          <a:xfrm>
            <a:off x="8503920" y="2011680"/>
            <a:ext cx="23500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GŁÓWNY KPI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48640" y="2514600"/>
            <a:ext cx="11064240" cy="502920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16" name="Shape 14"/>
          <p:cNvSpPr/>
          <p:nvPr/>
        </p:nvSpPr>
        <p:spPr>
          <a:xfrm>
            <a:off x="548640" y="2514600"/>
            <a:ext cx="109728" cy="502920"/>
          </a:xfrm>
          <a:prstGeom prst="rect">
            <a:avLst/>
          </a:prstGeom>
          <a:solidFill>
            <a:srgbClr val="2E5D9F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251460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5D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Reach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194560" y="2514600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30%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3017520" y="251460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60 000 zł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389120" y="251460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YouTube ads + partnerstwa marketplace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503920" y="251460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+15% świadomości (25–35)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48640" y="3054096"/>
            <a:ext cx="11064240" cy="5029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3" name="Shape 21"/>
          <p:cNvSpPr/>
          <p:nvPr/>
        </p:nvSpPr>
        <p:spPr>
          <a:xfrm>
            <a:off x="548640" y="3054096"/>
            <a:ext cx="109728" cy="502920"/>
          </a:xfrm>
          <a:prstGeom prst="rect">
            <a:avLst/>
          </a:prstGeom>
          <a:solidFill>
            <a:srgbClr val="2D7A4F"/>
          </a:solidFill>
          <a:ln/>
        </p:spPr>
      </p:sp>
      <p:sp>
        <p:nvSpPr>
          <p:cNvPr id="24" name="Text 22"/>
          <p:cNvSpPr/>
          <p:nvPr/>
        </p:nvSpPr>
        <p:spPr>
          <a:xfrm>
            <a:off x="777240" y="3054096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7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2194560" y="3054096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25%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3017520" y="3054096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50 000 zł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389120" y="3054096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(poradniki logistyka) + email nurture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8503920" y="3054096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Czas na stronie &gt;2:30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548640" y="3593592"/>
            <a:ext cx="11064240" cy="502920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30" name="Shape 28"/>
          <p:cNvSpPr/>
          <p:nvPr/>
        </p:nvSpPr>
        <p:spPr>
          <a:xfrm>
            <a:off x="548640" y="3593592"/>
            <a:ext cx="109728" cy="502920"/>
          </a:xfrm>
          <a:prstGeom prst="rect">
            <a:avLst/>
          </a:prstGeom>
          <a:solidFill>
            <a:srgbClr val="D97E2B"/>
          </a:solidFill>
          <a:ln/>
        </p:spPr>
      </p:sp>
      <p:sp>
        <p:nvSpPr>
          <p:cNvPr id="31" name="Text 29"/>
          <p:cNvSpPr/>
          <p:nvPr/>
        </p:nvSpPr>
        <p:spPr>
          <a:xfrm>
            <a:off x="777240" y="3593592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97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2194560" y="3593592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3017520" y="3593592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40 000 zł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4389120" y="3593592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PPC search brand + retargeting + CRO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8503920" y="3593592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Conv. rate + 0,5pp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548640" y="4133088"/>
            <a:ext cx="11064240" cy="5029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7" name="Shape 35"/>
          <p:cNvSpPr/>
          <p:nvPr/>
        </p:nvSpPr>
        <p:spPr>
          <a:xfrm>
            <a:off x="548640" y="4133088"/>
            <a:ext cx="109728" cy="502920"/>
          </a:xfrm>
          <a:prstGeom prst="rect">
            <a:avLst/>
          </a:prstGeom>
          <a:solidFill>
            <a:srgbClr val="7A3F8F"/>
          </a:solidFill>
          <a:ln/>
        </p:spPr>
      </p:sp>
      <p:sp>
        <p:nvSpPr>
          <p:cNvPr id="38" name="Text 36"/>
          <p:cNvSpPr/>
          <p:nvPr/>
        </p:nvSpPr>
        <p:spPr>
          <a:xfrm>
            <a:off x="777240" y="4133088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A3F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2194560" y="4133088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15%</a:t>
            </a:r>
            <a:endParaRPr lang="en-US" sz="1500" dirty="0"/>
          </a:p>
        </p:txBody>
      </p:sp>
      <p:sp>
        <p:nvSpPr>
          <p:cNvPr id="40" name="Text 38"/>
          <p:cNvSpPr/>
          <p:nvPr/>
        </p:nvSpPr>
        <p:spPr>
          <a:xfrm>
            <a:off x="3017520" y="4133088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30 000 zł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4389120" y="4133088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retencyjny + program lojalnościowy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8503920" y="4133088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rate 70%+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548640" y="4672584"/>
            <a:ext cx="11064240" cy="502920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44" name="Shape 42"/>
          <p:cNvSpPr/>
          <p:nvPr/>
        </p:nvSpPr>
        <p:spPr>
          <a:xfrm>
            <a:off x="548640" y="4672584"/>
            <a:ext cx="109728" cy="502920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45" name="Text 43"/>
          <p:cNvSpPr/>
          <p:nvPr/>
        </p:nvSpPr>
        <p:spPr>
          <a:xfrm>
            <a:off x="777240" y="4672584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Rezerwa</a:t>
            </a:r>
            <a:endParaRPr lang="en-US" sz="1300" dirty="0"/>
          </a:p>
        </p:txBody>
      </p:sp>
      <p:sp>
        <p:nvSpPr>
          <p:cNvPr id="46" name="Text 44"/>
          <p:cNvSpPr/>
          <p:nvPr/>
        </p:nvSpPr>
        <p:spPr>
          <a:xfrm>
            <a:off x="2194560" y="4672584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10%</a:t>
            </a:r>
            <a:endParaRPr lang="en-US" sz="1500" dirty="0"/>
          </a:p>
        </p:txBody>
      </p:sp>
      <p:sp>
        <p:nvSpPr>
          <p:cNvPr id="47" name="Text 45"/>
          <p:cNvSpPr/>
          <p:nvPr/>
        </p:nvSpPr>
        <p:spPr>
          <a:xfrm>
            <a:off x="3017520" y="4672584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20 000 zł</a:t>
            </a:r>
            <a:endParaRPr lang="en-US" sz="1300" dirty="0"/>
          </a:p>
        </p:txBody>
      </p:sp>
      <p:sp>
        <p:nvSpPr>
          <p:cNvPr id="48" name="Text 46"/>
          <p:cNvSpPr/>
          <p:nvPr/>
        </p:nvSpPr>
        <p:spPr>
          <a:xfrm>
            <a:off x="4389120" y="4672584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Zachowane na ''adjust'' w trakcie kwartału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8503920" y="4672584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Elastyczność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548640" y="5303520"/>
            <a:ext cx="11064240" cy="45720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51" name="Text 49"/>
          <p:cNvSpPr/>
          <p:nvPr/>
        </p:nvSpPr>
        <p:spPr>
          <a:xfrm>
            <a:off x="777240" y="530352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</a:t>
            </a:r>
            <a:endParaRPr lang="en-US" sz="1200" dirty="0"/>
          </a:p>
        </p:txBody>
      </p:sp>
      <p:sp>
        <p:nvSpPr>
          <p:cNvPr id="52" name="Text 50"/>
          <p:cNvSpPr/>
          <p:nvPr/>
        </p:nvSpPr>
        <p:spPr>
          <a:xfrm>
            <a:off x="2194560" y="530352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1400" dirty="0"/>
          </a:p>
        </p:txBody>
      </p:sp>
      <p:sp>
        <p:nvSpPr>
          <p:cNvPr id="53" name="Text 51"/>
          <p:cNvSpPr/>
          <p:nvPr/>
        </p:nvSpPr>
        <p:spPr>
          <a:xfrm>
            <a:off x="3017520" y="530352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200 000 zł</a:t>
            </a:r>
            <a:endParaRPr lang="en-US" sz="1400" dirty="0"/>
          </a:p>
        </p:txBody>
      </p:sp>
      <p:sp>
        <p:nvSpPr>
          <p:cNvPr id="54" name="Text 52"/>
          <p:cNvSpPr/>
          <p:nvPr/>
        </p:nvSpPr>
        <p:spPr>
          <a:xfrm>
            <a:off x="548640" y="608076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i="1" dirty="0">
                <a:solidFill>
                  <a:srgbClr val="1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Wasza struktura = kwota + kanały + KPI + uzasadnienie. Proporcje — spójne z Waszą CVP.</a:t>
            </a:r>
            <a:endParaRPr lang="en-US" sz="1200" dirty="0"/>
          </a:p>
        </p:txBody>
      </p:sp>
      <p:sp>
        <p:nvSpPr>
          <p:cNvPr id="55" name="Text 53"/>
          <p:cNvSpPr/>
          <p:nvPr/>
        </p:nvSpPr>
        <p:spPr>
          <a:xfrm>
            <a:off x="36576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Strategia Marketingu Cyfrowego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10881360" y="644652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15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1E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560320"/>
            <a:ext cx="106984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Koniec Warsztatu 4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731520" y="393192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Krótka przerwa · wracamy o 16:55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31520" y="585216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 chwilę: synteza dnia, najważniejsze wnioski, i zakończenie.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0881360" y="644652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15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Strategia Marketingu Cyfrowego — Blok 5: Kanały + Budżet</dc:title>
  <dc:subject>PptxGenJS Presentation</dc:subject>
  <dc:creator>PptxGenJS</dc:creator>
  <cp:lastModifiedBy>PptxGenJS</cp:lastModifiedBy>
  <cp:revision>1</cp:revision>
  <dcterms:created xsi:type="dcterms:W3CDTF">2026-04-24T11:35:26Z</dcterms:created>
  <dcterms:modified xsi:type="dcterms:W3CDTF">2026-04-24T11:35:26Z</dcterms:modified>
</cp:coreProperties>
</file>