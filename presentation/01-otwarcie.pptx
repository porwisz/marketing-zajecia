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09:00
[MÓWIĘ]
Dzień dobry. Witamy na zajęciach z Strategii Marketingu Cyfrowego. Dzisiaj przez osiem godzin będziemy razem budować kompletny warsztat strategiczny — od analizy sytuacyjnej do planowania budżetu kanałów cyfrowych. Na koniec dnia każda z grup będzie miała prawie gotowy plan marketingu cyfrowego dla wybranej przez siebie marki — coś konkretnego, co można zabrać ze sobą i od razu zastosować.
[ROBIĘ]
Kliknij, aby wyświetlić slajd. Sprawdź AV — głośność, rozdzielczość projekcji, łączność z systemem dźwiękowym. Potwierdź, że slajd jest widoczny z tylnych rzędów sali.
[OBSERWUJĘ]
Sala może jeszcze się wypełniać — uczestnicy przyjeżdżający z dojazdów. Witaj przybyłych z uśmiechem i gestem; nie zaczynaj głównego skryptu, dopóki większość nie zajmie miejsc. Obserwuj napięcie/nastrój.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09:02
[MÓWIĘ]
Dzień podzielony jest na cztery bloki wykładowe i cztery sesje warsztatowe. Wykłady zajmują mniej więcej dwie i pół godziny łącznie — reszta dnia to wasze aktywne ćwiczenia. Mamy jedną dłuższą przerwę na lunch o 12:30 i dwie krótsze piętnastominutowe przerwy w ciągu dnia — o 11:00 i o 15:15. Proszę traktować te przerwy poważnie: praca w skupieniu przez 8 godzin wymaga regeneracji, a my potrzebujemy was w pełni aktywnych szczególnie po południu.
[ROBIĘ]
Użyj wskaźnika, aby prześledzić oś czasu od lewej do prawej. Zatrzymaj się na każdym bloku warsztatowym.
[OBSERWUJĘ]
Czy uczestnicy spoglądają na zegarki? Czy ktoś pyta o przerwy?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09:08
[MÓWIĘ]
Na każdy blok wykładowy czeka ćwiczenie warsztatowe na tablicy Canva Whiteboard — będziecie pracować w małych grupach. Na koniec dnia każda grupa będzie miała prawie kompletny plan marketingu cyfrowego dla wybranej przez siebie marki. Ważna informacja techniczna: do ćwiczeń warsztatowych będziecie potrzebować urządzenia z przeglądarką. Canva Whiteboard otwiera się przez link lub QR kod — nie trzeba instalować nic dodatkowego.
[ROBIĘ]
Zapytaj, czy wszyscy mają urządzenie z dostępem do przeglądarki. W razie potrzeby dopasuj skład grup.
[OBSERWUJĘ]
Czy ktoś nie ma urządzenia? Czy są problemy z WiFi? Rozwiąż to teraz — nie w połowie ćwiczenia.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09:15
[SETUP] Potwierdź, że link do Canva Whiteboard jest aktywny; QR kod renderuje się na projektorze; tablica ma dwie kolumny z nagłówkami. Przetestuj QR kod własnym telefonem.
[MÓWIĘ]
Zacznijmy od ćwiczenia otwierającego. Na tablicy Canva Whiteboard macie dwie kolumny: 'Marka, której ufam' i 'Marka, której nie ufam'. Wejdźcie przez QR kod i na karteczkach podajcie po jednej marce do każdej kolumny — i koniecznie napiszcie DLACZEGO. Macie na to 20 minut pracy grupowej, a następnie 10 minut na przejrzenie tego, co zebrała cała sala.
[ROBIĘ]
Wyświetl slajd, wskaż QR kod. Przejdź po sali i upewnij się, że każda grupa pomyślnie połączyła się z tablicą. Ustaw timer na 20 minut.
[OBSERWUJĘ]
Czy wszystkie grupy aktywnie dodają karteczki? Monitoruj proporcję polskich vs zagranicznych marek.
[DEBRIEF]
Jakie wzorce widzicie w kolumnie 'ufam' — co łączy te marki? Co łączy marki w kolumnie 'nie ufam'? Czy ktoś wymienił polską markę cyfrową — i dlaczego akurat tę?
[EXTENSION]
Gdybyś był CMO marki z kolumny 'nie ufam' — od czego konkretnie byś zaczął odbudowę zaufania?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09:35
[MÓWIĘ]
Spójrzmy razem na to, co się pojawiło. Widzę kilka wyraźnych wzorców — zanim je omówimy, warto wspomnieć o jednym polskim przykładzie. Allegro w 2020 roku — kampania 'English for Beginners' — zdobyła 150 milionów wyświetleń w ciągu tygodnia. Dlaczego? Bo dotknęła czegoś prawdziwego — emocji, wartości, historii. To nie był produkt. To była marka. Ten przykład pokazuje dokładnie to, co dziś będziemy analizować — jaka jest różnica między posiadaniem produktu a posiadaniem strategii marki.
[ROBIĘ]
Prowadź debrief strukturalnie — najpierw daj głos jednemu uczestnikowi z każdej grupy (rotacyjnie), potem dodaj własną obserwację. Wskaż konkretne karteczki. Zrób pomost do slajdu 6.
[OBSERWUJĘ]
Czy uczestnicy angażują się, czy czekają biernie? Czy ktoś kwestionuje przykład Allegro? Obserwuj, czy łączą obserwacje z własnym doświadczeniem.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09:45
[MÓWIĘ]
Zanim przejdziemy do pierwszego narzędzia, chcę pokazać wam mapę całego dnia. Będziemy poruszać się przez tę hierarchię — od dołu do góry. Zaczniemy od SOSTAC — narzędzia planowania. Potem zobaczycie, jak wszystkie pięć poziomów do siebie pasuje. Na szczycie: Strategia Marki — odpowiedź na pytanie 'kim jesteśmy i po co istniejemy'. Na dole: RACE — framework egzekucji. Między nimi: Strategia Cyfrowa, Strategia Marketingu Cyfrowego i SOSTAC — każdy poziom zadaje inne pytanie. Wracajcie do tego diagramu na początku każdego nowego modułu.
[ROBIĘ]
Zostaw diagram na ekranie przez minimum 30 sekund bez mówienia — daj uczestnikom czas na samodzielne przeczytanie poziomów. Następnie wskaż wskaźnikiem od dołu (RACE) i prowadź wzrok uczestników powoli w górę.
[OBSERWUJĘ]
Czy uczestnicy czytają diagram uważnie? Jeśli ktoś wygląda na zdezorientowanego różnicą 'Strategia Cyfrowa' vs 'Strategia Marketingu Cyfrowego' — wyjaśnij: Strategia Cyfrowa to decyzja całej organizacji (CTO, CEO); Strategia Marketingu Cyfrowego to decyzja marketingowa (CMO).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60720"/>
            <a:ext cx="12161520" cy="457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Marketingu Cyfrowego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8-godzinny · Studia podyplomowe · Canva Whiteboard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[Prowadzący: imię i nazwisko]   ·   [Data zajęć]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DNIA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czasu — od 09:00 do 17:00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bloki wykładowe, cztery sesje warsztatowe, jeden lunch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1680" cy="264523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09:00–09:45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Otwarcie + Icebreaker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22714"/>
            <a:ext cx="2011680" cy="264523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22714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09:45–10:36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122714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1 — SOSTAC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16629"/>
            <a:ext cx="2011680" cy="264523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16629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10:36–11:00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416629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1 — Audyt Sytuacyjny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710543"/>
            <a:ext cx="2011680" cy="26452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10543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11:00–11:15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710543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004457"/>
            <a:ext cx="2011680" cy="264523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04457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11:15–12:03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004457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2 — RACE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98371"/>
            <a:ext cx="2011680" cy="264523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98371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12:03–12:30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298371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2 — Mapa Ścieżki Klienta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592286"/>
            <a:ext cx="2011680" cy="26452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592286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12:30–13:30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3592286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 obiadowa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886200"/>
            <a:ext cx="2011680" cy="264523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86200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13:30–13:50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3886200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Re-energizer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180114"/>
            <a:ext cx="2011680" cy="264523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80114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13:50–14:25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4180114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3 — Strategia Marki + CVP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474029"/>
            <a:ext cx="2011680" cy="264523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474029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14:25–15:15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0" y="4474029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3 — Kanwa Propozycji Wartości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767943"/>
            <a:ext cx="2011680" cy="26452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767943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15:15–15:30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4767943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5061857"/>
            <a:ext cx="2011680" cy="264523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061857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15:30–15:55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0" y="5061857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4 — Miks Kanałów i Budżet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5355771"/>
            <a:ext cx="2011680" cy="264523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355771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15:55–16:35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743200" y="5355771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4 — Wyzwanie Budżetowe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649686"/>
            <a:ext cx="2011680" cy="264523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5649686"/>
            <a:ext cx="2011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16:35–17:00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43200" y="5649686"/>
            <a:ext cx="8869680" cy="26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Synteza i Zakończenie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  </a:t>
            </a:r>
            <a:pPr algn="l"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  </a:t>
            </a:r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DZIAŁAMY DZIŚ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 + Warsztat — w rytmie przez cały dzień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548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Koncepcje i frameworki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 z polskiego i światowego rynku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otwarte — myślenie krytyczne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Krótkie, intensywne — 20–35 minut na blok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257800" cy="548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8288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2560320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Praca w małych grupach (3–5 osób)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wybrana marka przez cały dzień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ćwiczenia → prawie gotowy plan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Whiteboard — wejście przez QR kod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Wymagane: urządzenie z przeglądarką (laptop, tablet, telefon) — bez instalacji.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OTWIERAJĄCE · 30 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Marka, której ufam — Marka, której nie ufam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Osobiste, szczere, nieocenzurowane — startujemy od waszego doświadczenia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KROKI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Wejdź przez QR kod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Tablica Canva Whiteboard otworzy się w przeglądarce.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685800" cy="685800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1732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karteczki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069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jednej w każdej kolumnie: Marka, której ufam · Marka, której nie ufam.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rgbClr val="1A7A8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17320" y="4846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DLACZEGO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5303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samo imię marki — uzasadnienie. To najważniejsza część.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2194560"/>
            <a:ext cx="4206240" cy="4114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246888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4688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KOD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Whiteboard 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5486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minut pracy + 10 minut debrief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OTWIERAJĄCE —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widzimy? Wzorce, które się pojawiają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5486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ZAUFANIE — typowe motywy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Stałość obietnicy — marka robi to, co mówi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Transparentność w kryzysach i błędach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Rozpoznawalne wartości, nie tylko logo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Długie relacje, nie pojedyncze transakcje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25780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8288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ZAUFANIA — typowe motywy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63640" y="2560320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Obietnice bez pokrycia — rozjazd komunikacji i produktu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Ukryte koszty i nieczytelne warunki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Obsługa klienta traktowana jak koszt, nie relacja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Komunikacja reklamowa &gt; realne doświadczenie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Allegro 'English for Beginners' (2020) — 150 mln wyświetleń w tydzień. To jest strategia marki w działaniu.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HIERARCHII FRAMEWORKÓW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jest mapa na cały dzień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03320" y="1175004"/>
            <a:ext cx="475488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3703320" y="12481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703320" y="16139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"Kim jesteśmy?" (5–10+ lat)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952244"/>
            <a:ext cx="0" cy="128016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03320" y="2153412"/>
            <a:ext cx="4754880" cy="7772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22656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Cyfrowa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03320" y="25923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"Jak technologia transformuje organizację?" (wieloletnia)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930652"/>
            <a:ext cx="0" cy="128016"/>
          </a:xfrm>
          <a:prstGeom prst="line">
            <a:avLst/>
          </a:prstGeom>
          <a:noFill/>
          <a:ln w="38100">
            <a:solidFill>
              <a:srgbClr val="2D6A9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3131820"/>
            <a:ext cx="4754880" cy="7772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2049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35707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"Jak przyciągamy, konwertujemy, utrzymujemy klientów?" (roczna)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3909060"/>
            <a:ext cx="0" cy="128016"/>
          </a:xfrm>
          <a:prstGeom prst="line">
            <a:avLst/>
          </a:prstGeom>
          <a:noFill/>
          <a:ln w="38100">
            <a:solidFill>
              <a:srgbClr val="1A7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03320" y="4110228"/>
            <a:ext cx="4754880" cy="7772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41833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SOSTAC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03320" y="45491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Planowania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887468"/>
            <a:ext cx="0" cy="128016"/>
          </a:xfrm>
          <a:prstGeom prst="line">
            <a:avLst/>
          </a:prstGeom>
          <a:noFill/>
          <a:ln w="38100">
            <a:solidFill>
              <a:srgbClr val="2D7A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03320" y="5088636"/>
            <a:ext cx="4754880" cy="7772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1" name="Text 19"/>
          <p:cNvSpPr/>
          <p:nvPr/>
        </p:nvSpPr>
        <p:spPr>
          <a:xfrm>
            <a:off x="3703320" y="51617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03320" y="55275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Egzekucji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poruszamy się przez całą hierarchię — od dołu do góry.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Strategia Marketingu Cyfrowego — Blok 1: Otwarcie</dc:title>
  <dc:subject>PptxGenJS Presentation</dc:subject>
  <dc:creator>Prowadzący</dc:creator>
  <cp:lastModifiedBy>Prowadzący</cp:lastModifiedBy>
  <cp:revision>1</cp:revision>
  <dcterms:created xsi:type="dcterms:W3CDTF">2026-04-24T09:17:50Z</dcterms:created>
  <dcterms:modified xsi:type="dcterms:W3CDTF">2026-04-24T09:17:50Z</dcterms:modified>
</cp:coreProperties>
</file>